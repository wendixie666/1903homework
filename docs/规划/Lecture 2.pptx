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85" r:id="rId2"/>
    <p:sldId id="282" r:id="rId3"/>
    <p:sldId id="283" r:id="rId4"/>
    <p:sldId id="256" r:id="rId5"/>
    <p:sldId id="257" r:id="rId6"/>
    <p:sldId id="258" r:id="rId7"/>
    <p:sldId id="259" r:id="rId8"/>
    <p:sldId id="260" r:id="rId9"/>
    <p:sldId id="277" r:id="rId10"/>
    <p:sldId id="261" r:id="rId11"/>
    <p:sldId id="263" r:id="rId12"/>
    <p:sldId id="280" r:id="rId13"/>
    <p:sldId id="264" r:id="rId14"/>
    <p:sldId id="281" r:id="rId15"/>
    <p:sldId id="262" r:id="rId16"/>
    <p:sldId id="268" r:id="rId17"/>
    <p:sldId id="270" r:id="rId18"/>
    <p:sldId id="279" r:id="rId19"/>
    <p:sldId id="274" r:id="rId20"/>
    <p:sldId id="265" r:id="rId21"/>
    <p:sldId id="27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2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35" autoAdjust="0"/>
  </p:normalViewPr>
  <p:slideViewPr>
    <p:cSldViewPr snapToGrid="0">
      <p:cViewPr varScale="1">
        <p:scale>
          <a:sx n="73" d="100"/>
          <a:sy n="73" d="100"/>
        </p:scale>
        <p:origin x="72" y="36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This project asks you to organize candidates’ CVs and public materials into profiles that are easy to understand and search. In addition to extracting facts, you may use AI to enrich background information, analyze individual contributions, and form evidence-based preliminary evaluations. The requirements and reference interface shown today are only starting points; you are encouraged to improve them based on your own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The input can start from a single CV and be supplemented with reliable public information as needed. The output should support both quick browsing and deeper inspection: the first page should make the candidate’s key experiences easy to understand, while each record should allow reviewers to inspect sources, analysis, and items that still need verification. The project may take the form of a webpage, a tool, or an interactive report; each team may choose its own format.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This long image is a reference result prepared by the instructor. Here, the thumbnail is used only to show which modules appear on the full page; students are not expected to read the small text in the image. Clearer cropped examples are shown later. Please emphasize that the existing example is not an interface that must be replicated, nor does it imply endorsement of a particular scoring method. You may reorganize the information, add useful functions, or use a completely different presentation approach.
Sources
User-provided image: 9ca86b6e3daf3ea4db8ef265ba763c30(2).png. The full-page image is only 221 pixels wide and is used here as a structural overview.</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For basic information, define the fields first and then decide how to present them. Tags should be grounded in specific evidence from the materials, such as research topics, technologies used, and roles held. It is recommended to normalize synonymous Chinese and English terms; for example, “LLM” and “large language model” can be grouped under the same topic. Reviewers should be able to combine multiple conditions in a query. Keep a “to be verified” status for uncertain tags to avoid treating AI guesses as established facts.
Sources
User-provided image: 7a371dcf103c85cf1b548ec2af378164(1).png, cropped from the tag section at the bottom.</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This module has two layers. The first extracts factual information such as degrees and majors; the second enriches the profile with advisor relationships and institutional or disciplinary context. An advisor relationship should be confirmed by a webpage or thesis/dissertation that explicitly states the supervisory relationship; co-authorship alone is not sufficient evidence. Rankings should include clickable links and record the ranking system, edition year, and relevant discipline so that different rankings or years are not mixed. Rankings provide context only; individual contributions should be analyzed separately.
Sources
Optional official entry points: QS Subject Rankings https://www.topuniversities.com/subject-rankings ; THE World University Rankings https://www.timeshighereducation.com/world-university-rankings . Accessed: 2026-09-11.</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https://cse.hkust.edu.hk/faculty/scc/</a:t>
            </a:r>
          </a:p>
          <a:p>
            <a:r>
              <a:t>https://lcs.ios.ac.cn/~lyj238/index_e.html</a:t>
            </a:r>
          </a:p>
          <a:p>
            <a:r>
              <a:t>https://www.en.sdu.edu.cn/About_SDU/Introduction.htm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The purpose of the timeline is to make the progression and overlap of experiences clear, rather than simply listing organizations in chronological order. Each experience should be expandable to show responsibilities, projects, and actual outcomes. Visiting, part-time, and full-time roles may overlap, so overlapping dates should not automatically be treated as errors. When a source gives only a year, preserve that level of precision rather than inventing a month. The table is only used here to explain chronological order; your final implementation may use an interactive timeline.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For awards and funding, first extract the records completely and then add contextual information. You may explain the scope of an award, the purpose of a grant, and publicly available review information, but do not invent acceptance rates or rank awards into tiers without evidence. Preserve the currency for funding amounts and distinguish total project funding from the portion actually managed by the candidate. Being a PI, co-PI, or regular participant implies different levels of individual contribution.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https://www2.sigsoft.org/awards/dissertation/</a:t>
            </a:r>
          </a:p>
          <a:p>
            <a:r>
              <a:t>https://www2.sigsoft.org/awards/distinguishedpaper/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In addition to basic bibliographic information, the publication module should help readers understand individual contributions and research impact. Citation counts should identify the database and the query date. The relationship between a publication and a repository should be supported by evidence such as a paper link or project webpage. GitHub Stars indicate attention but should be interpreted together with code content, maintenance status, and the candidate’s contribution. If no public code exists, a query fails, or an item has not yet been indexed, mark it as missing rather than treating it as zero.
Sources
Official entry points: Crossref REST API https://www.crossref.org/documentation/retrieve-metadata/rest-api/ ; OpenAlex Works https://help.openalex.org/data/works/ ; GitHub Repositories REST API https://docs.github.com/en/rest/repos/repos . Accessed: 2026-09-11.</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https://openalex.org/W4400939349</a:t>
            </a:r>
          </a:p>
          <a:p>
            <a:r>
              <a:t>https://www.ccf.org.cn/Academic_Evaluation/TCS/</a:t>
            </a:r>
          </a:p>
          <a:p>
            <a:r>
              <a:t>https://openalex.org/W4408175000</a:t>
            </a:r>
          </a:p>
          <a:p>
            <a:r>
              <a:t>https://www.ccf.org.cn/Academic_Evaluation/TCSE_SS_PDL/</a:t>
            </a:r>
          </a:p>
          <a:p>
            <a:r>
              <a:t>https://openalex.org/W4403536900</a:t>
            </a:r>
          </a:p>
          <a:p>
            <a:r>
              <a:t>https://openalex.org/W4412944815</a:t>
            </a:r>
          </a:p>
          <a:p>
            <a:r>
              <a:t>https://www.ccf.org.cn/Academic_Evaluation/AI/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candidate application materials and structured profile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Source information is the common foundation of the entire project. For each record, it is recommended to preserve the original location, link, query time, and evidence status. Authors with the same name or institutions with similar names can be easily confused, so identities should be cross-checked using multiple clues. AI-generated explanations should be explicitly labeled as analysis and linked to the relevant records. When conflicts are found, preserve the differences for human confirmation instead of silently selecting one value and overwriting the others.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The suggested deliverables are not a fixed format. The demo should preferably begin from the input rather than showing only pre-prepared result pages. It is recommended to demonstrate at least one source trace-back, one tag-based query, and one manual correction. The methodology note does not need to be long, but it should make clear where the data comes from, how scores are calculated, and how missing or conflicting information is handled. Anonymized materials may be used for classroom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Reviewing and academic service roles should be distinguished carefully: reviewer, editorial board member, and conference program committee member are not interchangeable. Self-reported items from a CV may be retained, but they should be clearly separated from records that have been verified through public webpages or other evidence. Failure to find a public list does not prove that the experience is false; the system should preserve the original claim and label its evidence status. The main analysis here is the nature of the service and its relevance to the candidate’s professional area.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cswitch.io/zh/" TargetMode="External"/><Relationship Id="rId2" Type="http://schemas.openxmlformats.org/officeDocument/2006/relationships/hyperlink" Target="https://platform.deepseek.com/usag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2377-19E7-12BD-C463-8BE825EEF38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C943144-7A04-60F2-5E1B-9011562CFBF5}"/>
              </a:ext>
            </a:extLst>
          </p:cNvPr>
          <p:cNvSpPr txBox="1"/>
          <p:nvPr/>
        </p:nvSpPr>
        <p:spPr>
          <a:xfrm>
            <a:off x="537882" y="283304"/>
            <a:ext cx="9628094" cy="2092881"/>
          </a:xfrm>
          <a:prstGeom prst="rect">
            <a:avLst/>
          </a:prstGeom>
          <a:noFill/>
        </p:spPr>
        <p:txBody>
          <a:bodyPr wrap="square">
            <a:spAutoFit/>
          </a:bodyPr>
          <a:lstStyle/>
          <a:p>
            <a:r>
              <a:rPr lang="en-US" altLang="zh-CN" sz="2800" dirty="0"/>
              <a:t>Firstly, you need to buy token </a:t>
            </a:r>
            <a:endParaRPr lang="zh-CN" altLang="en-US" sz="2800" dirty="0"/>
          </a:p>
          <a:p>
            <a:r>
              <a:rPr lang="en-US" altLang="zh-CN" sz="2800" dirty="0">
                <a:hlinkClick r:id="rId2"/>
              </a:rPr>
              <a:t> DeepSeek </a:t>
            </a:r>
            <a:r>
              <a:rPr lang="zh-CN" altLang="en-US" sz="2800" dirty="0">
                <a:hlinkClick r:id="rId2"/>
              </a:rPr>
              <a:t>开放平台</a:t>
            </a:r>
            <a:endParaRPr lang="en-US" altLang="zh-CN" sz="2800" dirty="0"/>
          </a:p>
          <a:p>
            <a:r>
              <a:rPr lang="en-US" altLang="zh-CN" sz="2800" dirty="0"/>
              <a:t>And download this software</a:t>
            </a:r>
          </a:p>
          <a:p>
            <a:r>
              <a:rPr lang="en-US" altLang="zh-CN" sz="2800" dirty="0">
                <a:hlinkClick r:id="rId3"/>
              </a:rPr>
              <a:t>CC Switch </a:t>
            </a:r>
            <a:r>
              <a:rPr lang="zh-CN" altLang="en-US" sz="2800" dirty="0">
                <a:hlinkClick r:id="rId3"/>
              </a:rPr>
              <a:t>官方网站 </a:t>
            </a:r>
            <a:r>
              <a:rPr lang="en-US" altLang="zh-CN" sz="2800" dirty="0">
                <a:hlinkClick r:id="rId3"/>
              </a:rPr>
              <a:t>- AI </a:t>
            </a:r>
            <a:r>
              <a:rPr lang="zh-CN" altLang="en-US" sz="2800" dirty="0">
                <a:hlinkClick r:id="rId3"/>
              </a:rPr>
              <a:t>编程工具统一管理平台</a:t>
            </a:r>
            <a:endParaRPr lang="zh-CN" altLang="en-US" sz="2800" dirty="0"/>
          </a:p>
          <a:p>
            <a:endParaRPr lang="zh-CN" altLang="en-US" dirty="0"/>
          </a:p>
        </p:txBody>
      </p:sp>
      <p:sp>
        <p:nvSpPr>
          <p:cNvPr id="8" name="文本框 7">
            <a:extLst>
              <a:ext uri="{FF2B5EF4-FFF2-40B4-BE49-F238E27FC236}">
                <a16:creationId xmlns:a16="http://schemas.microsoft.com/office/drawing/2014/main" id="{0754FC22-A285-92D2-ED49-9010872B413F}"/>
              </a:ext>
            </a:extLst>
          </p:cNvPr>
          <p:cNvSpPr txBox="1"/>
          <p:nvPr/>
        </p:nvSpPr>
        <p:spPr>
          <a:xfrm>
            <a:off x="537882" y="2153361"/>
            <a:ext cx="10130119" cy="4031873"/>
          </a:xfrm>
          <a:prstGeom prst="rect">
            <a:avLst/>
          </a:prstGeom>
          <a:noFill/>
        </p:spPr>
        <p:txBody>
          <a:bodyPr wrap="square">
            <a:spAutoFit/>
          </a:bodyPr>
          <a:lstStyle/>
          <a:p>
            <a:pPr>
              <a:buNone/>
            </a:pPr>
            <a:r>
              <a:rPr lang="en-US" altLang="zh-CN" sz="3200" b="1" dirty="0"/>
              <a:t>The following materials are required for reimbursement:</a:t>
            </a:r>
            <a:endParaRPr lang="en-US" altLang="zh-CN" sz="3200" dirty="0"/>
          </a:p>
          <a:p>
            <a:pPr>
              <a:buFont typeface="+mj-lt"/>
              <a:buAutoNum type="arabicPeriod"/>
            </a:pPr>
            <a:r>
              <a:rPr lang="en-US" altLang="zh-CN" sz="3200" b="1" dirty="0"/>
              <a:t>Invoice;</a:t>
            </a:r>
            <a:r>
              <a:rPr lang="en-US" altLang="zh-CN" sz="3200" dirty="0"/>
              <a:t> </a:t>
            </a:r>
          </a:p>
          <a:p>
            <a:pPr>
              <a:buFont typeface="+mj-lt"/>
              <a:buAutoNum type="arabicPeriod"/>
            </a:pPr>
            <a:r>
              <a:rPr lang="en-US" altLang="zh-CN" sz="3200" b="1" dirty="0"/>
              <a:t>Purchase records and payment records;</a:t>
            </a:r>
            <a:r>
              <a:rPr lang="en-US" altLang="zh-CN" sz="3200" dirty="0"/>
              <a:t> </a:t>
            </a:r>
          </a:p>
          <a:p>
            <a:pPr>
              <a:buFont typeface="+mj-lt"/>
              <a:buAutoNum type="arabicPeriod"/>
            </a:pPr>
            <a:r>
              <a:rPr lang="en-US" altLang="zh-CN" sz="3200" b="1" dirty="0"/>
              <a:t>If foreign currency payment is involved, please provide the exchange rate of the Bank of China on the date of purchase and convert the amount into RMB according to the exchange rate of that day.</a:t>
            </a:r>
          </a:p>
          <a:p>
            <a:pPr>
              <a:buFont typeface="+mj-lt"/>
              <a:buAutoNum type="arabicPeriod"/>
            </a:pPr>
            <a:r>
              <a:rPr lang="en-US" altLang="zh-CN" sz="3200" dirty="0"/>
              <a:t>Please send them to me by email in a ZIP file format.</a:t>
            </a:r>
          </a:p>
        </p:txBody>
      </p:sp>
    </p:spTree>
    <p:extLst>
      <p:ext uri="{BB962C8B-B14F-4D97-AF65-F5344CB8AC3E}">
        <p14:creationId xmlns:p14="http://schemas.microsoft.com/office/powerpoint/2010/main" val="1013207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2C1359B-6578-03AB-9BD4-5E10CA900C4D}"/>
              </a:ext>
            </a:extLst>
          </p:cNvPr>
          <p:cNvPicPr>
            <a:picLocks noChangeAspect="1"/>
          </p:cNvPicPr>
          <p:nvPr/>
        </p:nvPicPr>
        <p:blipFill>
          <a:blip r:embed="rId2"/>
          <a:stretch>
            <a:fillRect/>
          </a:stretch>
        </p:blipFill>
        <p:spPr>
          <a:xfrm>
            <a:off x="5737412" y="894343"/>
            <a:ext cx="5454213" cy="5963657"/>
          </a:xfrm>
          <a:prstGeom prst="rect">
            <a:avLst/>
          </a:prstGeom>
        </p:spPr>
      </p:pic>
      <p:pic>
        <p:nvPicPr>
          <p:cNvPr id="5" name="图片 4">
            <a:extLst>
              <a:ext uri="{FF2B5EF4-FFF2-40B4-BE49-F238E27FC236}">
                <a16:creationId xmlns:a16="http://schemas.microsoft.com/office/drawing/2014/main" id="{5C80DFA7-4890-A5C4-E7FB-BA7930EE637C}"/>
              </a:ext>
            </a:extLst>
          </p:cNvPr>
          <p:cNvPicPr>
            <a:picLocks noChangeAspect="1"/>
          </p:cNvPicPr>
          <p:nvPr/>
        </p:nvPicPr>
        <p:blipFill>
          <a:blip r:embed="rId3"/>
          <a:stretch>
            <a:fillRect/>
          </a:stretch>
        </p:blipFill>
        <p:spPr>
          <a:xfrm>
            <a:off x="55357" y="894344"/>
            <a:ext cx="5454212" cy="5963656"/>
          </a:xfrm>
          <a:prstGeom prst="rect">
            <a:avLst/>
          </a:prstGeom>
        </p:spPr>
      </p:pic>
      <p:sp>
        <p:nvSpPr>
          <p:cNvPr id="6" name="文本框 5">
            <a:extLst>
              <a:ext uri="{FF2B5EF4-FFF2-40B4-BE49-F238E27FC236}">
                <a16:creationId xmlns:a16="http://schemas.microsoft.com/office/drawing/2014/main" id="{FA00BF07-0CAA-2AA4-04C1-E08DDF52E6B8}"/>
              </a:ext>
            </a:extLst>
          </p:cNvPr>
          <p:cNvSpPr txBox="1"/>
          <p:nvPr/>
        </p:nvSpPr>
        <p:spPr>
          <a:xfrm>
            <a:off x="183279" y="248012"/>
            <a:ext cx="10210800" cy="800219"/>
          </a:xfrm>
          <a:prstGeom prst="rect">
            <a:avLst/>
          </a:prstGeom>
          <a:noFill/>
        </p:spPr>
        <p:txBody>
          <a:bodyPr wrap="square" rtlCol="0">
            <a:spAutoFit/>
          </a:bodyPr>
          <a:lstStyle/>
          <a:p>
            <a:r>
              <a:rPr lang="en-US" altLang="zh-CN" sz="2800" b="1" dirty="0"/>
              <a:t>Download CC Sw</a:t>
            </a:r>
            <a:r>
              <a:rPr lang="en-US" altLang="zh-CN" sz="2800" b="1" dirty="0">
                <a:solidFill>
                  <a:srgbClr val="12324F"/>
                </a:solidFill>
              </a:rPr>
              <a:t>itch </a:t>
            </a:r>
            <a:r>
              <a:rPr lang="en-US" altLang="zh-CN" sz="2800" b="1" dirty="0"/>
              <a:t>and Configure API</a:t>
            </a:r>
          </a:p>
          <a:p>
            <a:endParaRPr lang="en-US" altLang="zh-CN" b="1" dirty="0"/>
          </a:p>
        </p:txBody>
      </p:sp>
    </p:spTree>
    <p:extLst>
      <p:ext uri="{BB962C8B-B14F-4D97-AF65-F5344CB8AC3E}">
        <p14:creationId xmlns:p14="http://schemas.microsoft.com/office/powerpoint/2010/main" val="3867367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73759-8148-9FB5-F04C-1F035613856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7C6691D-C22B-0F16-0128-E4A1CAFF4C27}"/>
              </a:ext>
            </a:extLst>
          </p:cNvPr>
          <p:cNvPicPr>
            <a:picLocks noChangeAspect="1"/>
          </p:cNvPicPr>
          <p:nvPr/>
        </p:nvPicPr>
        <p:blipFill>
          <a:blip r:embed="rId2"/>
          <a:stretch>
            <a:fillRect/>
          </a:stretch>
        </p:blipFill>
        <p:spPr>
          <a:xfrm>
            <a:off x="0" y="33867"/>
            <a:ext cx="10320867" cy="5697979"/>
          </a:xfrm>
          <a:prstGeom prst="rect">
            <a:avLst/>
          </a:prstGeom>
        </p:spPr>
      </p:pic>
      <p:sp>
        <p:nvSpPr>
          <p:cNvPr id="5" name="文本框 4">
            <a:extLst>
              <a:ext uri="{FF2B5EF4-FFF2-40B4-BE49-F238E27FC236}">
                <a16:creationId xmlns:a16="http://schemas.microsoft.com/office/drawing/2014/main" id="{F7F92AC0-1B9E-9C6A-84A4-6F59D91C26B5}"/>
              </a:ext>
            </a:extLst>
          </p:cNvPr>
          <p:cNvSpPr txBox="1"/>
          <p:nvPr/>
        </p:nvSpPr>
        <p:spPr>
          <a:xfrm>
            <a:off x="817033" y="6067967"/>
            <a:ext cx="6096000" cy="369332"/>
          </a:xfrm>
          <a:prstGeom prst="rect">
            <a:avLst/>
          </a:prstGeom>
          <a:noFill/>
        </p:spPr>
        <p:txBody>
          <a:bodyPr wrap="square">
            <a:spAutoFit/>
          </a:bodyPr>
          <a:lstStyle/>
          <a:p>
            <a:r>
              <a:rPr lang="zh-CN" altLang="en-US" dirty="0"/>
              <a:t>https://api.deepseek.com</a:t>
            </a:r>
          </a:p>
        </p:txBody>
      </p:sp>
    </p:spTree>
    <p:extLst>
      <p:ext uri="{BB962C8B-B14F-4D97-AF65-F5344CB8AC3E}">
        <p14:creationId xmlns:p14="http://schemas.microsoft.com/office/powerpoint/2010/main" val="25620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324F"/>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5D6EE40E-A1FD-4895-B95C-0625F2D58968}"/>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AFC6D8"/>
                </a:solidFill>
                <a:latin typeface="Noto Sans CJK SC"/>
                <a:ea typeface="Noto Sans CJK SC"/>
                <a:cs typeface="Noto Sans CJK SC"/>
              </a:defRPr>
            </a:pPr>
            <a:r>
              <a:rPr sz="1200" b="0">
                <a:solidFill>
                  <a:srgbClr val="AFC6D8"/>
                </a:solidFill>
                <a:latin typeface="Noto Sans CJK SC"/>
                <a:ea typeface="Noto Sans CJK SC"/>
                <a:cs typeface="Noto Sans CJK SC"/>
              </a:rPr>
              <a:t>01</a:t>
            </a:r>
          </a:p>
        </p:txBody>
      </p:sp>
      <p:sp>
        <p:nvSpPr>
          <p:cNvPr id="2" name="text-2">
            <a:extLst>
              <a:ext uri="{FF2B5EF4-FFF2-40B4-BE49-F238E27FC236}">
                <a16:creationId xmlns:a16="http://schemas.microsoft.com/office/drawing/2014/main" id="{EA7C21B2-008C-4D00-8F43-DEB7C3FE44D1}"/>
              </a:ext>
            </a:extLst>
          </p:cNvPr>
          <p:cNvSpPr>
            <a:spLocks noGrp="1"/>
          </p:cNvSpPr>
          <p:nvPr/>
        </p:nvSpPr>
        <p:spPr>
          <a:xfrm>
            <a:off x="723900" y="1000125"/>
            <a:ext cx="7620000" cy="400050"/>
          </a:xfrm>
          <a:prstGeom prst="rect">
            <a:avLst/>
          </a:prstGeom>
          <a:noFill/>
          <a:ln w="0">
            <a:noFill/>
          </a:ln>
        </p:spPr>
        <p:txBody>
          <a:bodyPr wrap="square" lIns="0" tIns="0" rIns="0" bIns="0" anchor="t">
            <a:noAutofit/>
          </a:bodyPr>
          <a:lstStyle/>
          <a:p>
            <a:pPr>
              <a:lnSpc>
                <a:spcPct val="112000"/>
              </a:lnSpc>
              <a:buNone/>
              <a:defRPr sz="2025" b="0">
                <a:solidFill>
                  <a:srgbClr val="B8D5E8"/>
                </a:solidFill>
                <a:latin typeface="Noto Sans CJK SC"/>
                <a:ea typeface="Noto Sans CJK SC"/>
                <a:cs typeface="Noto Sans CJK SC"/>
              </a:defRPr>
            </a:pPr>
            <a:endParaRPr sz="2025" b="0" dirty="0">
              <a:solidFill>
                <a:srgbClr val="B8D5E8"/>
              </a:solidFill>
              <a:latin typeface="Noto Sans CJK SC"/>
              <a:ea typeface="Noto Sans CJK SC"/>
              <a:cs typeface="Noto Sans CJK SC"/>
            </a:endParaRPr>
          </a:p>
        </p:txBody>
      </p:sp>
      <p:sp>
        <p:nvSpPr>
          <p:cNvPr id="3" name="text-3">
            <a:extLst>
              <a:ext uri="{FF2B5EF4-FFF2-40B4-BE49-F238E27FC236}">
                <a16:creationId xmlns:a16="http://schemas.microsoft.com/office/drawing/2014/main" id="{AAA3B65D-6656-4D51-8F75-3E83D8348C68}"/>
              </a:ext>
            </a:extLst>
          </p:cNvPr>
          <p:cNvSpPr>
            <a:spLocks noGrp="1"/>
          </p:cNvSpPr>
          <p:nvPr/>
        </p:nvSpPr>
        <p:spPr>
          <a:xfrm>
            <a:off x="685800" y="2028825"/>
            <a:ext cx="10820400" cy="1800225"/>
          </a:xfrm>
          <a:prstGeom prst="rect">
            <a:avLst/>
          </a:prstGeom>
          <a:noFill/>
          <a:ln w="0">
            <a:noFill/>
          </a:ln>
        </p:spPr>
        <p:txBody>
          <a:bodyPr wrap="square" lIns="0" tIns="0" rIns="0" bIns="0" anchor="t">
            <a:noAutofit/>
          </a:bodyPr>
          <a:lstStyle/>
          <a:p>
            <a:pPr>
              <a:lnSpc>
                <a:spcPct val="112000"/>
              </a:lnSpc>
              <a:buNone/>
              <a:defRPr sz="4800" b="1">
                <a:solidFill>
                  <a:srgbClr val="FFFFFF"/>
                </a:solidFill>
                <a:latin typeface="Noto Sans CJK SC"/>
                <a:ea typeface="Noto Sans CJK SC"/>
                <a:cs typeface="Noto Sans CJK SC"/>
              </a:defRPr>
            </a:pPr>
            <a:r>
              <a:rPr sz="4200" b="1" dirty="0" err="1">
                <a:solidFill>
                  <a:srgbClr val="FFFFFF"/>
                </a:solidFill>
                <a:latin typeface="Noto Sans CJK SC"/>
                <a:ea typeface="Noto Sans CJK SC"/>
                <a:cs typeface="Noto Sans CJK SC"/>
              </a:rPr>
              <a:t>Candidate Information Extraction &amp; AI-Assisted Analysis</a:t>
            </a:r>
            <a:endParaRPr sz="4800" b="1" dirty="0">
              <a:solidFill>
                <a:srgbClr val="FFFFFF"/>
              </a:solidFill>
              <a:latin typeface="Noto Sans CJK SC"/>
              <a:ea typeface="Noto Sans CJK SC"/>
              <a:cs typeface="Noto Sans CJK SC"/>
            </a:endParaRPr>
          </a:p>
        </p:txBody>
      </p:sp>
      <p:sp>
        <p:nvSpPr>
          <p:cNvPr id="5" name="text-5">
            <a:extLst>
              <a:ext uri="{FF2B5EF4-FFF2-40B4-BE49-F238E27FC236}">
                <a16:creationId xmlns:a16="http://schemas.microsoft.com/office/drawing/2014/main" id="{07432FB4-5F9A-463D-A7D0-D727825645D0}"/>
              </a:ext>
            </a:extLst>
          </p:cNvPr>
          <p:cNvSpPr>
            <a:spLocks noGrp="1"/>
          </p:cNvSpPr>
          <p:nvPr/>
        </p:nvSpPr>
        <p:spPr>
          <a:xfrm>
            <a:off x="9676342" y="5218641"/>
            <a:ext cx="10382250" cy="352425"/>
          </a:xfrm>
          <a:prstGeom prst="rect">
            <a:avLst/>
          </a:prstGeom>
          <a:noFill/>
          <a:ln w="0">
            <a:noFill/>
          </a:ln>
        </p:spPr>
        <p:txBody>
          <a:bodyPr wrap="square" lIns="0" tIns="0" rIns="0" bIns="0" anchor="t">
            <a:noAutofit/>
          </a:bodyPr>
          <a:lstStyle/>
          <a:p>
            <a:pPr>
              <a:lnSpc>
                <a:spcPct val="112000"/>
              </a:lnSpc>
              <a:buNone/>
              <a:defRPr sz="1725" b="0">
                <a:solidFill>
                  <a:srgbClr val="B8D5E8"/>
                </a:solidFill>
                <a:latin typeface="Noto Sans CJK SC"/>
                <a:ea typeface="Noto Sans CJK SC"/>
                <a:cs typeface="Noto Sans CJK SC"/>
              </a:defRPr>
            </a:pPr>
            <a:r>
              <a:rPr lang="en-US" altLang="zh-CN" sz="1725" b="0" dirty="0">
                <a:solidFill>
                  <a:srgbClr val="B8D5E8"/>
                </a:solidFill>
                <a:latin typeface="Noto Sans CJK SC"/>
                <a:ea typeface="Noto Sans CJK SC"/>
                <a:cs typeface="Noto Sans CJK SC"/>
              </a:rPr>
              <a:t>2026.9</a:t>
            </a:r>
            <a:r>
              <a:rPr lang="en-US" altLang="zh-CN" sz="1725" dirty="0">
                <a:solidFill>
                  <a:srgbClr val="B8D5E8"/>
                </a:solidFill>
                <a:latin typeface="Noto Sans CJK SC"/>
                <a:ea typeface="Noto Sans CJK SC"/>
                <a:cs typeface="Noto Sans CJK SC"/>
              </a:rPr>
              <a:t>.16</a:t>
            </a:r>
            <a:endParaRPr sz="1725" b="0" dirty="0">
              <a:solidFill>
                <a:srgbClr val="B8D5E8"/>
              </a:solidFill>
              <a:latin typeface="Noto Sans CJK SC"/>
              <a:ea typeface="Noto Sans CJK SC"/>
              <a:cs typeface="Noto Sans CJK SC"/>
            </a:endParaRPr>
          </a:p>
        </p:txBody>
      </p:sp>
    </p:spTree>
    <p:extLst>
      <p:ext uri="{BB962C8B-B14F-4D97-AF65-F5344CB8AC3E}">
        <p14:creationId xmlns:p14="http://schemas.microsoft.com/office/powerpoint/2010/main" val="1515915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6">
            <a:extLst>
              <a:ext uri="{FF2B5EF4-FFF2-40B4-BE49-F238E27FC236}">
                <a16:creationId xmlns:a16="http://schemas.microsoft.com/office/drawing/2014/main" id="{FB40842F-2C0C-4DD1-A1F1-EE6B9AD2915C}"/>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sz="3300" b="1">
                <a:solidFill>
                  <a:srgbClr val="12324F"/>
                </a:solidFill>
                <a:latin typeface="Noto Sans CJK SC"/>
                <a:ea typeface="Noto Sans CJK SC"/>
                <a:cs typeface="Noto Sans CJK SC"/>
              </a:rPr>
              <a:t>Project Objectives &amp; Use Cases</a:t>
            </a:r>
          </a:p>
        </p:txBody>
      </p:sp>
      <p:sp>
        <p:nvSpPr>
          <p:cNvPr id="2" name="text-7">
            <a:extLst>
              <a:ext uri="{FF2B5EF4-FFF2-40B4-BE49-F238E27FC236}">
                <a16:creationId xmlns:a16="http://schemas.microsoft.com/office/drawing/2014/main" id="{B02A9D05-B18C-406B-A362-53A04A16D831}"/>
              </a:ext>
            </a:extLst>
          </p:cNvPr>
          <p:cNvSpPr>
            <a:spLocks noGrp="1"/>
          </p:cNvSpPr>
          <p:nvPr/>
        </p:nvSpPr>
        <p:spPr>
          <a:xfrm>
            <a:off x="685800" y="1190625"/>
            <a:ext cx="10820400" cy="542925"/>
          </a:xfrm>
          <a:prstGeom prst="rect">
            <a:avLst/>
          </a:prstGeom>
          <a:noFill/>
          <a:ln w="0">
            <a:noFill/>
          </a:ln>
        </p:spPr>
        <p:txBody>
          <a:bodyPr wrap="square" lIns="0" tIns="0" rIns="0" bIns="0" anchor="t">
            <a:noAutofit/>
          </a:bodyPr>
          <a:lstStyle/>
          <a:p>
            <a:pPr>
              <a:lnSpc>
                <a:spcPct val="112000"/>
              </a:lnSpc>
              <a:buNone/>
              <a:defRPr sz="1800" b="0">
                <a:solidFill>
                  <a:srgbClr val="60758B"/>
                </a:solidFill>
                <a:latin typeface="Noto Sans CJK SC"/>
                <a:ea typeface="Noto Sans CJK SC"/>
                <a:cs typeface="Noto Sans CJK SC"/>
              </a:defRPr>
            </a:pPr>
            <a:r>
              <a:rPr sz="1800" b="0" dirty="0" err="1">
                <a:solidFill>
                  <a:srgbClr val="60758B"/>
                </a:solidFill>
                <a:latin typeface="Noto Sans CJK SC"/>
                <a:ea typeface="Noto Sans CJK SC"/>
                <a:cs typeface="Noto Sans CJK SC"/>
              </a:rPr>
              <a:t>Help reviewers quickly understand each candidate</a:t>
            </a:r>
            <a:endParaRPr sz="1800" b="0" dirty="0">
              <a:solidFill>
                <a:srgbClr val="60758B"/>
              </a:solidFill>
              <a:latin typeface="Noto Sans CJK SC"/>
              <a:ea typeface="Noto Sans CJK SC"/>
              <a:cs typeface="Noto Sans CJK SC"/>
            </a:endParaRPr>
          </a:p>
        </p:txBody>
      </p:sp>
      <p:sp>
        <p:nvSpPr>
          <p:cNvPr id="3" name="text-8">
            <a:extLst>
              <a:ext uri="{FF2B5EF4-FFF2-40B4-BE49-F238E27FC236}">
                <a16:creationId xmlns:a16="http://schemas.microsoft.com/office/drawing/2014/main" id="{CE8FA9D3-AD24-4635-86FB-7BC1303442F0}"/>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02</a:t>
            </a:r>
          </a:p>
        </p:txBody>
      </p:sp>
      <p:sp>
        <p:nvSpPr>
          <p:cNvPr id="4" name="text-9">
            <a:extLst>
              <a:ext uri="{FF2B5EF4-FFF2-40B4-BE49-F238E27FC236}">
                <a16:creationId xmlns:a16="http://schemas.microsoft.com/office/drawing/2014/main" id="{D09F2FB7-E230-49B0-81FA-1415790D1FDD}"/>
              </a:ext>
            </a:extLst>
          </p:cNvPr>
          <p:cNvSpPr>
            <a:spLocks noGrp="1"/>
          </p:cNvSpPr>
          <p:nvPr/>
        </p:nvSpPr>
        <p:spPr>
          <a:xfrm>
            <a:off x="685800" y="2009775"/>
            <a:ext cx="4572000" cy="419100"/>
          </a:xfrm>
          <a:prstGeom prst="rect">
            <a:avLst/>
          </a:prstGeom>
          <a:noFill/>
          <a:ln w="0">
            <a:noFill/>
          </a:ln>
        </p:spPr>
        <p:txBody>
          <a:bodyPr wrap="square" lIns="0" tIns="0" rIns="0" bIns="0" anchor="t">
            <a:noAutofit/>
          </a:bodyPr>
          <a:lstStyle/>
          <a:p>
            <a:pPr>
              <a:lnSpc>
                <a:spcPct val="112000"/>
              </a:lnSpc>
              <a:buNone/>
              <a:defRPr sz="2250" b="1">
                <a:solidFill>
                  <a:srgbClr val="076DB8"/>
                </a:solidFill>
                <a:latin typeface="Noto Sans CJK SC"/>
                <a:ea typeface="Noto Sans CJK SC"/>
                <a:cs typeface="Noto Sans CJK SC"/>
              </a:defRPr>
            </a:pPr>
            <a:r>
              <a:rPr sz="2250" b="1">
                <a:solidFill>
                  <a:srgbClr val="076DB8"/>
                </a:solidFill>
                <a:latin typeface="Noto Sans CJK SC"/>
                <a:ea typeface="Noto Sans CJK SC"/>
                <a:cs typeface="Noto Sans CJK SC"/>
              </a:rPr>
              <a:t>Input Materials</a:t>
            </a:r>
          </a:p>
        </p:txBody>
      </p:sp>
      <p:sp>
        <p:nvSpPr>
          <p:cNvPr id="5" name="text-10">
            <a:extLst>
              <a:ext uri="{FF2B5EF4-FFF2-40B4-BE49-F238E27FC236}">
                <a16:creationId xmlns:a16="http://schemas.microsoft.com/office/drawing/2014/main" id="{2B342FF4-5CA6-445E-AC4F-948949F55BD6}"/>
              </a:ext>
            </a:extLst>
          </p:cNvPr>
          <p:cNvSpPr>
            <a:spLocks noGrp="1"/>
          </p:cNvSpPr>
          <p:nvPr/>
        </p:nvSpPr>
        <p:spPr>
          <a:xfrm>
            <a:off x="685800" y="2628900"/>
            <a:ext cx="5490633" cy="2209800"/>
          </a:xfrm>
          <a:prstGeom prst="rect">
            <a:avLst/>
          </a:prstGeom>
          <a:noFill/>
          <a:ln w="0">
            <a:noFill/>
          </a:ln>
        </p:spPr>
        <p:txBody>
          <a:bodyPr wrap="square" lIns="0" tIns="0" rIns="0" bIns="0" anchor="t">
            <a:noAutofit/>
          </a:bodyPr>
          <a:lstStyle/>
          <a:p>
            <a:pPr>
              <a:lnSpc>
                <a:spcPct val="112000"/>
              </a:lnSpc>
              <a:buNone/>
              <a:defRPr sz="2250" b="0">
                <a:solidFill>
                  <a:srgbClr val="243E53"/>
                </a:solidFill>
                <a:latin typeface="Noto Sans CJK SC"/>
                <a:ea typeface="Noto Sans CJK SC"/>
                <a:cs typeface="Noto Sans CJK SC"/>
              </a:defRPr>
            </a:pPr>
            <a:r>
              <a:rPr lang="en-US" sz="2250" b="0" dirty="0">
                <a:solidFill>
                  <a:srgbClr val="243E53"/>
                </a:solidFill>
                <a:latin typeface="Noto Sans CJK SC"/>
                <a:ea typeface="Noto Sans CJK SC"/>
                <a:cs typeface="Noto Sans CJK SC"/>
              </a:rPr>
              <a:t>We provide: CV, teaching statement ,research statement, cover letter</a:t>
            </a:r>
          </a:p>
          <a:p>
            <a:pPr>
              <a:lnSpc>
                <a:spcPct val="112000"/>
              </a:lnSpc>
              <a:buNone/>
              <a:defRPr sz="2250" b="0">
                <a:solidFill>
                  <a:srgbClr val="243E53"/>
                </a:solidFill>
                <a:latin typeface="Noto Sans CJK SC"/>
                <a:ea typeface="Noto Sans CJK SC"/>
                <a:cs typeface="Noto Sans CJK SC"/>
              </a:defRPr>
            </a:pPr>
            <a:r>
              <a:rPr lang="en-US" sz="2250" dirty="0">
                <a:solidFill>
                  <a:srgbClr val="243E53"/>
                </a:solidFill>
                <a:latin typeface="Noto Sans CJK SC"/>
                <a:ea typeface="Noto Sans CJK SC"/>
                <a:cs typeface="Noto Sans CJK SC"/>
              </a:rPr>
              <a:t>From provided materials:</a:t>
            </a: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sz="2250" b="0" dirty="0" err="1">
                <a:solidFill>
                  <a:srgbClr val="243E53"/>
                </a:solidFill>
                <a:latin typeface="Noto Sans CJK SC"/>
                <a:ea typeface="Noto Sans CJK SC"/>
                <a:cs typeface="Noto Sans CJK SC"/>
              </a:rPr>
              <a:t>Personal website</a:t>
            </a:r>
            <a:endParaRPr sz="2250" b="0" dirty="0">
              <a:solidFill>
                <a:srgbClr val="243E53"/>
              </a:solidFill>
              <a:latin typeface="Noto Sans CJK SC"/>
              <a:ea typeface="Noto Sans CJK SC"/>
              <a:cs typeface="Noto Sans CJK SC"/>
            </a:endParaRP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sz="2250" b="0" dirty="0" err="1">
                <a:solidFill>
                  <a:srgbClr val="243E53"/>
                </a:solidFill>
                <a:latin typeface="Noto Sans CJK SC"/>
                <a:ea typeface="Noto Sans CJK SC"/>
                <a:cs typeface="Noto Sans CJK SC"/>
              </a:rPr>
              <a:t>Project and code links</a:t>
            </a: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lang="en-US" sz="2250" b="0" dirty="0" err="1">
                <a:solidFill>
                  <a:srgbClr val="243E53"/>
                </a:solidFill>
                <a:latin typeface="Noto Sans CJK SC"/>
                <a:ea typeface="Noto Sans CJK SC"/>
                <a:cs typeface="Noto Sans CJK SC"/>
              </a:rPr>
              <a:t>GitHub profile</a:t>
            </a:r>
            <a:endParaRPr sz="2250" b="0" dirty="0">
              <a:solidFill>
                <a:srgbClr val="243E53"/>
              </a:solidFill>
              <a:latin typeface="Noto Sans CJK SC"/>
              <a:ea typeface="Noto Sans CJK SC"/>
              <a:cs typeface="Noto Sans CJK SC"/>
            </a:endParaRPr>
          </a:p>
        </p:txBody>
      </p:sp>
      <p:sp>
        <p:nvSpPr>
          <p:cNvPr id="6" name="text-11">
            <a:extLst>
              <a:ext uri="{FF2B5EF4-FFF2-40B4-BE49-F238E27FC236}">
                <a16:creationId xmlns:a16="http://schemas.microsoft.com/office/drawing/2014/main" id="{A751CAF2-F7F8-46E5-A740-0713AE0BE826}"/>
              </a:ext>
            </a:extLst>
          </p:cNvPr>
          <p:cNvSpPr>
            <a:spLocks noGrp="1"/>
          </p:cNvSpPr>
          <p:nvPr/>
        </p:nvSpPr>
        <p:spPr>
          <a:xfrm>
            <a:off x="6419850" y="2009775"/>
            <a:ext cx="4572000" cy="419100"/>
          </a:xfrm>
          <a:prstGeom prst="rect">
            <a:avLst/>
          </a:prstGeom>
          <a:noFill/>
          <a:ln w="0">
            <a:noFill/>
          </a:ln>
        </p:spPr>
        <p:txBody>
          <a:bodyPr wrap="square" lIns="0" tIns="0" rIns="0" bIns="0" anchor="t">
            <a:noAutofit/>
          </a:bodyPr>
          <a:lstStyle/>
          <a:p>
            <a:pPr>
              <a:lnSpc>
                <a:spcPct val="112000"/>
              </a:lnSpc>
              <a:buNone/>
              <a:defRPr sz="2250" b="1">
                <a:solidFill>
                  <a:srgbClr val="076DB8"/>
                </a:solidFill>
                <a:latin typeface="Noto Sans CJK SC"/>
                <a:ea typeface="Noto Sans CJK SC"/>
                <a:cs typeface="Noto Sans CJK SC"/>
              </a:defRPr>
            </a:pPr>
            <a:r>
              <a:rPr lang="en-US" sz="2250" b="1" dirty="0">
                <a:solidFill>
                  <a:srgbClr val="076DB8"/>
                </a:solidFill>
                <a:latin typeface="Noto Sans CJK SC"/>
                <a:ea typeface="Noto Sans CJK SC"/>
                <a:cs typeface="Noto Sans CJK SC"/>
              </a:rPr>
              <a:t>Suggestive </a:t>
            </a:r>
            <a:r>
              <a:rPr sz="2250" b="1" dirty="0">
                <a:solidFill>
                  <a:srgbClr val="076DB8"/>
                </a:solidFill>
                <a:latin typeface="Noto Sans CJK SC"/>
                <a:ea typeface="Noto Sans CJK SC"/>
                <a:cs typeface="Noto Sans CJK SC"/>
              </a:rPr>
              <a:t>Outputs</a:t>
            </a:r>
          </a:p>
        </p:txBody>
      </p:sp>
      <p:sp>
        <p:nvSpPr>
          <p:cNvPr id="7" name="text-12">
            <a:extLst>
              <a:ext uri="{FF2B5EF4-FFF2-40B4-BE49-F238E27FC236}">
                <a16:creationId xmlns:a16="http://schemas.microsoft.com/office/drawing/2014/main" id="{16B6A516-E1ED-4283-9744-084ACA44DFA8}"/>
              </a:ext>
            </a:extLst>
          </p:cNvPr>
          <p:cNvSpPr>
            <a:spLocks noGrp="1"/>
          </p:cNvSpPr>
          <p:nvPr/>
        </p:nvSpPr>
        <p:spPr>
          <a:xfrm>
            <a:off x="6419850" y="2628900"/>
            <a:ext cx="5490632" cy="2209800"/>
          </a:xfrm>
          <a:prstGeom prst="rect">
            <a:avLst/>
          </a:prstGeom>
          <a:noFill/>
          <a:ln w="0">
            <a:noFill/>
          </a:ln>
        </p:spPr>
        <p:txBody>
          <a:bodyPr wrap="square" lIns="0" tIns="0" rIns="0" bIns="0" anchor="t">
            <a:noAutofit/>
          </a:bodyPr>
          <a:lstStyle/>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sz="2250" b="0" dirty="0" err="1">
                <a:solidFill>
                  <a:srgbClr val="243E53"/>
                </a:solidFill>
                <a:latin typeface="Noto Sans CJK SC"/>
                <a:ea typeface="Noto Sans CJK SC"/>
                <a:cs typeface="Noto Sans CJK SC"/>
              </a:rPr>
              <a:t>Structured candidate profile</a:t>
            </a:r>
            <a:endParaRPr sz="2250" b="0" dirty="0">
              <a:solidFill>
                <a:srgbClr val="243E53"/>
              </a:solidFill>
              <a:latin typeface="Noto Sans CJK SC"/>
              <a:ea typeface="Noto Sans CJK SC"/>
              <a:cs typeface="Noto Sans CJK SC"/>
            </a:endParaRP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sz="2250" b="0" dirty="0" err="1">
                <a:solidFill>
                  <a:srgbClr val="243E53"/>
                </a:solidFill>
                <a:latin typeface="Noto Sans CJK SC"/>
                <a:ea typeface="Noto Sans CJK SC"/>
                <a:cs typeface="Noto Sans CJK SC"/>
              </a:rPr>
              <a:t>Background analysis with source attribution</a:t>
            </a:r>
            <a:endParaRPr sz="2250" b="0" dirty="0">
              <a:solidFill>
                <a:srgbClr val="243E53"/>
              </a:solidFill>
              <a:latin typeface="Noto Sans CJK SC"/>
              <a:ea typeface="Noto Sans CJK SC"/>
              <a:cs typeface="Noto Sans CJK SC"/>
            </a:endParaRP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sz="2250" b="0" dirty="0" err="1">
                <a:solidFill>
                  <a:srgbClr val="243E53"/>
                </a:solidFill>
                <a:latin typeface="Noto Sans CJK SC"/>
                <a:ea typeface="Noto Sans CJK SC"/>
                <a:cs typeface="Noto Sans CJK SC"/>
              </a:rPr>
              <a:t>Overall Evaluation &amp; Dimension Scores</a:t>
            </a:r>
            <a:endParaRPr sz="2250" b="0" dirty="0">
              <a:solidFill>
                <a:srgbClr val="243E53"/>
              </a:solidFill>
              <a:latin typeface="Noto Sans CJK SC"/>
              <a:ea typeface="Noto Sans CJK SC"/>
              <a:cs typeface="Noto Sans CJK SC"/>
            </a:endParaRP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sz="2250" b="0" dirty="0">
                <a:solidFill>
                  <a:srgbClr val="243E53"/>
                </a:solidFill>
                <a:latin typeface="Noto Sans CJK SC"/>
                <a:ea typeface="Noto Sans CJK SC"/>
                <a:cs typeface="Noto Sans CJK SC"/>
              </a:rPr>
              <a:t>Searchable key-information tags</a:t>
            </a:r>
            <a:endParaRPr lang="en-US" sz="2250" b="0" dirty="0">
              <a:solidFill>
                <a:srgbClr val="243E53"/>
              </a:solidFill>
              <a:latin typeface="Noto Sans CJK SC"/>
              <a:ea typeface="Noto Sans CJK SC"/>
              <a:cs typeface="Noto Sans CJK SC"/>
            </a:endParaRPr>
          </a:p>
          <a:p>
            <a:pPr marL="342900" indent="-342900">
              <a:lnSpc>
                <a:spcPct val="112000"/>
              </a:lnSpc>
              <a:buFont typeface="Arial" panose="020B0604020202020204" pitchFamily="34" charset="0"/>
              <a:buChar char="•"/>
              <a:defRPr sz="2250" b="0">
                <a:solidFill>
                  <a:srgbClr val="243E53"/>
                </a:solidFill>
                <a:latin typeface="Noto Sans CJK SC"/>
                <a:ea typeface="Noto Sans CJK SC"/>
                <a:cs typeface="Noto Sans CJK SC"/>
              </a:defRPr>
            </a:pPr>
            <a:r>
              <a:rPr lang="en-US" sz="2250" dirty="0">
                <a:solidFill>
                  <a:srgbClr val="243E53"/>
                </a:solidFill>
                <a:latin typeface="Noto Sans CJK SC"/>
                <a:ea typeface="Noto Sans CJK SC"/>
                <a:cs typeface="Noto Sans CJK SC"/>
              </a:rPr>
              <a:t>… and more</a:t>
            </a:r>
            <a:endParaRPr lang="en-US" sz="2250" b="0" dirty="0">
              <a:solidFill>
                <a:srgbClr val="243E53"/>
              </a:solidFill>
              <a:latin typeface="Noto Sans CJK SC"/>
              <a:ea typeface="Noto Sans CJK SC"/>
              <a:cs typeface="Noto Sans CJK SC"/>
            </a:endParaRPr>
          </a:p>
          <a:p>
            <a:pPr>
              <a:lnSpc>
                <a:spcPct val="112000"/>
              </a:lnSpc>
              <a:buNone/>
              <a:defRPr sz="2250" b="0">
                <a:solidFill>
                  <a:srgbClr val="243E53"/>
                </a:solidFill>
                <a:latin typeface="Noto Sans CJK SC"/>
                <a:ea typeface="Noto Sans CJK SC"/>
                <a:cs typeface="Noto Sans CJK SC"/>
              </a:defRPr>
            </a:pPr>
            <a:endParaRPr sz="2250" b="0" dirty="0">
              <a:solidFill>
                <a:srgbClr val="243E53"/>
              </a:solidFill>
              <a:latin typeface="Noto Sans CJK SC"/>
              <a:ea typeface="Noto Sans CJK SC"/>
              <a:cs typeface="Noto Sans CJK SC"/>
            </a:endParaRPr>
          </a:p>
        </p:txBody>
      </p:sp>
      <p:sp>
        <p:nvSpPr>
          <p:cNvPr id="8" name="text-13">
            <a:extLst>
              <a:ext uri="{FF2B5EF4-FFF2-40B4-BE49-F238E27FC236}">
                <a16:creationId xmlns:a16="http://schemas.microsoft.com/office/drawing/2014/main" id="{31A44263-F2D9-4650-B0A3-0C1C9FF53C0F}"/>
              </a:ext>
            </a:extLst>
          </p:cNvPr>
          <p:cNvSpPr>
            <a:spLocks noGrp="1"/>
          </p:cNvSpPr>
          <p:nvPr/>
        </p:nvSpPr>
        <p:spPr>
          <a:xfrm>
            <a:off x="651933" y="5457825"/>
            <a:ext cx="10668000" cy="552450"/>
          </a:xfrm>
          <a:prstGeom prst="rect">
            <a:avLst/>
          </a:prstGeom>
          <a:noFill/>
          <a:ln w="0">
            <a:noFill/>
          </a:ln>
        </p:spPr>
        <p:txBody>
          <a:bodyPr wrap="square" lIns="0" tIns="0" rIns="0" bIns="0" anchor="t">
            <a:noAutofit/>
          </a:bodyPr>
          <a:lstStyle/>
          <a:p>
            <a:pPr>
              <a:lnSpc>
                <a:spcPct val="112000"/>
              </a:lnSpc>
              <a:buNone/>
              <a:defRPr sz="2175" b="1">
                <a:solidFill>
                  <a:srgbClr val="12324F"/>
                </a:solidFill>
                <a:latin typeface="Noto Sans CJK SC"/>
                <a:ea typeface="Noto Sans CJK SC"/>
                <a:cs typeface="Noto Sans CJK SC"/>
              </a:defRPr>
            </a:pPr>
            <a:r>
              <a:rPr lang="zh-CN" altLang="en-US" sz="2175" b="1" dirty="0">
                <a:solidFill>
                  <a:srgbClr val="12324F"/>
                </a:solidFill>
                <a:latin typeface="Noto Sans CJK SC"/>
                <a:ea typeface="Noto Sans CJK SC"/>
                <a:cs typeface="Noto Sans CJK SC"/>
              </a:rPr>
              <a:t>Output format: prioritize readability; slides are recommended</a:t>
            </a:r>
            <a:endParaRPr sz="2175" b="1" dirty="0">
              <a:solidFill>
                <a:srgbClr val="12324F"/>
              </a:solidFill>
              <a:latin typeface="Noto Sans CJK SC"/>
              <a:ea typeface="Noto Sans CJK SC"/>
              <a:cs typeface="Noto Sans CJK SC"/>
            </a:endParaRPr>
          </a:p>
        </p:txBody>
      </p:sp>
    </p:spTree>
    <p:extLst>
      <p:ext uri="{BB962C8B-B14F-4D97-AF65-F5344CB8AC3E}">
        <p14:creationId xmlns:p14="http://schemas.microsoft.com/office/powerpoint/2010/main" val="509037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14">
            <a:extLst>
              <a:ext uri="{FF2B5EF4-FFF2-40B4-BE49-F238E27FC236}">
                <a16:creationId xmlns:a16="http://schemas.microsoft.com/office/drawing/2014/main" id="{D791B6DD-B872-4B7D-B432-79434BD397AE}"/>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lang="en-US" altLang="zh-CN" sz="3300" b="1" dirty="0">
                <a:solidFill>
                  <a:srgbClr val="12324F"/>
                </a:solidFill>
                <a:latin typeface="Noto Sans CJK SC"/>
                <a:ea typeface="Noto Sans CJK SC"/>
                <a:cs typeface="Noto Sans CJK SC"/>
              </a:rPr>
              <a:t>Main Component</a:t>
            </a:r>
            <a:endParaRPr sz="3300" b="1" dirty="0">
              <a:solidFill>
                <a:srgbClr val="12324F"/>
              </a:solidFill>
              <a:latin typeface="Noto Sans CJK SC"/>
              <a:ea typeface="Noto Sans CJK SC"/>
              <a:cs typeface="Noto Sans CJK SC"/>
            </a:endParaRPr>
          </a:p>
        </p:txBody>
      </p:sp>
      <p:sp>
        <p:nvSpPr>
          <p:cNvPr id="2" name="text-15">
            <a:extLst>
              <a:ext uri="{FF2B5EF4-FFF2-40B4-BE49-F238E27FC236}">
                <a16:creationId xmlns:a16="http://schemas.microsoft.com/office/drawing/2014/main" id="{B0E3531C-3D69-4D46-8B0F-C7AF6CAF791B}"/>
              </a:ext>
            </a:extLst>
          </p:cNvPr>
          <p:cNvSpPr>
            <a:spLocks noGrp="1"/>
          </p:cNvSpPr>
          <p:nvPr/>
        </p:nvSpPr>
        <p:spPr>
          <a:xfrm>
            <a:off x="685800" y="1190625"/>
            <a:ext cx="10820400" cy="542925"/>
          </a:xfrm>
          <a:prstGeom prst="rect">
            <a:avLst/>
          </a:prstGeom>
          <a:noFill/>
          <a:ln w="0">
            <a:noFill/>
          </a:ln>
        </p:spPr>
        <p:txBody>
          <a:bodyPr wrap="square" lIns="0" tIns="0" rIns="0" bIns="0" anchor="t">
            <a:noAutofit/>
          </a:bodyPr>
          <a:lstStyle/>
          <a:p>
            <a:pPr>
              <a:lnSpc>
                <a:spcPct val="112000"/>
              </a:lnSpc>
              <a:buNone/>
              <a:defRPr sz="1800" b="0">
                <a:solidFill>
                  <a:srgbClr val="60758B"/>
                </a:solidFill>
                <a:latin typeface="Noto Sans CJK SC"/>
                <a:ea typeface="Noto Sans CJK SC"/>
                <a:cs typeface="Noto Sans CJK SC"/>
              </a:defRPr>
            </a:pPr>
            <a:r>
              <a:rPr sz="1600" b="0" dirty="0" err="1">
                <a:solidFill>
                  <a:srgbClr val="60758B"/>
                </a:solidFill>
                <a:latin typeface="Noto Sans CJK SC"/>
                <a:ea typeface="Noto Sans CJK SC"/>
                <a:cs typeface="Noto Sans CJK SC"/>
              </a:rPr>
              <a:t>This is not a standard answer. You may design the page structure, analysis approach, and feature scope yourselves.</a:t>
            </a:r>
            <a:endParaRPr sz="1800" b="0" dirty="0">
              <a:solidFill>
                <a:srgbClr val="60758B"/>
              </a:solidFill>
              <a:latin typeface="Noto Sans CJK SC"/>
              <a:ea typeface="Noto Sans CJK SC"/>
              <a:cs typeface="Noto Sans CJK SC"/>
            </a:endParaRPr>
          </a:p>
        </p:txBody>
      </p:sp>
      <p:sp>
        <p:nvSpPr>
          <p:cNvPr id="3" name="text-16">
            <a:extLst>
              <a:ext uri="{FF2B5EF4-FFF2-40B4-BE49-F238E27FC236}">
                <a16:creationId xmlns:a16="http://schemas.microsoft.com/office/drawing/2014/main" id="{C1B88F86-DE16-4C07-972F-3A81EB5C1C1B}"/>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03</a:t>
            </a:r>
          </a:p>
        </p:txBody>
      </p:sp>
      <p:sp>
        <p:nvSpPr>
          <p:cNvPr id="6" name="text-18">
            <a:extLst>
              <a:ext uri="{FF2B5EF4-FFF2-40B4-BE49-F238E27FC236}">
                <a16:creationId xmlns:a16="http://schemas.microsoft.com/office/drawing/2014/main" id="{32D83821-F20F-42AF-BEF8-BBE6E4FDA5F4}"/>
              </a:ext>
            </a:extLst>
          </p:cNvPr>
          <p:cNvSpPr>
            <a:spLocks noGrp="1"/>
          </p:cNvSpPr>
          <p:nvPr/>
        </p:nvSpPr>
        <p:spPr>
          <a:xfrm>
            <a:off x="740498" y="1795327"/>
            <a:ext cx="609600" cy="533400"/>
          </a:xfrm>
          <a:prstGeom prst="rect">
            <a:avLst/>
          </a:prstGeom>
          <a:noFill/>
          <a:ln w="0">
            <a:noFill/>
          </a:ln>
        </p:spPr>
        <p:txBody>
          <a:bodyPr wrap="square" lIns="0" tIns="0" rIns="0" bIns="0" anchor="t">
            <a:noAutofit/>
          </a:bodyPr>
          <a:lstStyle/>
          <a:p>
            <a:pPr>
              <a:lnSpc>
                <a:spcPct val="112000"/>
              </a:lnSpc>
              <a:buNone/>
              <a:defRPr sz="2400" b="1">
                <a:solidFill>
                  <a:srgbClr val="076DB8"/>
                </a:solidFill>
                <a:latin typeface="Noto Sans CJK SC"/>
                <a:ea typeface="Noto Sans CJK SC"/>
                <a:cs typeface="Noto Sans CJK SC"/>
              </a:defRPr>
            </a:pPr>
            <a:r>
              <a:rPr sz="2400" b="1">
                <a:solidFill>
                  <a:srgbClr val="076DB8"/>
                </a:solidFill>
                <a:latin typeface="Noto Sans CJK SC"/>
                <a:ea typeface="Noto Sans CJK SC"/>
                <a:cs typeface="Noto Sans CJK SC"/>
              </a:rPr>
              <a:t>01</a:t>
            </a:r>
          </a:p>
        </p:txBody>
      </p:sp>
      <p:sp>
        <p:nvSpPr>
          <p:cNvPr id="7" name="text-19">
            <a:extLst>
              <a:ext uri="{FF2B5EF4-FFF2-40B4-BE49-F238E27FC236}">
                <a16:creationId xmlns:a16="http://schemas.microsoft.com/office/drawing/2014/main" id="{1768FFF9-42A9-4E2C-B325-E12698B8F2AC}"/>
              </a:ext>
            </a:extLst>
          </p:cNvPr>
          <p:cNvSpPr>
            <a:spLocks noGrp="1"/>
          </p:cNvSpPr>
          <p:nvPr/>
        </p:nvSpPr>
        <p:spPr>
          <a:xfrm>
            <a:off x="1540598" y="1823902"/>
            <a:ext cx="7219950" cy="409575"/>
          </a:xfrm>
          <a:prstGeom prst="rect">
            <a:avLst/>
          </a:prstGeom>
          <a:noFill/>
          <a:ln w="0">
            <a:noFill/>
          </a:ln>
        </p:spPr>
        <p:txBody>
          <a:bodyPr wrap="square" lIns="0" tIns="0" rIns="0" bIns="0" anchor="t">
            <a:noAutofit/>
          </a:bodyPr>
          <a:lstStyle/>
          <a:p>
            <a:pPr>
              <a:lnSpc>
                <a:spcPct val="112000"/>
              </a:lnSpc>
              <a:buNone/>
              <a:defRPr sz="2100" b="1">
                <a:solidFill>
                  <a:srgbClr val="12324F"/>
                </a:solidFill>
                <a:latin typeface="Noto Sans CJK SC"/>
                <a:ea typeface="Noto Sans CJK SC"/>
                <a:cs typeface="Noto Sans CJK SC"/>
              </a:defRPr>
            </a:pPr>
            <a:r>
              <a:rPr lang="en-US" altLang="zh-CN" sz="2100" b="1" dirty="0">
                <a:solidFill>
                  <a:srgbClr val="12324F"/>
                </a:solidFill>
                <a:latin typeface="Noto Sans CJK SC"/>
                <a:ea typeface="Noto Sans CJK SC"/>
                <a:cs typeface="Noto Sans CJK SC"/>
              </a:rPr>
              <a:t>Basic Information</a:t>
            </a:r>
            <a:endParaRPr sz="2100" b="1" dirty="0">
              <a:solidFill>
                <a:srgbClr val="12324F"/>
              </a:solidFill>
              <a:latin typeface="Noto Sans CJK SC"/>
              <a:ea typeface="Noto Sans CJK SC"/>
              <a:cs typeface="Noto Sans CJK SC"/>
            </a:endParaRPr>
          </a:p>
        </p:txBody>
      </p:sp>
      <p:sp>
        <p:nvSpPr>
          <p:cNvPr id="8" name="text-20">
            <a:extLst>
              <a:ext uri="{FF2B5EF4-FFF2-40B4-BE49-F238E27FC236}">
                <a16:creationId xmlns:a16="http://schemas.microsoft.com/office/drawing/2014/main" id="{728D8E57-CEC7-4AD7-A58F-F46780FAF165}"/>
              </a:ext>
            </a:extLst>
          </p:cNvPr>
          <p:cNvSpPr>
            <a:spLocks noGrp="1"/>
          </p:cNvSpPr>
          <p:nvPr/>
        </p:nvSpPr>
        <p:spPr>
          <a:xfrm>
            <a:off x="1540598" y="2262052"/>
            <a:ext cx="7219950" cy="552450"/>
          </a:xfrm>
          <a:prstGeom prst="rect">
            <a:avLst/>
          </a:prstGeom>
          <a:noFill/>
          <a:ln w="0">
            <a:noFill/>
          </a:ln>
        </p:spPr>
        <p:txBody>
          <a:bodyPr wrap="square" lIns="0" tIns="0" rIns="0" bIns="0" anchor="t">
            <a:noAutofit/>
          </a:bodyPr>
          <a:lstStyle/>
          <a:p>
            <a:pPr>
              <a:lnSpc>
                <a:spcPct val="112000"/>
              </a:lnSpc>
              <a:buNone/>
              <a:defRPr sz="1800" b="0">
                <a:solidFill>
                  <a:srgbClr val="243E53"/>
                </a:solidFill>
                <a:latin typeface="Noto Sans CJK SC"/>
                <a:ea typeface="Noto Sans CJK SC"/>
                <a:cs typeface="Noto Sans CJK SC"/>
              </a:defRPr>
            </a:pPr>
            <a:r>
              <a:rPr sz="1650" b="0">
                <a:solidFill>
                  <a:srgbClr val="243E53"/>
                </a:solidFill>
                <a:latin typeface="Noto Sans CJK SC"/>
                <a:ea typeface="Noto Sans CJK SC"/>
                <a:cs typeface="Noto Sans CJK SC"/>
              </a:rPr>
              <a:t>Basic profile, scores, strengths, items to verify, and tags</a:t>
            </a:r>
          </a:p>
        </p:txBody>
      </p:sp>
      <p:sp>
        <p:nvSpPr>
          <p:cNvPr id="9" name="text-21">
            <a:extLst>
              <a:ext uri="{FF2B5EF4-FFF2-40B4-BE49-F238E27FC236}">
                <a16:creationId xmlns:a16="http://schemas.microsoft.com/office/drawing/2014/main" id="{CEBFB4BB-8A43-4ABA-8AC3-6E15C335DC6A}"/>
              </a:ext>
            </a:extLst>
          </p:cNvPr>
          <p:cNvSpPr>
            <a:spLocks noGrp="1"/>
          </p:cNvSpPr>
          <p:nvPr/>
        </p:nvSpPr>
        <p:spPr>
          <a:xfrm>
            <a:off x="740498" y="2795452"/>
            <a:ext cx="609600" cy="533400"/>
          </a:xfrm>
          <a:prstGeom prst="rect">
            <a:avLst/>
          </a:prstGeom>
          <a:noFill/>
          <a:ln w="0">
            <a:noFill/>
          </a:ln>
        </p:spPr>
        <p:txBody>
          <a:bodyPr wrap="square" lIns="0" tIns="0" rIns="0" bIns="0" anchor="t">
            <a:noAutofit/>
          </a:bodyPr>
          <a:lstStyle/>
          <a:p>
            <a:pPr>
              <a:lnSpc>
                <a:spcPct val="112000"/>
              </a:lnSpc>
              <a:buNone/>
              <a:defRPr sz="2400" b="1">
                <a:solidFill>
                  <a:srgbClr val="076DB8"/>
                </a:solidFill>
                <a:latin typeface="Noto Sans CJK SC"/>
                <a:ea typeface="Noto Sans CJK SC"/>
                <a:cs typeface="Noto Sans CJK SC"/>
              </a:defRPr>
            </a:pPr>
            <a:r>
              <a:rPr sz="2400" b="1">
                <a:solidFill>
                  <a:srgbClr val="076DB8"/>
                </a:solidFill>
                <a:latin typeface="Noto Sans CJK SC"/>
                <a:ea typeface="Noto Sans CJK SC"/>
                <a:cs typeface="Noto Sans CJK SC"/>
              </a:rPr>
              <a:t>02</a:t>
            </a:r>
          </a:p>
        </p:txBody>
      </p:sp>
      <p:sp>
        <p:nvSpPr>
          <p:cNvPr id="10" name="text-22">
            <a:extLst>
              <a:ext uri="{FF2B5EF4-FFF2-40B4-BE49-F238E27FC236}">
                <a16:creationId xmlns:a16="http://schemas.microsoft.com/office/drawing/2014/main" id="{1D99649F-369D-4CE3-84FB-CACD3C0D3536}"/>
              </a:ext>
            </a:extLst>
          </p:cNvPr>
          <p:cNvSpPr>
            <a:spLocks noGrp="1"/>
          </p:cNvSpPr>
          <p:nvPr/>
        </p:nvSpPr>
        <p:spPr>
          <a:xfrm>
            <a:off x="1540598" y="2824027"/>
            <a:ext cx="7219950" cy="409575"/>
          </a:xfrm>
          <a:prstGeom prst="rect">
            <a:avLst/>
          </a:prstGeom>
          <a:noFill/>
          <a:ln w="0">
            <a:noFill/>
          </a:ln>
        </p:spPr>
        <p:txBody>
          <a:bodyPr wrap="square" lIns="0" tIns="0" rIns="0" bIns="0" anchor="t">
            <a:noAutofit/>
          </a:bodyPr>
          <a:lstStyle/>
          <a:p>
            <a:pPr>
              <a:lnSpc>
                <a:spcPct val="112000"/>
              </a:lnSpc>
              <a:buNone/>
              <a:defRPr sz="2100" b="1">
                <a:solidFill>
                  <a:srgbClr val="12324F"/>
                </a:solidFill>
                <a:latin typeface="Noto Sans CJK SC"/>
                <a:ea typeface="Noto Sans CJK SC"/>
                <a:cs typeface="Noto Sans CJK SC"/>
              </a:defRPr>
            </a:pPr>
            <a:r>
              <a:rPr sz="2100" b="1">
                <a:solidFill>
                  <a:srgbClr val="12324F"/>
                </a:solidFill>
                <a:latin typeface="Noto Sans CJK SC"/>
                <a:ea typeface="Noto Sans CJK SC"/>
                <a:cs typeface="Noto Sans CJK SC"/>
              </a:rPr>
              <a:t>Education &amp; Work Experience</a:t>
            </a:r>
          </a:p>
        </p:txBody>
      </p:sp>
      <p:sp>
        <p:nvSpPr>
          <p:cNvPr id="11" name="text-23">
            <a:extLst>
              <a:ext uri="{FF2B5EF4-FFF2-40B4-BE49-F238E27FC236}">
                <a16:creationId xmlns:a16="http://schemas.microsoft.com/office/drawing/2014/main" id="{E257A18C-CA8E-4DC8-B678-2A331EA6BF6C}"/>
              </a:ext>
            </a:extLst>
          </p:cNvPr>
          <p:cNvSpPr>
            <a:spLocks noGrp="1"/>
          </p:cNvSpPr>
          <p:nvPr/>
        </p:nvSpPr>
        <p:spPr>
          <a:xfrm>
            <a:off x="1540598" y="3262177"/>
            <a:ext cx="7219950" cy="552450"/>
          </a:xfrm>
          <a:prstGeom prst="rect">
            <a:avLst/>
          </a:prstGeom>
          <a:noFill/>
          <a:ln w="0">
            <a:noFill/>
          </a:ln>
        </p:spPr>
        <p:txBody>
          <a:bodyPr wrap="square" lIns="0" tIns="0" rIns="0" bIns="0" anchor="t">
            <a:noAutofit/>
          </a:bodyPr>
          <a:lstStyle/>
          <a:p>
            <a:pPr>
              <a:lnSpc>
                <a:spcPct val="112000"/>
              </a:lnSpc>
              <a:buNone/>
              <a:defRPr sz="1800" b="0">
                <a:solidFill>
                  <a:srgbClr val="243E53"/>
                </a:solidFill>
                <a:latin typeface="Noto Sans CJK SC"/>
                <a:ea typeface="Noto Sans CJK SC"/>
                <a:cs typeface="Noto Sans CJK SC"/>
              </a:defRPr>
            </a:pPr>
            <a:r>
              <a:rPr sz="1650" b="0">
                <a:solidFill>
                  <a:srgbClr val="243E53"/>
                </a:solidFill>
                <a:latin typeface="Noto Sans CJK SC"/>
                <a:ea typeface="Noto Sans CJK SC"/>
                <a:cs typeface="Noto Sans CJK SC"/>
              </a:rPr>
              <a:t>Education, advisor information, employment timeline, and project details</a:t>
            </a:r>
          </a:p>
        </p:txBody>
      </p:sp>
      <p:sp>
        <p:nvSpPr>
          <p:cNvPr id="12" name="text-24">
            <a:extLst>
              <a:ext uri="{FF2B5EF4-FFF2-40B4-BE49-F238E27FC236}">
                <a16:creationId xmlns:a16="http://schemas.microsoft.com/office/drawing/2014/main" id="{FE0D1317-FD58-43AA-8EC2-FBEF43C9C2DE}"/>
              </a:ext>
            </a:extLst>
          </p:cNvPr>
          <p:cNvSpPr>
            <a:spLocks noGrp="1"/>
          </p:cNvSpPr>
          <p:nvPr/>
        </p:nvSpPr>
        <p:spPr>
          <a:xfrm>
            <a:off x="740498" y="3795577"/>
            <a:ext cx="609600" cy="533400"/>
          </a:xfrm>
          <a:prstGeom prst="rect">
            <a:avLst/>
          </a:prstGeom>
          <a:noFill/>
          <a:ln w="0">
            <a:noFill/>
          </a:ln>
        </p:spPr>
        <p:txBody>
          <a:bodyPr wrap="square" lIns="0" tIns="0" rIns="0" bIns="0" anchor="t">
            <a:noAutofit/>
          </a:bodyPr>
          <a:lstStyle/>
          <a:p>
            <a:pPr>
              <a:lnSpc>
                <a:spcPct val="112000"/>
              </a:lnSpc>
              <a:buNone/>
              <a:defRPr sz="2400" b="1">
                <a:solidFill>
                  <a:srgbClr val="076DB8"/>
                </a:solidFill>
                <a:latin typeface="Noto Sans CJK SC"/>
                <a:ea typeface="Noto Sans CJK SC"/>
                <a:cs typeface="Noto Sans CJK SC"/>
              </a:defRPr>
            </a:pPr>
            <a:r>
              <a:rPr sz="2400" b="1">
                <a:solidFill>
                  <a:srgbClr val="076DB8"/>
                </a:solidFill>
                <a:latin typeface="Noto Sans CJK SC"/>
                <a:ea typeface="Noto Sans CJK SC"/>
                <a:cs typeface="Noto Sans CJK SC"/>
              </a:rPr>
              <a:t>03</a:t>
            </a:r>
          </a:p>
        </p:txBody>
      </p:sp>
      <p:sp>
        <p:nvSpPr>
          <p:cNvPr id="13" name="text-25">
            <a:extLst>
              <a:ext uri="{FF2B5EF4-FFF2-40B4-BE49-F238E27FC236}">
                <a16:creationId xmlns:a16="http://schemas.microsoft.com/office/drawing/2014/main" id="{3ACA79BA-C37B-49A0-8B50-6CD39D1B1BAC}"/>
              </a:ext>
            </a:extLst>
          </p:cNvPr>
          <p:cNvSpPr>
            <a:spLocks noGrp="1"/>
          </p:cNvSpPr>
          <p:nvPr/>
        </p:nvSpPr>
        <p:spPr>
          <a:xfrm>
            <a:off x="1540598" y="3824152"/>
            <a:ext cx="7219950" cy="409575"/>
          </a:xfrm>
          <a:prstGeom prst="rect">
            <a:avLst/>
          </a:prstGeom>
          <a:noFill/>
          <a:ln w="0">
            <a:noFill/>
          </a:ln>
        </p:spPr>
        <p:txBody>
          <a:bodyPr wrap="square" lIns="0" tIns="0" rIns="0" bIns="0" anchor="t">
            <a:noAutofit/>
          </a:bodyPr>
          <a:lstStyle/>
          <a:p>
            <a:pPr>
              <a:lnSpc>
                <a:spcPct val="112000"/>
              </a:lnSpc>
              <a:buNone/>
              <a:defRPr sz="2100" b="1">
                <a:solidFill>
                  <a:srgbClr val="12324F"/>
                </a:solidFill>
                <a:latin typeface="Noto Sans CJK SC"/>
                <a:ea typeface="Noto Sans CJK SC"/>
                <a:cs typeface="Noto Sans CJK SC"/>
              </a:defRPr>
            </a:pPr>
            <a:r>
              <a:rPr sz="2100" b="1">
                <a:solidFill>
                  <a:srgbClr val="12324F"/>
                </a:solidFill>
                <a:latin typeface="Noto Sans CJK SC"/>
                <a:ea typeface="Noto Sans CJK SC"/>
                <a:cs typeface="Noto Sans CJK SC"/>
              </a:rPr>
              <a:t>Awards &amp; Research Funding</a:t>
            </a:r>
          </a:p>
        </p:txBody>
      </p:sp>
      <p:sp>
        <p:nvSpPr>
          <p:cNvPr id="14" name="text-26">
            <a:extLst>
              <a:ext uri="{FF2B5EF4-FFF2-40B4-BE49-F238E27FC236}">
                <a16:creationId xmlns:a16="http://schemas.microsoft.com/office/drawing/2014/main" id="{D12353B2-C902-4281-A59B-33EFC3592DD4}"/>
              </a:ext>
            </a:extLst>
          </p:cNvPr>
          <p:cNvSpPr>
            <a:spLocks noGrp="1"/>
          </p:cNvSpPr>
          <p:nvPr/>
        </p:nvSpPr>
        <p:spPr>
          <a:xfrm>
            <a:off x="1540598" y="4262302"/>
            <a:ext cx="7219950" cy="552450"/>
          </a:xfrm>
          <a:prstGeom prst="rect">
            <a:avLst/>
          </a:prstGeom>
          <a:noFill/>
          <a:ln w="0">
            <a:noFill/>
          </a:ln>
        </p:spPr>
        <p:txBody>
          <a:bodyPr wrap="square" lIns="0" tIns="0" rIns="0" bIns="0" anchor="t">
            <a:noAutofit/>
          </a:bodyPr>
          <a:lstStyle/>
          <a:p>
            <a:pPr>
              <a:lnSpc>
                <a:spcPct val="112000"/>
              </a:lnSpc>
              <a:buNone/>
              <a:defRPr sz="1800" b="0">
                <a:solidFill>
                  <a:srgbClr val="243E53"/>
                </a:solidFill>
                <a:latin typeface="Noto Sans CJK SC"/>
                <a:ea typeface="Noto Sans CJK SC"/>
                <a:cs typeface="Noto Sans CJK SC"/>
              </a:defRPr>
            </a:pPr>
            <a:r>
              <a:rPr sz="1650" b="0" dirty="0">
                <a:solidFill>
                  <a:srgbClr val="243E53"/>
                </a:solidFill>
                <a:latin typeface="Noto Sans CJK SC"/>
                <a:ea typeface="Noto Sans CJK SC"/>
                <a:cs typeface="Noto Sans CJK SC"/>
              </a:rPr>
              <a:t>Awards, funded projects</a:t>
            </a:r>
          </a:p>
        </p:txBody>
      </p:sp>
      <p:sp>
        <p:nvSpPr>
          <p:cNvPr id="15" name="text-27">
            <a:extLst>
              <a:ext uri="{FF2B5EF4-FFF2-40B4-BE49-F238E27FC236}">
                <a16:creationId xmlns:a16="http://schemas.microsoft.com/office/drawing/2014/main" id="{DA4A7DD7-D31A-4554-BAFD-30CFEDC2AA33}"/>
              </a:ext>
            </a:extLst>
          </p:cNvPr>
          <p:cNvSpPr>
            <a:spLocks noGrp="1"/>
          </p:cNvSpPr>
          <p:nvPr/>
        </p:nvSpPr>
        <p:spPr>
          <a:xfrm>
            <a:off x="740498" y="4795702"/>
            <a:ext cx="609600" cy="533400"/>
          </a:xfrm>
          <a:prstGeom prst="rect">
            <a:avLst/>
          </a:prstGeom>
          <a:noFill/>
          <a:ln w="0">
            <a:noFill/>
          </a:ln>
        </p:spPr>
        <p:txBody>
          <a:bodyPr wrap="square" lIns="0" tIns="0" rIns="0" bIns="0" anchor="t">
            <a:noAutofit/>
          </a:bodyPr>
          <a:lstStyle/>
          <a:p>
            <a:pPr>
              <a:lnSpc>
                <a:spcPct val="112000"/>
              </a:lnSpc>
              <a:buNone/>
              <a:defRPr sz="2400" b="1">
                <a:solidFill>
                  <a:srgbClr val="076DB8"/>
                </a:solidFill>
                <a:latin typeface="Noto Sans CJK SC"/>
                <a:ea typeface="Noto Sans CJK SC"/>
                <a:cs typeface="Noto Sans CJK SC"/>
              </a:defRPr>
            </a:pPr>
            <a:r>
              <a:rPr sz="2400" b="1" dirty="0">
                <a:solidFill>
                  <a:srgbClr val="076DB8"/>
                </a:solidFill>
                <a:latin typeface="Noto Sans CJK SC"/>
                <a:ea typeface="Noto Sans CJK SC"/>
                <a:cs typeface="Noto Sans CJK SC"/>
              </a:rPr>
              <a:t>04</a:t>
            </a:r>
          </a:p>
        </p:txBody>
      </p:sp>
      <p:sp>
        <p:nvSpPr>
          <p:cNvPr id="16" name="text-28">
            <a:extLst>
              <a:ext uri="{FF2B5EF4-FFF2-40B4-BE49-F238E27FC236}">
                <a16:creationId xmlns:a16="http://schemas.microsoft.com/office/drawing/2014/main" id="{9F74FEF8-832C-4649-8A03-48E40FEB054E}"/>
              </a:ext>
            </a:extLst>
          </p:cNvPr>
          <p:cNvSpPr>
            <a:spLocks noGrp="1"/>
          </p:cNvSpPr>
          <p:nvPr/>
        </p:nvSpPr>
        <p:spPr>
          <a:xfrm>
            <a:off x="1540598" y="4824277"/>
            <a:ext cx="7219950" cy="409575"/>
          </a:xfrm>
          <a:prstGeom prst="rect">
            <a:avLst/>
          </a:prstGeom>
          <a:noFill/>
          <a:ln w="0">
            <a:noFill/>
          </a:ln>
        </p:spPr>
        <p:txBody>
          <a:bodyPr wrap="square" lIns="0" tIns="0" rIns="0" bIns="0" anchor="t">
            <a:noAutofit/>
          </a:bodyPr>
          <a:lstStyle/>
          <a:p>
            <a:pPr>
              <a:lnSpc>
                <a:spcPct val="112000"/>
              </a:lnSpc>
              <a:buNone/>
              <a:defRPr sz="2100" b="1">
                <a:solidFill>
                  <a:srgbClr val="12324F"/>
                </a:solidFill>
                <a:latin typeface="Noto Sans CJK SC"/>
                <a:ea typeface="Noto Sans CJK SC"/>
                <a:cs typeface="Noto Sans CJK SC"/>
              </a:defRPr>
            </a:pPr>
            <a:r>
              <a:rPr sz="2100" b="1" dirty="0">
                <a:solidFill>
                  <a:srgbClr val="12324F"/>
                </a:solidFill>
                <a:latin typeface="Noto Sans CJK SC"/>
                <a:ea typeface="Noto Sans CJK SC"/>
                <a:cs typeface="Noto Sans CJK SC"/>
              </a:rPr>
              <a:t>Publications</a:t>
            </a:r>
          </a:p>
        </p:txBody>
      </p:sp>
      <p:sp>
        <p:nvSpPr>
          <p:cNvPr id="17" name="text-29">
            <a:extLst>
              <a:ext uri="{FF2B5EF4-FFF2-40B4-BE49-F238E27FC236}">
                <a16:creationId xmlns:a16="http://schemas.microsoft.com/office/drawing/2014/main" id="{F07486F4-0D43-4559-96D5-F096E68C824B}"/>
              </a:ext>
            </a:extLst>
          </p:cNvPr>
          <p:cNvSpPr>
            <a:spLocks noGrp="1"/>
          </p:cNvSpPr>
          <p:nvPr/>
        </p:nvSpPr>
        <p:spPr>
          <a:xfrm>
            <a:off x="1540598" y="5262427"/>
            <a:ext cx="7219950" cy="552450"/>
          </a:xfrm>
          <a:prstGeom prst="rect">
            <a:avLst/>
          </a:prstGeom>
          <a:noFill/>
          <a:ln w="0">
            <a:noFill/>
          </a:ln>
        </p:spPr>
        <p:txBody>
          <a:bodyPr wrap="square" lIns="0" tIns="0" rIns="0" bIns="0" anchor="t">
            <a:noAutofit/>
          </a:bodyPr>
          <a:lstStyle/>
          <a:p>
            <a:pPr>
              <a:lnSpc>
                <a:spcPct val="112000"/>
              </a:lnSpc>
              <a:buNone/>
              <a:defRPr sz="1800" b="0">
                <a:solidFill>
                  <a:srgbClr val="243E53"/>
                </a:solidFill>
                <a:latin typeface="Noto Sans CJK SC"/>
                <a:ea typeface="Noto Sans CJK SC"/>
                <a:cs typeface="Noto Sans CJK SC"/>
              </a:defRPr>
            </a:pPr>
            <a:r>
              <a:rPr sz="1650" b="0" dirty="0">
                <a:solidFill>
                  <a:srgbClr val="243E53"/>
                </a:solidFill>
                <a:latin typeface="Noto Sans CJK SC"/>
                <a:ea typeface="Noto Sans CJK SC"/>
                <a:cs typeface="Noto Sans CJK SC"/>
              </a:rPr>
              <a:t>Reviewing, service roles, publications, and impact metrics</a:t>
            </a:r>
          </a:p>
        </p:txBody>
      </p:sp>
      <p:sp>
        <p:nvSpPr>
          <p:cNvPr id="20" name="文本框 19">
            <a:extLst>
              <a:ext uri="{FF2B5EF4-FFF2-40B4-BE49-F238E27FC236}">
                <a16:creationId xmlns:a16="http://schemas.microsoft.com/office/drawing/2014/main" id="{56B45227-6BB8-CC01-DB11-B50C1213B33C}"/>
              </a:ext>
            </a:extLst>
          </p:cNvPr>
          <p:cNvSpPr txBox="1"/>
          <p:nvPr/>
        </p:nvSpPr>
        <p:spPr>
          <a:xfrm>
            <a:off x="1450427" y="5821475"/>
            <a:ext cx="6096000" cy="369332"/>
          </a:xfrm>
          <a:prstGeom prst="rect">
            <a:avLst/>
          </a:prstGeom>
          <a:noFill/>
        </p:spPr>
        <p:txBody>
          <a:bodyPr wrap="square">
            <a:spAutoFit/>
          </a:bodyPr>
          <a:lstStyle/>
          <a:p>
            <a:r>
              <a:rPr lang="en-US" altLang="zh-CN" sz="1800" b="1" dirty="0">
                <a:solidFill>
                  <a:srgbClr val="12324F"/>
                </a:solidFill>
                <a:latin typeface="Noto Sans CJK SC"/>
                <a:ea typeface="Noto Sans CJK SC"/>
                <a:cs typeface="Noto Sans CJK SC"/>
              </a:rPr>
              <a:t>Overall Evaluation</a:t>
            </a:r>
            <a:endParaRPr lang="zh-CN" altLang="en-US" dirty="0"/>
          </a:p>
        </p:txBody>
      </p:sp>
      <p:sp>
        <p:nvSpPr>
          <p:cNvPr id="21" name="text-27">
            <a:extLst>
              <a:ext uri="{FF2B5EF4-FFF2-40B4-BE49-F238E27FC236}">
                <a16:creationId xmlns:a16="http://schemas.microsoft.com/office/drawing/2014/main" id="{F99BAA25-2773-3947-8BB5-B981B7BF783D}"/>
              </a:ext>
            </a:extLst>
          </p:cNvPr>
          <p:cNvSpPr>
            <a:spLocks noGrp="1"/>
          </p:cNvSpPr>
          <p:nvPr/>
        </p:nvSpPr>
        <p:spPr>
          <a:xfrm>
            <a:off x="735067" y="5795827"/>
            <a:ext cx="609600" cy="533400"/>
          </a:xfrm>
          <a:prstGeom prst="rect">
            <a:avLst/>
          </a:prstGeom>
          <a:noFill/>
          <a:ln w="0">
            <a:noFill/>
          </a:ln>
        </p:spPr>
        <p:txBody>
          <a:bodyPr wrap="square" lIns="0" tIns="0" rIns="0" bIns="0" anchor="t">
            <a:noAutofit/>
          </a:bodyPr>
          <a:lstStyle/>
          <a:p>
            <a:pPr>
              <a:lnSpc>
                <a:spcPct val="112000"/>
              </a:lnSpc>
              <a:buNone/>
              <a:defRPr sz="2400" b="1">
                <a:solidFill>
                  <a:srgbClr val="076DB8"/>
                </a:solidFill>
                <a:latin typeface="Noto Sans CJK SC"/>
                <a:ea typeface="Noto Sans CJK SC"/>
                <a:cs typeface="Noto Sans CJK SC"/>
              </a:defRPr>
            </a:pPr>
            <a:r>
              <a:rPr sz="2400" b="1" dirty="0">
                <a:solidFill>
                  <a:srgbClr val="076DB8"/>
                </a:solidFill>
                <a:latin typeface="Noto Sans CJK SC"/>
                <a:ea typeface="Noto Sans CJK SC"/>
                <a:cs typeface="Noto Sans CJK SC"/>
              </a:rPr>
              <a:t>0</a:t>
            </a:r>
            <a:r>
              <a:rPr lang="en-US" altLang="zh-CN" sz="2400" b="1" dirty="0">
                <a:solidFill>
                  <a:srgbClr val="076DB8"/>
                </a:solidFill>
                <a:latin typeface="Noto Sans CJK SC"/>
                <a:ea typeface="Noto Sans CJK SC"/>
                <a:cs typeface="Noto Sans CJK SC"/>
              </a:rPr>
              <a:t>5</a:t>
            </a:r>
            <a:endParaRPr sz="2400" b="1" dirty="0">
              <a:solidFill>
                <a:srgbClr val="076DB8"/>
              </a:solidFill>
              <a:latin typeface="Noto Sans CJK SC"/>
              <a:ea typeface="Noto Sans CJK SC"/>
              <a:cs typeface="Noto Sans CJK SC"/>
            </a:endParaRPr>
          </a:p>
        </p:txBody>
      </p:sp>
    </p:spTree>
    <p:extLst>
      <p:ext uri="{BB962C8B-B14F-4D97-AF65-F5344CB8AC3E}">
        <p14:creationId xmlns:p14="http://schemas.microsoft.com/office/powerpoint/2010/main" val="22420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30">
            <a:extLst>
              <a:ext uri="{FF2B5EF4-FFF2-40B4-BE49-F238E27FC236}">
                <a16:creationId xmlns:a16="http://schemas.microsoft.com/office/drawing/2014/main" id="{1E700641-FE72-499B-A60C-2FECB522A275}"/>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sz="3300" b="1" dirty="0">
                <a:solidFill>
                  <a:srgbClr val="12324F"/>
                </a:solidFill>
                <a:latin typeface="Noto Sans CJK SC"/>
                <a:ea typeface="Noto Sans CJK SC"/>
                <a:cs typeface="Noto Sans CJK SC"/>
              </a:rPr>
              <a:t>Basic Information</a:t>
            </a:r>
          </a:p>
        </p:txBody>
      </p:sp>
      <p:sp>
        <p:nvSpPr>
          <p:cNvPr id="3" name="text-32">
            <a:extLst>
              <a:ext uri="{FF2B5EF4-FFF2-40B4-BE49-F238E27FC236}">
                <a16:creationId xmlns:a16="http://schemas.microsoft.com/office/drawing/2014/main" id="{1FD80953-A071-42E8-85F9-46C6409756C9}"/>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04</a:t>
            </a:r>
          </a:p>
        </p:txBody>
      </p:sp>
      <p:sp>
        <p:nvSpPr>
          <p:cNvPr id="4" name="text-33">
            <a:extLst>
              <a:ext uri="{FF2B5EF4-FFF2-40B4-BE49-F238E27FC236}">
                <a16:creationId xmlns:a16="http://schemas.microsoft.com/office/drawing/2014/main" id="{365B96BA-5A52-4D5D-8F66-E2456B95A225}"/>
              </a:ext>
            </a:extLst>
          </p:cNvPr>
          <p:cNvSpPr>
            <a:spLocks noGrp="1"/>
          </p:cNvSpPr>
          <p:nvPr/>
        </p:nvSpPr>
        <p:spPr>
          <a:xfrm>
            <a:off x="685800" y="2009775"/>
            <a:ext cx="5191125" cy="419100"/>
          </a:xfrm>
          <a:prstGeom prst="rect">
            <a:avLst/>
          </a:prstGeom>
          <a:noFill/>
          <a:ln w="0">
            <a:noFill/>
          </a:ln>
        </p:spPr>
        <p:txBody>
          <a:bodyPr wrap="square" lIns="0" tIns="0" rIns="0" bIns="0" anchor="t">
            <a:noAutofit/>
          </a:bodyPr>
          <a:lstStyle/>
          <a:p>
            <a:pPr>
              <a:lnSpc>
                <a:spcPct val="112000"/>
              </a:lnSpc>
              <a:buNone/>
              <a:defRPr sz="2175" b="1">
                <a:solidFill>
                  <a:srgbClr val="076DB8"/>
                </a:solidFill>
                <a:latin typeface="Noto Sans CJK SC"/>
                <a:ea typeface="Noto Sans CJK SC"/>
                <a:cs typeface="Noto Sans CJK SC"/>
              </a:defRPr>
            </a:pPr>
            <a:r>
              <a:rPr sz="2175" b="1">
                <a:solidFill>
                  <a:srgbClr val="076DB8"/>
                </a:solidFill>
                <a:latin typeface="Noto Sans CJK SC"/>
                <a:ea typeface="Noto Sans CJK SC"/>
                <a:cs typeface="Noto Sans CJK SC"/>
              </a:rPr>
              <a:t>Profile Information to Extract</a:t>
            </a:r>
          </a:p>
        </p:txBody>
      </p:sp>
      <p:sp>
        <p:nvSpPr>
          <p:cNvPr id="5" name="text-34">
            <a:extLst>
              <a:ext uri="{FF2B5EF4-FFF2-40B4-BE49-F238E27FC236}">
                <a16:creationId xmlns:a16="http://schemas.microsoft.com/office/drawing/2014/main" id="{CAE59BAE-3BFF-48F0-8558-158D7C53DD4E}"/>
              </a:ext>
            </a:extLst>
          </p:cNvPr>
          <p:cNvSpPr>
            <a:spLocks noGrp="1"/>
          </p:cNvSpPr>
          <p:nvPr/>
        </p:nvSpPr>
        <p:spPr>
          <a:xfrm>
            <a:off x="685800" y="2590800"/>
            <a:ext cx="3526368" cy="1895475"/>
          </a:xfrm>
          <a:prstGeom prst="rect">
            <a:avLst/>
          </a:prstGeom>
          <a:noFill/>
          <a:ln w="0">
            <a:noFill/>
          </a:ln>
        </p:spPr>
        <p:txBody>
          <a:bodyPr wrap="square" lIns="0" tIns="0" rIns="0" bIns="0" anchor="t">
            <a:noAutofit/>
          </a:bodyPr>
          <a:lstStyle/>
          <a:p>
            <a:pPr marL="342900" indent="-342900">
              <a:lnSpc>
                <a:spcPct val="112000"/>
              </a:lnSpc>
              <a:buFont typeface="Arial" panose="020B0604020202020204" pitchFamily="34" charset="0"/>
              <a:buChar char="•"/>
              <a:defRPr sz="2025" b="0">
                <a:solidFill>
                  <a:srgbClr val="243E53"/>
                </a:solidFill>
                <a:latin typeface="Noto Sans CJK SC"/>
                <a:ea typeface="Noto Sans CJK SC"/>
                <a:cs typeface="Noto Sans CJK SC"/>
              </a:defRPr>
            </a:pPr>
            <a:r>
              <a:rPr sz="2025" b="0" dirty="0">
                <a:solidFill>
                  <a:srgbClr val="243E53"/>
                </a:solidFill>
                <a:latin typeface="Noto Sans CJK SC"/>
                <a:ea typeface="Noto Sans CJK SC"/>
                <a:cs typeface="Noto Sans CJK SC"/>
              </a:rPr>
              <a:t>Name </a:t>
            </a:r>
          </a:p>
          <a:p>
            <a:pPr marL="342900" indent="-342900">
              <a:lnSpc>
                <a:spcPct val="112000"/>
              </a:lnSpc>
              <a:buFont typeface="Arial" panose="020B0604020202020204" pitchFamily="34" charset="0"/>
              <a:buChar char="•"/>
              <a:defRPr sz="2025" b="0">
                <a:solidFill>
                  <a:srgbClr val="243E53"/>
                </a:solidFill>
                <a:latin typeface="Noto Sans CJK SC"/>
                <a:ea typeface="Noto Sans CJK SC"/>
                <a:cs typeface="Noto Sans CJK SC"/>
              </a:defRPr>
            </a:pPr>
            <a:r>
              <a:rPr sz="2025" b="0" dirty="0" err="1">
                <a:solidFill>
                  <a:srgbClr val="243E53"/>
                </a:solidFill>
                <a:latin typeface="Noto Sans CJK SC"/>
                <a:ea typeface="Noto Sans CJK SC"/>
                <a:cs typeface="Noto Sans CJK SC"/>
              </a:rPr>
              <a:t>Current institution, position, and research areas</a:t>
            </a:r>
            <a:endParaRPr sz="2025" b="0" dirty="0">
              <a:solidFill>
                <a:srgbClr val="243E53"/>
              </a:solidFill>
              <a:latin typeface="Noto Sans CJK SC"/>
              <a:ea typeface="Noto Sans CJK SC"/>
              <a:cs typeface="Noto Sans CJK SC"/>
            </a:endParaRPr>
          </a:p>
          <a:p>
            <a:pPr marL="342900" indent="-342900">
              <a:lnSpc>
                <a:spcPct val="112000"/>
              </a:lnSpc>
              <a:buFont typeface="Arial" panose="020B0604020202020204" pitchFamily="34" charset="0"/>
              <a:buChar char="•"/>
              <a:defRPr sz="2025" b="0">
                <a:solidFill>
                  <a:srgbClr val="243E53"/>
                </a:solidFill>
                <a:latin typeface="Noto Sans CJK SC"/>
                <a:ea typeface="Noto Sans CJK SC"/>
                <a:cs typeface="Noto Sans CJK SC"/>
              </a:defRPr>
            </a:pPr>
            <a:r>
              <a:rPr sz="2025" b="0" dirty="0" err="1">
                <a:solidFill>
                  <a:srgbClr val="243E53"/>
                </a:solidFill>
                <a:latin typeface="Noto Sans CJK SC"/>
                <a:ea typeface="Noto Sans CJK SC"/>
                <a:cs typeface="Noto Sans CJK SC"/>
              </a:rPr>
              <a:t>Highest degree and key skills</a:t>
            </a:r>
            <a:endParaRPr sz="2025" b="0" dirty="0">
              <a:solidFill>
                <a:srgbClr val="243E53"/>
              </a:solidFill>
              <a:latin typeface="Noto Sans CJK SC"/>
              <a:ea typeface="Noto Sans CJK SC"/>
              <a:cs typeface="Noto Sans CJK SC"/>
            </a:endParaRPr>
          </a:p>
        </p:txBody>
      </p:sp>
      <p:pic>
        <p:nvPicPr>
          <p:cNvPr id="17" name="Image"/>
          <p:cNvPicPr>
            <a:picLocks noChangeAspect="1"/>
          </p:cNvPicPr>
          <p:nvPr/>
        </p:nvPicPr>
        <p:blipFill>
          <a:blip r:embed="rId3"/>
          <a:srcRect l="1163" t="91797" r="2159" b="4053"/>
          <a:stretch>
            <a:fillRect/>
          </a:stretch>
        </p:blipFill>
        <p:spPr>
          <a:xfrm>
            <a:off x="685800" y="4847167"/>
            <a:ext cx="10820400" cy="790575"/>
          </a:xfrm>
          <a:prstGeom prst="rect">
            <a:avLst/>
          </a:prstGeom>
        </p:spPr>
      </p:pic>
      <p:pic>
        <p:nvPicPr>
          <p:cNvPr id="9" name="图片 8">
            <a:extLst>
              <a:ext uri="{FF2B5EF4-FFF2-40B4-BE49-F238E27FC236}">
                <a16:creationId xmlns:a16="http://schemas.microsoft.com/office/drawing/2014/main" id="{E9490863-7BDD-B8C7-3D9B-792DA0F7E9A5}"/>
              </a:ext>
            </a:extLst>
          </p:cNvPr>
          <p:cNvPicPr>
            <a:picLocks noChangeAspect="1"/>
          </p:cNvPicPr>
          <p:nvPr/>
        </p:nvPicPr>
        <p:blipFill>
          <a:blip r:embed="rId4"/>
          <a:stretch>
            <a:fillRect/>
          </a:stretch>
        </p:blipFill>
        <p:spPr>
          <a:xfrm>
            <a:off x="4794259" y="505330"/>
            <a:ext cx="6711941" cy="3847089"/>
          </a:xfrm>
          <a:prstGeom prst="rect">
            <a:avLst/>
          </a:prstGeom>
        </p:spPr>
      </p:pic>
    </p:spTree>
    <p:extLst>
      <p:ext uri="{BB962C8B-B14F-4D97-AF65-F5344CB8AC3E}">
        <p14:creationId xmlns:p14="http://schemas.microsoft.com/office/powerpoint/2010/main" val="735030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38">
            <a:extLst>
              <a:ext uri="{FF2B5EF4-FFF2-40B4-BE49-F238E27FC236}">
                <a16:creationId xmlns:a16="http://schemas.microsoft.com/office/drawing/2014/main" id="{05F99684-501F-4BD6-A002-56771305F934}"/>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sz="2750" b="1" dirty="0" err="1">
                <a:solidFill>
                  <a:srgbClr val="12324F"/>
                </a:solidFill>
                <a:latin typeface="Noto Sans CJK SC"/>
                <a:ea typeface="Noto Sans CJK SC"/>
                <a:cs typeface="Noto Sans CJK SC"/>
              </a:rPr>
              <a:t>Education Background: Information Extraction &amp; Context Enrichment</a:t>
            </a:r>
            <a:endParaRPr sz="3300" b="1" dirty="0">
              <a:solidFill>
                <a:srgbClr val="12324F"/>
              </a:solidFill>
              <a:latin typeface="Noto Sans CJK SC"/>
              <a:ea typeface="Noto Sans CJK SC"/>
              <a:cs typeface="Noto Sans CJK SC"/>
            </a:endParaRPr>
          </a:p>
        </p:txBody>
      </p:sp>
      <p:sp>
        <p:nvSpPr>
          <p:cNvPr id="3" name="text-40">
            <a:extLst>
              <a:ext uri="{FF2B5EF4-FFF2-40B4-BE49-F238E27FC236}">
                <a16:creationId xmlns:a16="http://schemas.microsoft.com/office/drawing/2014/main" id="{820CFDED-93E6-4B2B-8483-BE6DD63C05CC}"/>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05</a:t>
            </a:r>
          </a:p>
        </p:txBody>
      </p:sp>
      <p:graphicFrame>
        <p:nvGraphicFramePr>
          <p:cNvPr id="10" name="Image"/>
          <p:cNvGraphicFramePr/>
          <p:nvPr>
            <p:extLst>
              <p:ext uri="{D42A27DB-BD31-4B8C-83A1-F6EECF244321}">
                <p14:modId xmlns:p14="http://schemas.microsoft.com/office/powerpoint/2010/main" val="1351342702"/>
              </p:ext>
            </p:extLst>
          </p:nvPr>
        </p:nvGraphicFramePr>
        <p:xfrm>
          <a:off x="685800" y="1505833"/>
          <a:ext cx="10820400" cy="3257550"/>
        </p:xfrm>
        <a:graphic>
          <a:graphicData uri="http://schemas.openxmlformats.org/drawingml/2006/table">
            <a:tbl>
              <a:tblPr/>
              <a:tblGrid>
                <a:gridCol w="1857375">
                  <a:extLst>
                    <a:ext uri="{9D8B030D-6E8A-4147-A177-3AD203B41FA5}">
                      <a16:colId xmlns:a16="http://schemas.microsoft.com/office/drawing/2014/main" val="20000"/>
                    </a:ext>
                  </a:extLst>
                </a:gridCol>
                <a:gridCol w="5772150">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542925">
                <a:tc>
                  <a:txBody>
                    <a:bodyPr/>
                    <a:lstStyle/>
                    <a:p>
                      <a:r>
                        <a:rPr sz="1500" b="1">
                          <a:solidFill>
                            <a:srgbClr val="FFFFFF"/>
                          </a:solidFill>
                          <a:latin typeface="Noto Sans CJK SC"/>
                          <a:ea typeface="Noto Sans CJK SC"/>
                          <a:cs typeface="Noto Sans CJK SC"/>
                        </a:rPr>
                        <a:t>Content</a:t>
                      </a:r>
                    </a:p>
                  </a:txBody>
                  <a:tcPr marL="152400" marR="133350" marT="123825" marB="95250" anchor="ctr">
                    <a:solidFill>
                      <a:srgbClr val="12324F"/>
                    </a:solidFill>
                  </a:tcPr>
                </a:tc>
                <a:tc>
                  <a:txBody>
                    <a:bodyPr/>
                    <a:lstStyle/>
                    <a:p>
                      <a:r>
                        <a:rPr sz="1500" b="1">
                          <a:solidFill>
                            <a:srgbClr val="FFFFFF"/>
                          </a:solidFill>
                          <a:latin typeface="Noto Sans CJK SC"/>
                          <a:ea typeface="Noto Sans CJK SC"/>
                          <a:cs typeface="Noto Sans CJK SC"/>
                        </a:rPr>
                        <a:t>Information to Extract or Supplement</a:t>
                      </a:r>
                    </a:p>
                  </a:txBody>
                  <a:tcPr marL="152400" marR="133350" marT="123825" marB="95250" anchor="ctr">
                    <a:solidFill>
                      <a:srgbClr val="12324F"/>
                    </a:solidFill>
                  </a:tcPr>
                </a:tc>
                <a:tc>
                  <a:txBody>
                    <a:bodyPr/>
                    <a:lstStyle/>
                    <a:p>
                      <a:r>
                        <a:rPr sz="1500" b="1">
                          <a:solidFill>
                            <a:srgbClr val="FFFFFF"/>
                          </a:solidFill>
                          <a:latin typeface="Noto Sans CJK SC"/>
                          <a:ea typeface="Noto Sans CJK SC"/>
                          <a:cs typeface="Noto Sans CJK SC"/>
                        </a:rPr>
                        <a:t>Suggested Evidence</a:t>
                      </a:r>
                    </a:p>
                  </a:txBody>
                  <a:tcPr marL="152400" marR="133350" marT="123825" marB="95250" anchor="ctr">
                    <a:solidFill>
                      <a:srgbClr val="12324F"/>
                    </a:solidFill>
                  </a:tcPr>
                </a:tc>
                <a:extLst>
                  <a:ext uri="{0D108BD9-81ED-4DB2-BD59-A6C34878D82A}">
                    <a16:rowId xmlns:a16="http://schemas.microsoft.com/office/drawing/2014/main" val="10000"/>
                  </a:ext>
                </a:extLst>
              </a:tr>
              <a:tr h="676275">
                <a:tc>
                  <a:txBody>
                    <a:bodyPr/>
                    <a:lstStyle/>
                    <a:p>
                      <a:r>
                        <a:rPr sz="1350" b="1">
                          <a:solidFill>
                            <a:srgbClr val="12324F"/>
                          </a:solidFill>
                          <a:latin typeface="Noto Sans CJK SC"/>
                          <a:ea typeface="Noto Sans CJK SC"/>
                          <a:cs typeface="Noto Sans CJK SC"/>
                        </a:rPr>
                        <a:t>Degree &amp; Major</a:t>
                      </a:r>
                    </a:p>
                  </a:txBody>
                  <a:tcPr marL="152400" marR="133350" marT="123825" marB="95250" anchor="ctr">
                    <a:solidFill>
                      <a:srgbClr val="FFFFFF"/>
                    </a:solidFill>
                  </a:tcPr>
                </a:tc>
                <a:tc>
                  <a:txBody>
                    <a:bodyPr/>
                    <a:lstStyle/>
                    <a:p>
                      <a:r>
                        <a:rPr sz="1350" b="0">
                          <a:solidFill>
                            <a:srgbClr val="243E53"/>
                          </a:solidFill>
                          <a:latin typeface="Noto Sans CJK SC"/>
                          <a:ea typeface="Noto Sans CJK SC"/>
                          <a:cs typeface="Noto Sans CJK SC"/>
                        </a:rPr>
                        <a:t>Institution, school/department, major, degree, and dates</a:t>
                      </a:r>
                    </a:p>
                  </a:txBody>
                  <a:tcPr marL="152400" marR="133350" marT="123825" marB="95250" anchor="ctr">
                    <a:solidFill>
                      <a:srgbClr val="FFFFFF"/>
                    </a:solidFill>
                  </a:tcPr>
                </a:tc>
                <a:tc>
                  <a:txBody>
                    <a:bodyPr/>
                    <a:lstStyle/>
                    <a:p>
                      <a:r>
                        <a:rPr sz="1350" b="0">
                          <a:solidFill>
                            <a:srgbClr val="243E53"/>
                          </a:solidFill>
                          <a:latin typeface="Noto Sans CJK SC"/>
                          <a:ea typeface="Noto Sans CJK SC"/>
                          <a:cs typeface="Noto Sans CJK SC"/>
                        </a:rPr>
                        <a:t>CV, university webpages</a:t>
                      </a:r>
                    </a:p>
                  </a:txBody>
                  <a:tcPr marL="152400" marR="133350" marT="123825" marB="95250" anchor="ctr">
                    <a:solidFill>
                      <a:srgbClr val="FFFFFF"/>
                    </a:solidFill>
                  </a:tcPr>
                </a:tc>
                <a:extLst>
                  <a:ext uri="{0D108BD9-81ED-4DB2-BD59-A6C34878D82A}">
                    <a16:rowId xmlns:a16="http://schemas.microsoft.com/office/drawing/2014/main" val="10001"/>
                  </a:ext>
                </a:extLst>
              </a:tr>
              <a:tr h="676275">
                <a:tc>
                  <a:txBody>
                    <a:bodyPr/>
                    <a:lstStyle/>
                    <a:p>
                      <a:r>
                        <a:rPr sz="1350" b="1">
                          <a:solidFill>
                            <a:srgbClr val="12324F"/>
                          </a:solidFill>
                          <a:latin typeface="Noto Sans CJK SC"/>
                          <a:ea typeface="Noto Sans CJK SC"/>
                          <a:cs typeface="Noto Sans CJK SC"/>
                        </a:rPr>
                        <a:t>Advisor Relationship</a:t>
                      </a:r>
                    </a:p>
                  </a:txBody>
                  <a:tcPr marL="152400" marR="133350" marT="123825" marB="95250" anchor="ctr">
                    <a:solidFill>
                      <a:srgbClr val="F2F7FB"/>
                    </a:solidFill>
                  </a:tcPr>
                </a:tc>
                <a:tc>
                  <a:txBody>
                    <a:bodyPr/>
                    <a:lstStyle/>
                    <a:p>
                      <a:r>
                        <a:rPr sz="1350" b="0">
                          <a:solidFill>
                            <a:srgbClr val="243E53"/>
                          </a:solidFill>
                          <a:latin typeface="Noto Sans CJK SC"/>
                          <a:ea typeface="Noto Sans CJK SC"/>
                          <a:cs typeface="Noto Sans CJK SC"/>
                        </a:rPr>
                        <a:t>Advisor name, supervisory relationship, and research area</a:t>
                      </a:r>
                    </a:p>
                  </a:txBody>
                  <a:tcPr marL="152400" marR="133350" marT="123825" marB="95250" anchor="ctr">
                    <a:solidFill>
                      <a:srgbClr val="F2F7FB"/>
                    </a:solidFill>
                  </a:tcPr>
                </a:tc>
                <a:tc>
                  <a:txBody>
                    <a:bodyPr/>
                    <a:lstStyle/>
                    <a:p>
                      <a:r>
                        <a:rPr sz="1350" b="0">
                          <a:solidFill>
                            <a:srgbClr val="243E53"/>
                          </a:solidFill>
                          <a:latin typeface="Noto Sans CJK SC"/>
                          <a:ea typeface="Noto Sans CJK SC"/>
                          <a:cs typeface="Noto Sans CJK SC"/>
                        </a:rPr>
                        <a:t>Advisor webpage, thesis/dissertation</a:t>
                      </a:r>
                    </a:p>
                  </a:txBody>
                  <a:tcPr marL="152400" marR="133350" marT="123825" marB="95250" anchor="ctr">
                    <a:solidFill>
                      <a:srgbClr val="F2F7FB"/>
                    </a:solidFill>
                  </a:tcPr>
                </a:tc>
                <a:extLst>
                  <a:ext uri="{0D108BD9-81ED-4DB2-BD59-A6C34878D82A}">
                    <a16:rowId xmlns:a16="http://schemas.microsoft.com/office/drawing/2014/main" val="10002"/>
                  </a:ext>
                </a:extLst>
              </a:tr>
              <a:tr h="676275">
                <a:tc>
                  <a:txBody>
                    <a:bodyPr/>
                    <a:lstStyle/>
                    <a:p>
                      <a:r>
                        <a:rPr sz="1350" b="1">
                          <a:solidFill>
                            <a:srgbClr val="12324F"/>
                          </a:solidFill>
                          <a:latin typeface="Noto Sans CJK SC"/>
                          <a:ea typeface="Noto Sans CJK SC"/>
                          <a:cs typeface="Noto Sans CJK SC"/>
                        </a:rPr>
                        <a:t>Institution Background</a:t>
                      </a:r>
                    </a:p>
                  </a:txBody>
                  <a:tcPr marL="152400" marR="133350" marT="123825" marB="95250" anchor="ctr">
                    <a:solidFill>
                      <a:srgbClr val="FFFFFF"/>
                    </a:solidFill>
                  </a:tcPr>
                </a:tc>
                <a:tc>
                  <a:txBody>
                    <a:bodyPr/>
                    <a:lstStyle/>
                    <a:p>
                      <a:r>
                        <a:rPr sz="1350" b="0">
                          <a:solidFill>
                            <a:srgbClr val="243E53"/>
                          </a:solidFill>
                          <a:latin typeface="Noto Sans CJK SC"/>
                          <a:ea typeface="Noto Sans CJK SC"/>
                          <a:cs typeface="Noto Sans CJK SC"/>
                        </a:rPr>
                        <a:t>Overall ranking, ranking system, and year</a:t>
                      </a:r>
                    </a:p>
                  </a:txBody>
                  <a:tcPr marL="152400" marR="133350" marT="123825" marB="95250" anchor="ctr">
                    <a:solidFill>
                      <a:srgbClr val="FFFFFF"/>
                    </a:solidFill>
                  </a:tcPr>
                </a:tc>
                <a:tc>
                  <a:txBody>
                    <a:bodyPr/>
                    <a:lstStyle/>
                    <a:p>
                      <a:r>
                        <a:rPr sz="1350" b="0">
                          <a:solidFill>
                            <a:srgbClr val="243E53"/>
                          </a:solidFill>
                          <a:latin typeface="Noto Sans CJK SC"/>
                          <a:ea typeface="Noto Sans CJK SC"/>
                          <a:cs typeface="Noto Sans CJK SC"/>
                        </a:rPr>
                        <a:t>Official ranking source</a:t>
                      </a:r>
                    </a:p>
                  </a:txBody>
                  <a:tcPr marL="152400" marR="133350" marT="123825" marB="95250" anchor="ctr">
                    <a:solidFill>
                      <a:srgbClr val="FFFFFF"/>
                    </a:solidFill>
                  </a:tcPr>
                </a:tc>
                <a:extLst>
                  <a:ext uri="{0D108BD9-81ED-4DB2-BD59-A6C34878D82A}">
                    <a16:rowId xmlns:a16="http://schemas.microsoft.com/office/drawing/2014/main" val="10003"/>
                  </a:ext>
                </a:extLst>
              </a:tr>
              <a:tr h="685800">
                <a:tc>
                  <a:txBody>
                    <a:bodyPr/>
                    <a:lstStyle/>
                    <a:p>
                      <a:r>
                        <a:rPr sz="1350" b="1" dirty="0" err="1">
                          <a:solidFill>
                            <a:srgbClr val="12324F"/>
                          </a:solidFill>
                          <a:latin typeface="Noto Sans CJK SC"/>
                          <a:ea typeface="Noto Sans CJK SC"/>
                          <a:cs typeface="Noto Sans CJK SC"/>
                        </a:rPr>
                        <a:t>Discipline Background</a:t>
                      </a:r>
                      <a:endParaRPr sz="1875" b="1" dirty="0">
                        <a:solidFill>
                          <a:srgbClr val="12324F"/>
                        </a:solidFill>
                        <a:latin typeface="Noto Sans CJK SC"/>
                        <a:ea typeface="Noto Sans CJK SC"/>
                        <a:cs typeface="Noto Sans CJK SC"/>
                      </a:endParaRPr>
                    </a:p>
                  </a:txBody>
                  <a:tcPr marL="152400" marR="133350" marT="123825" marB="95250" anchor="ctr">
                    <a:solidFill>
                      <a:srgbClr val="F2F7FB"/>
                    </a:solidFill>
                  </a:tcPr>
                </a:tc>
                <a:tc>
                  <a:txBody>
                    <a:bodyPr/>
                    <a:lstStyle/>
                    <a:p>
                      <a:r>
                        <a:rPr sz="1350" b="0" dirty="0">
                          <a:solidFill>
                            <a:srgbClr val="243E53"/>
                          </a:solidFill>
                          <a:latin typeface="Noto Sans CJK SC"/>
                          <a:ea typeface="Noto Sans CJK SC"/>
                          <a:cs typeface="Noto Sans CJK SC"/>
                        </a:rPr>
                        <a:t>Relevant subject ranking</a:t>
                      </a:r>
                    </a:p>
                  </a:txBody>
                  <a:tcPr marL="152400" marR="133350" marT="123825" marB="95250" anchor="ctr">
                    <a:solidFill>
                      <a:srgbClr val="F2F7FB"/>
                    </a:solidFill>
                  </a:tcPr>
                </a:tc>
                <a:tc>
                  <a:txBody>
                    <a:bodyPr/>
                    <a:lstStyle/>
                    <a:p>
                      <a:r>
                        <a:rPr sz="1350" b="0" dirty="0">
                          <a:solidFill>
                            <a:srgbClr val="243E53"/>
                          </a:solidFill>
                          <a:latin typeface="Noto Sans CJK SC"/>
                          <a:ea typeface="Noto Sans CJK SC"/>
                          <a:cs typeface="Noto Sans CJK SC"/>
                        </a:rPr>
                        <a:t>Subject rankin</a:t>
                      </a:r>
                      <a:r>
                        <a:rPr lang="en-US" sz="1350" b="0" dirty="0">
                          <a:solidFill>
                            <a:srgbClr val="243E53"/>
                          </a:solidFill>
                          <a:latin typeface="Noto Sans CJK SC"/>
                          <a:ea typeface="Noto Sans CJK SC"/>
                          <a:cs typeface="Noto Sans CJK SC"/>
                        </a:rPr>
                        <a:t>g</a:t>
                      </a:r>
                      <a:endParaRPr sz="1875" b="0" dirty="0">
                        <a:solidFill>
                          <a:srgbClr val="243E53"/>
                        </a:solidFill>
                        <a:latin typeface="Noto Sans CJK SC"/>
                        <a:ea typeface="Noto Sans CJK SC"/>
                        <a:cs typeface="Noto Sans CJK SC"/>
                      </a:endParaRPr>
                    </a:p>
                  </a:txBody>
                  <a:tcPr marL="152400" marR="133350" marT="123825" marB="95250" anchor="ctr">
                    <a:solidFill>
                      <a:srgbClr val="F2F7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16048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FB6BD698-B78B-4FCC-AE53-1A9CE8B3CA9F}"/>
              </a:ext>
            </a:extLst>
          </p:cNvPr>
          <p:cNvSpPr>
            <a:spLocks noGrp="1"/>
          </p:cNvSpPr>
          <p:nvPr/>
        </p:nvSpPr>
        <p:spPr>
          <a:xfrm>
            <a:off x="552450" y="323850"/>
            <a:ext cx="40957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BACKGROUND</a:t>
            </a:r>
          </a:p>
        </p:txBody>
      </p:sp>
      <p:sp>
        <p:nvSpPr>
          <p:cNvPr id="2" name="矩形 1">
            <a:extLst>
              <a:ext uri="{FF2B5EF4-FFF2-40B4-BE49-F238E27FC236}">
                <a16:creationId xmlns:a16="http://schemas.microsoft.com/office/drawing/2014/main" id="{A3E740A0-5473-4213-8D86-19C5A41718C5}"/>
              </a:ext>
            </a:extLst>
          </p:cNvPr>
          <p:cNvSpPr>
            <a:spLocks noGrp="1"/>
          </p:cNvSpPr>
          <p:nvPr/>
        </p:nvSpPr>
        <p:spPr>
          <a:xfrm>
            <a:off x="552450" y="628650"/>
            <a:ext cx="10668000" cy="533400"/>
          </a:xfrm>
          <a:prstGeom prst="rect">
            <a:avLst/>
          </a:prstGeom>
          <a:noFill/>
          <a:ln w="0">
            <a:noFill/>
          </a:ln>
        </p:spPr>
        <p:txBody>
          <a:bodyPr lIns="0" tIns="0" rIns="0" bIns="0" anchor="t">
            <a:normAutofit/>
          </a:bodyPr>
          <a:lstStyle/>
          <a:p>
            <a:pPr algn="l">
              <a:defRPr sz="2700" b="1">
                <a:solidFill>
                  <a:srgbClr val="092445"/>
                </a:solidFill>
                <a:latin typeface="Aptos"/>
                <a:ea typeface="Aptos"/>
                <a:cs typeface="Aptos"/>
              </a:defRPr>
            </a:pPr>
            <a:r>
              <a:rPr sz="2700" b="1">
                <a:solidFill>
                  <a:srgbClr val="092445"/>
                </a:solidFill>
                <a:latin typeface="Aptos"/>
                <a:ea typeface="Aptos"/>
                <a:cs typeface="Aptos"/>
              </a:rPr>
              <a:t>Academic background and research trajectory</a:t>
            </a:r>
          </a:p>
        </p:txBody>
      </p:sp>
      <p:sp>
        <p:nvSpPr>
          <p:cNvPr id="3" name="矩形 2">
            <a:extLst>
              <a:ext uri="{FF2B5EF4-FFF2-40B4-BE49-F238E27FC236}">
                <a16:creationId xmlns:a16="http://schemas.microsoft.com/office/drawing/2014/main" id="{9ED2B997-BF1A-4431-BB7B-20B3C95CCFE9}"/>
              </a:ext>
            </a:extLst>
          </p:cNvPr>
          <p:cNvSpPr>
            <a:spLocks noGrp="1"/>
          </p:cNvSpPr>
          <p:nvPr/>
        </p:nvSpPr>
        <p:spPr>
          <a:xfrm>
            <a:off x="552450" y="1257300"/>
            <a:ext cx="11087100" cy="19050"/>
          </a:xfrm>
          <a:prstGeom prst="rect">
            <a:avLst/>
          </a:prstGeom>
          <a:solidFill>
            <a:srgbClr val="D7E4ED"/>
          </a:solidFill>
          <a:ln w="0">
            <a:noFill/>
          </a:ln>
        </p:spPr>
      </p:sp>
      <p:sp>
        <p:nvSpPr>
          <p:cNvPr id="4" name="椭圆 3">
            <a:extLst>
              <a:ext uri="{FF2B5EF4-FFF2-40B4-BE49-F238E27FC236}">
                <a16:creationId xmlns:a16="http://schemas.microsoft.com/office/drawing/2014/main" id="{ABF90B8F-B621-401E-8E12-B333008C6881}"/>
              </a:ext>
            </a:extLst>
          </p:cNvPr>
          <p:cNvSpPr>
            <a:spLocks noGrp="1"/>
          </p:cNvSpPr>
          <p:nvPr/>
        </p:nvSpPr>
        <p:spPr>
          <a:xfrm>
            <a:off x="704850" y="1647825"/>
            <a:ext cx="152400" cy="152400"/>
          </a:xfrm>
          <a:prstGeom prst="ellipse">
            <a:avLst/>
          </a:prstGeom>
          <a:solidFill>
            <a:srgbClr val="1572B8"/>
          </a:solidFill>
          <a:ln w="0">
            <a:noFill/>
          </a:ln>
        </p:spPr>
      </p:sp>
      <p:sp>
        <p:nvSpPr>
          <p:cNvPr id="5" name="矩形 4">
            <a:extLst>
              <a:ext uri="{FF2B5EF4-FFF2-40B4-BE49-F238E27FC236}">
                <a16:creationId xmlns:a16="http://schemas.microsoft.com/office/drawing/2014/main" id="{B1010354-4E05-4032-951D-DD88A4DF9C79}"/>
              </a:ext>
            </a:extLst>
          </p:cNvPr>
          <p:cNvSpPr>
            <a:spLocks noGrp="1"/>
          </p:cNvSpPr>
          <p:nvPr/>
        </p:nvSpPr>
        <p:spPr>
          <a:xfrm>
            <a:off x="771525" y="1790700"/>
            <a:ext cx="19050" cy="866775"/>
          </a:xfrm>
          <a:prstGeom prst="rect">
            <a:avLst/>
          </a:prstGeom>
          <a:solidFill>
            <a:srgbClr val="D7E4ED"/>
          </a:solidFill>
          <a:ln w="0">
            <a:noFill/>
          </a:ln>
        </p:spPr>
      </p:sp>
      <p:sp>
        <p:nvSpPr>
          <p:cNvPr id="6" name="矩形 5">
            <a:extLst>
              <a:ext uri="{FF2B5EF4-FFF2-40B4-BE49-F238E27FC236}">
                <a16:creationId xmlns:a16="http://schemas.microsoft.com/office/drawing/2014/main" id="{4F7C5884-F191-408D-839A-FE2405033341}"/>
              </a:ext>
            </a:extLst>
          </p:cNvPr>
          <p:cNvSpPr>
            <a:spLocks noGrp="1"/>
          </p:cNvSpPr>
          <p:nvPr/>
        </p:nvSpPr>
        <p:spPr>
          <a:xfrm>
            <a:off x="1000125" y="1571625"/>
            <a:ext cx="16192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Sep 2019 – Mar 2024</a:t>
            </a:r>
          </a:p>
        </p:txBody>
      </p:sp>
      <p:sp>
        <p:nvSpPr>
          <p:cNvPr id="7" name="矩形 6">
            <a:extLst>
              <a:ext uri="{FF2B5EF4-FFF2-40B4-BE49-F238E27FC236}">
                <a16:creationId xmlns:a16="http://schemas.microsoft.com/office/drawing/2014/main" id="{63294AAF-F8F5-4A86-9BFC-86DF6CC10D1F}"/>
              </a:ext>
            </a:extLst>
          </p:cNvPr>
          <p:cNvSpPr>
            <a:spLocks noGrp="1"/>
          </p:cNvSpPr>
          <p:nvPr/>
        </p:nvSpPr>
        <p:spPr>
          <a:xfrm>
            <a:off x="2667000" y="1552575"/>
            <a:ext cx="4762500" cy="323850"/>
          </a:xfrm>
          <a:prstGeom prst="rect">
            <a:avLst/>
          </a:prstGeom>
          <a:noFill/>
          <a:ln w="0">
            <a:noFill/>
          </a:ln>
        </p:spPr>
        <p:txBody>
          <a:bodyPr lIns="0" tIns="0" rIns="0" bIns="0" anchor="t">
            <a:normAutofit fontScale="85000" lnSpcReduction="10000"/>
          </a:bodyPr>
          <a:lstStyle/>
          <a:p>
            <a:pPr algn="l">
              <a:defRPr sz="1500" b="1">
                <a:solidFill>
                  <a:srgbClr val="092445"/>
                </a:solidFill>
                <a:latin typeface="Aptos"/>
                <a:ea typeface="Aptos"/>
                <a:cs typeface="Aptos"/>
              </a:defRPr>
            </a:pPr>
            <a:r>
              <a:rPr sz="1500" b="1">
                <a:solidFill>
                  <a:srgbClr val="092445"/>
                </a:solidFill>
                <a:latin typeface="Aptos"/>
                <a:ea typeface="Aptos"/>
                <a:cs typeface="Aptos"/>
              </a:rPr>
              <a:t>Ph.D. · The Hong Kong University of Science and Technology</a:t>
            </a:r>
          </a:p>
        </p:txBody>
      </p:sp>
      <p:sp>
        <p:nvSpPr>
          <p:cNvPr id="8" name="矩形 7">
            <a:extLst>
              <a:ext uri="{FF2B5EF4-FFF2-40B4-BE49-F238E27FC236}">
                <a16:creationId xmlns:a16="http://schemas.microsoft.com/office/drawing/2014/main" id="{9BFF2D82-02B7-4825-A050-F913996EAE27}"/>
              </a:ext>
            </a:extLst>
          </p:cNvPr>
          <p:cNvSpPr>
            <a:spLocks noGrp="1"/>
          </p:cNvSpPr>
          <p:nvPr/>
        </p:nvSpPr>
        <p:spPr>
          <a:xfrm>
            <a:off x="2667000" y="2030631"/>
            <a:ext cx="4810125" cy="55245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dirty="0">
                <a:solidFill>
                  <a:srgbClr val="5E7389"/>
                </a:solidFill>
                <a:latin typeface="Aptos"/>
                <a:ea typeface="Aptos"/>
                <a:cs typeface="Aptos"/>
              </a:rPr>
              <a:t>Department of Computer Science and Engineering Prof. Shing-Chi Cheung, IEEE Fellow, ACM Distinguished Member AI Testing, Software Testing, LLM for SE</a:t>
            </a:r>
          </a:p>
        </p:txBody>
      </p:sp>
      <p:sp>
        <p:nvSpPr>
          <p:cNvPr id="9" name="椭圆 8">
            <a:extLst>
              <a:ext uri="{FF2B5EF4-FFF2-40B4-BE49-F238E27FC236}">
                <a16:creationId xmlns:a16="http://schemas.microsoft.com/office/drawing/2014/main" id="{253FDDB5-F543-4288-9FB7-A6DF2F374213}"/>
              </a:ext>
            </a:extLst>
          </p:cNvPr>
          <p:cNvSpPr>
            <a:spLocks noGrp="1"/>
          </p:cNvSpPr>
          <p:nvPr/>
        </p:nvSpPr>
        <p:spPr>
          <a:xfrm>
            <a:off x="704850" y="2647950"/>
            <a:ext cx="152400" cy="152400"/>
          </a:xfrm>
          <a:prstGeom prst="ellipse">
            <a:avLst/>
          </a:prstGeom>
          <a:solidFill>
            <a:srgbClr val="2A9D8F"/>
          </a:solidFill>
          <a:ln w="0">
            <a:noFill/>
          </a:ln>
        </p:spPr>
      </p:sp>
      <p:sp>
        <p:nvSpPr>
          <p:cNvPr id="10" name="矩形 9">
            <a:extLst>
              <a:ext uri="{FF2B5EF4-FFF2-40B4-BE49-F238E27FC236}">
                <a16:creationId xmlns:a16="http://schemas.microsoft.com/office/drawing/2014/main" id="{A59B13A6-5C79-47FB-843F-26704842B35F}"/>
              </a:ext>
            </a:extLst>
          </p:cNvPr>
          <p:cNvSpPr>
            <a:spLocks noGrp="1"/>
          </p:cNvSpPr>
          <p:nvPr/>
        </p:nvSpPr>
        <p:spPr>
          <a:xfrm>
            <a:off x="771525" y="2790825"/>
            <a:ext cx="19050" cy="866775"/>
          </a:xfrm>
          <a:prstGeom prst="rect">
            <a:avLst/>
          </a:prstGeom>
          <a:solidFill>
            <a:srgbClr val="D7E4ED"/>
          </a:solidFill>
          <a:ln w="0">
            <a:noFill/>
          </a:ln>
        </p:spPr>
      </p:sp>
      <p:sp>
        <p:nvSpPr>
          <p:cNvPr id="11" name="矩形 10">
            <a:extLst>
              <a:ext uri="{FF2B5EF4-FFF2-40B4-BE49-F238E27FC236}">
                <a16:creationId xmlns:a16="http://schemas.microsoft.com/office/drawing/2014/main" id="{86686D5A-3815-4A3F-896C-E098BFD98CC8}"/>
              </a:ext>
            </a:extLst>
          </p:cNvPr>
          <p:cNvSpPr>
            <a:spLocks noGrp="1"/>
          </p:cNvSpPr>
          <p:nvPr/>
        </p:nvSpPr>
        <p:spPr>
          <a:xfrm>
            <a:off x="1000125" y="2571750"/>
            <a:ext cx="16192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Sep 2016 – Sep 2019</a:t>
            </a:r>
          </a:p>
        </p:txBody>
      </p:sp>
      <p:sp>
        <p:nvSpPr>
          <p:cNvPr id="12" name="矩形 11">
            <a:extLst>
              <a:ext uri="{FF2B5EF4-FFF2-40B4-BE49-F238E27FC236}">
                <a16:creationId xmlns:a16="http://schemas.microsoft.com/office/drawing/2014/main" id="{0227F50B-69E7-4E05-84BE-588315B71D91}"/>
              </a:ext>
            </a:extLst>
          </p:cNvPr>
          <p:cNvSpPr>
            <a:spLocks noGrp="1"/>
          </p:cNvSpPr>
          <p:nvPr/>
        </p:nvSpPr>
        <p:spPr>
          <a:xfrm>
            <a:off x="2667000" y="2552700"/>
            <a:ext cx="4762500" cy="323850"/>
          </a:xfrm>
          <a:prstGeom prst="rect">
            <a:avLst/>
          </a:prstGeom>
          <a:noFill/>
          <a:ln w="0">
            <a:noFill/>
          </a:ln>
        </p:spPr>
        <p:txBody>
          <a:bodyPr lIns="0" tIns="0" rIns="0" bIns="0" anchor="t">
            <a:normAutofit/>
          </a:bodyPr>
          <a:lstStyle/>
          <a:p>
            <a:pPr algn="l">
              <a:defRPr sz="1500" b="1">
                <a:solidFill>
                  <a:srgbClr val="092445"/>
                </a:solidFill>
                <a:latin typeface="Aptos"/>
                <a:ea typeface="Aptos"/>
                <a:cs typeface="Aptos"/>
              </a:defRPr>
            </a:pPr>
            <a:r>
              <a:rPr sz="1500" b="1">
                <a:solidFill>
                  <a:srgbClr val="092445"/>
                </a:solidFill>
                <a:latin typeface="Aptos"/>
                <a:ea typeface="Aptos"/>
                <a:cs typeface="Aptos"/>
              </a:rPr>
              <a:t>M.S. · University of Chinese Academy of Sciences</a:t>
            </a:r>
          </a:p>
        </p:txBody>
      </p:sp>
      <p:sp>
        <p:nvSpPr>
          <p:cNvPr id="13" name="矩形 12">
            <a:extLst>
              <a:ext uri="{FF2B5EF4-FFF2-40B4-BE49-F238E27FC236}">
                <a16:creationId xmlns:a16="http://schemas.microsoft.com/office/drawing/2014/main" id="{9DFA3494-89FD-45A4-842E-A0CFB3633458}"/>
              </a:ext>
            </a:extLst>
          </p:cNvPr>
          <p:cNvSpPr>
            <a:spLocks noGrp="1"/>
          </p:cNvSpPr>
          <p:nvPr/>
        </p:nvSpPr>
        <p:spPr>
          <a:xfrm>
            <a:off x="2667000" y="2905125"/>
            <a:ext cx="4810125" cy="55245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a:solidFill>
                  <a:srgbClr val="5E7389"/>
                </a:solidFill>
                <a:latin typeface="Aptos"/>
                <a:ea typeface="Aptos"/>
                <a:cs typeface="Aptos"/>
              </a:rPr>
              <a:t>State Key Laboratory of Computer Science, Institute of Software, Chinese Academy of Sciences Prof. Yongjian Li Formal Verification, Parameterized Model Checking</a:t>
            </a:r>
          </a:p>
        </p:txBody>
      </p:sp>
      <p:sp>
        <p:nvSpPr>
          <p:cNvPr id="14" name="椭圆 13">
            <a:extLst>
              <a:ext uri="{FF2B5EF4-FFF2-40B4-BE49-F238E27FC236}">
                <a16:creationId xmlns:a16="http://schemas.microsoft.com/office/drawing/2014/main" id="{693A36BA-0E2F-4BE5-90C6-A9196A52A0A2}"/>
              </a:ext>
            </a:extLst>
          </p:cNvPr>
          <p:cNvSpPr>
            <a:spLocks noGrp="1"/>
          </p:cNvSpPr>
          <p:nvPr/>
        </p:nvSpPr>
        <p:spPr>
          <a:xfrm>
            <a:off x="704850" y="3648075"/>
            <a:ext cx="152400" cy="152400"/>
          </a:xfrm>
          <a:prstGeom prst="ellipse">
            <a:avLst/>
          </a:prstGeom>
          <a:solidFill>
            <a:srgbClr val="2A9D8F"/>
          </a:solidFill>
          <a:ln w="0">
            <a:noFill/>
          </a:ln>
        </p:spPr>
      </p:sp>
      <p:sp>
        <p:nvSpPr>
          <p:cNvPr id="15" name="矩形 14">
            <a:extLst>
              <a:ext uri="{FF2B5EF4-FFF2-40B4-BE49-F238E27FC236}">
                <a16:creationId xmlns:a16="http://schemas.microsoft.com/office/drawing/2014/main" id="{4D20E76F-7981-455A-B74C-967335B74579}"/>
              </a:ext>
            </a:extLst>
          </p:cNvPr>
          <p:cNvSpPr>
            <a:spLocks noGrp="1"/>
          </p:cNvSpPr>
          <p:nvPr/>
        </p:nvSpPr>
        <p:spPr>
          <a:xfrm>
            <a:off x="1000125" y="3571875"/>
            <a:ext cx="16192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Sep 2012 – Jun 2016</a:t>
            </a:r>
          </a:p>
        </p:txBody>
      </p:sp>
      <p:sp>
        <p:nvSpPr>
          <p:cNvPr id="16" name="矩形 15">
            <a:extLst>
              <a:ext uri="{FF2B5EF4-FFF2-40B4-BE49-F238E27FC236}">
                <a16:creationId xmlns:a16="http://schemas.microsoft.com/office/drawing/2014/main" id="{CD8A0990-E4CD-4E1A-A425-2EFAE9E07A40}"/>
              </a:ext>
            </a:extLst>
          </p:cNvPr>
          <p:cNvSpPr>
            <a:spLocks noGrp="1"/>
          </p:cNvSpPr>
          <p:nvPr/>
        </p:nvSpPr>
        <p:spPr>
          <a:xfrm>
            <a:off x="2667000" y="3552825"/>
            <a:ext cx="4762500" cy="323850"/>
          </a:xfrm>
          <a:prstGeom prst="rect">
            <a:avLst/>
          </a:prstGeom>
          <a:noFill/>
          <a:ln w="0">
            <a:noFill/>
          </a:ln>
        </p:spPr>
        <p:txBody>
          <a:bodyPr lIns="0" tIns="0" rIns="0" bIns="0" anchor="t">
            <a:normAutofit/>
          </a:bodyPr>
          <a:lstStyle/>
          <a:p>
            <a:pPr algn="l">
              <a:defRPr sz="1500" b="1">
                <a:solidFill>
                  <a:srgbClr val="092445"/>
                </a:solidFill>
                <a:latin typeface="Aptos"/>
                <a:ea typeface="Aptos"/>
                <a:cs typeface="Aptos"/>
              </a:defRPr>
            </a:pPr>
            <a:r>
              <a:rPr sz="1500" b="1">
                <a:solidFill>
                  <a:srgbClr val="092445"/>
                </a:solidFill>
                <a:latin typeface="Aptos"/>
                <a:ea typeface="Aptos"/>
                <a:cs typeface="Aptos"/>
              </a:rPr>
              <a:t>B.S. · Shandong University</a:t>
            </a:r>
          </a:p>
        </p:txBody>
      </p:sp>
      <p:sp>
        <p:nvSpPr>
          <p:cNvPr id="17" name="矩形 16">
            <a:extLst>
              <a:ext uri="{FF2B5EF4-FFF2-40B4-BE49-F238E27FC236}">
                <a16:creationId xmlns:a16="http://schemas.microsoft.com/office/drawing/2014/main" id="{CF5F9D72-A1FA-4570-B960-DA53F2B61E72}"/>
              </a:ext>
            </a:extLst>
          </p:cNvPr>
          <p:cNvSpPr>
            <a:spLocks noGrp="1"/>
          </p:cNvSpPr>
          <p:nvPr/>
        </p:nvSpPr>
        <p:spPr>
          <a:xfrm>
            <a:off x="2667000" y="3905250"/>
            <a:ext cx="4810125" cy="55245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a:solidFill>
                  <a:srgbClr val="5E7389"/>
                </a:solidFill>
                <a:latin typeface="Aptos"/>
                <a:ea typeface="Aptos"/>
                <a:cs typeface="Aptos"/>
              </a:rPr>
              <a:t>School of Mechanical, Electrical &amp; Information Engineering, Computer Science Department</a:t>
            </a:r>
          </a:p>
        </p:txBody>
      </p:sp>
      <p:sp>
        <p:nvSpPr>
          <p:cNvPr id="18" name="矩形 17">
            <a:extLst>
              <a:ext uri="{FF2B5EF4-FFF2-40B4-BE49-F238E27FC236}">
                <a16:creationId xmlns:a16="http://schemas.microsoft.com/office/drawing/2014/main" id="{8E6FC98F-B300-404C-BBD9-3F61BF7B0F3A}"/>
              </a:ext>
            </a:extLst>
          </p:cNvPr>
          <p:cNvSpPr>
            <a:spLocks noGrp="1"/>
          </p:cNvSpPr>
          <p:nvPr/>
        </p:nvSpPr>
        <p:spPr>
          <a:xfrm>
            <a:off x="7905750" y="1600200"/>
            <a:ext cx="3143250" cy="266700"/>
          </a:xfrm>
          <a:prstGeom prst="rect">
            <a:avLst/>
          </a:prstGeom>
          <a:noFill/>
          <a:ln w="0">
            <a:noFill/>
          </a:ln>
        </p:spPr>
        <p:txBody>
          <a:bodyPr lIns="0" tIns="0" rIns="0" bIns="0" anchor="t">
            <a:normAutofit/>
          </a:bodyPr>
          <a:lstStyle/>
          <a:p>
            <a:pPr algn="l">
              <a:defRPr sz="1200" b="1">
                <a:solidFill>
                  <a:srgbClr val="7251B5"/>
                </a:solidFill>
                <a:latin typeface="Aptos"/>
                <a:ea typeface="Aptos"/>
                <a:cs typeface="Aptos"/>
              </a:defRPr>
            </a:pPr>
            <a:r>
              <a:rPr sz="1200" b="1">
                <a:solidFill>
                  <a:srgbClr val="7251B5"/>
                </a:solidFill>
                <a:latin typeface="Aptos"/>
                <a:ea typeface="Aptos"/>
                <a:cs typeface="Aptos"/>
              </a:rPr>
              <a:t>Reviewer view</a:t>
            </a:r>
          </a:p>
        </p:txBody>
      </p:sp>
      <p:sp>
        <p:nvSpPr>
          <p:cNvPr id="19" name="矩形 18">
            <a:extLst>
              <a:ext uri="{FF2B5EF4-FFF2-40B4-BE49-F238E27FC236}">
                <a16:creationId xmlns:a16="http://schemas.microsoft.com/office/drawing/2014/main" id="{A185A5AA-8FE9-4812-BA04-F639A1D2341E}"/>
              </a:ext>
            </a:extLst>
          </p:cNvPr>
          <p:cNvSpPr>
            <a:spLocks noGrp="1"/>
          </p:cNvSpPr>
          <p:nvPr/>
        </p:nvSpPr>
        <p:spPr>
          <a:xfrm>
            <a:off x="7905750" y="1952625"/>
            <a:ext cx="3333750" cy="2381250"/>
          </a:xfrm>
          <a:prstGeom prst="rect">
            <a:avLst/>
          </a:prstGeom>
          <a:noFill/>
          <a:ln w="0">
            <a:noFill/>
          </a:ln>
        </p:spPr>
        <p:txBody>
          <a:bodyPr lIns="0" tIns="0" rIns="0" bIns="0" anchor="t">
            <a:normAutofit/>
          </a:bodyPr>
          <a:lstStyle/>
          <a:p>
            <a:pPr algn="l">
              <a:defRPr sz="1275" b="0">
                <a:solidFill>
                  <a:srgbClr val="17324D"/>
                </a:solidFill>
                <a:latin typeface="Aptos"/>
                <a:ea typeface="Aptos"/>
                <a:cs typeface="Aptos"/>
              </a:defRPr>
            </a:pPr>
            <a:r>
              <a:rPr sz="1275" b="0">
                <a:solidFill>
                  <a:srgbClr val="17324D"/>
                </a:solidFill>
                <a:latin typeface="Aptos"/>
                <a:ea typeface="Aptos"/>
                <a:cs typeface="Aptos"/>
              </a:rPr>
              <a:t>Research spans AI testing, software testing, and LLM for software engineering, with a doctoral foundation in automatic testing and fault localization for NLP systems and a current focus on LLM-driven code generation, benchmarking, and formal verification.</a:t>
            </a:r>
          </a:p>
        </p:txBody>
      </p:sp>
      <p:sp>
        <p:nvSpPr>
          <p:cNvPr id="20" name="矩形 19">
            <a:extLst>
              <a:ext uri="{FF2B5EF4-FFF2-40B4-BE49-F238E27FC236}">
                <a16:creationId xmlns:a16="http://schemas.microsoft.com/office/drawing/2014/main" id="{D989443E-EC30-49BB-B3A4-BFF6053EF09F}"/>
              </a:ext>
            </a:extLst>
          </p:cNvPr>
          <p:cNvSpPr>
            <a:spLocks noGrp="1"/>
          </p:cNvSpPr>
          <p:nvPr/>
        </p:nvSpPr>
        <p:spPr>
          <a:xfrm>
            <a:off x="7905750" y="4514850"/>
            <a:ext cx="3333750" cy="28575"/>
          </a:xfrm>
          <a:prstGeom prst="rect">
            <a:avLst/>
          </a:prstGeom>
          <a:solidFill>
            <a:srgbClr val="7251B5"/>
          </a:solidFill>
          <a:ln w="0">
            <a:noFill/>
          </a:ln>
        </p:spPr>
      </p:sp>
      <p:sp>
        <p:nvSpPr>
          <p:cNvPr id="21" name="矩形 20">
            <a:extLst>
              <a:ext uri="{FF2B5EF4-FFF2-40B4-BE49-F238E27FC236}">
                <a16:creationId xmlns:a16="http://schemas.microsoft.com/office/drawing/2014/main" id="{72C71444-61E7-472D-B48E-6071B5C47928}"/>
              </a:ext>
            </a:extLst>
          </p:cNvPr>
          <p:cNvSpPr>
            <a:spLocks noGrp="1"/>
          </p:cNvSpPr>
          <p:nvPr/>
        </p:nvSpPr>
        <p:spPr>
          <a:xfrm>
            <a:off x="7905750" y="4667250"/>
            <a:ext cx="3333750" cy="1238250"/>
          </a:xfrm>
          <a:prstGeom prst="rect">
            <a:avLst/>
          </a:prstGeom>
          <a:noFill/>
          <a:ln w="0">
            <a:noFill/>
          </a:ln>
        </p:spPr>
        <p:txBody>
          <a:bodyPr lIns="0" tIns="0" rIns="0" bIns="0" anchor="t">
            <a:normAutofit/>
          </a:bodyPr>
          <a:lstStyle/>
          <a:p>
            <a:pPr algn="l">
              <a:defRPr sz="1125" b="1">
                <a:solidFill>
                  <a:srgbClr val="7251B5"/>
                </a:solidFill>
                <a:latin typeface="Aptos"/>
                <a:ea typeface="Aptos"/>
                <a:cs typeface="Aptos"/>
              </a:defRPr>
            </a:pPr>
            <a:r>
              <a:rPr sz="1125" b="1">
                <a:solidFill>
                  <a:srgbClr val="7251B5"/>
                </a:solidFill>
                <a:latin typeface="Aptos"/>
                <a:ea typeface="Aptos"/>
                <a:cs typeface="Aptos"/>
              </a:rPr>
              <a:t>Chair Professor</a:t>
            </a:r>
          </a:p>
          <a:p>
            <a:pPr algn="l">
              <a:defRPr sz="1125" b="1">
                <a:solidFill>
                  <a:srgbClr val="7251B5"/>
                </a:solidFill>
                <a:latin typeface="Aptos"/>
                <a:ea typeface="Aptos"/>
                <a:cs typeface="Aptos"/>
              </a:defRPr>
            </a:pPr>
            <a:r>
              <a:rPr sz="1125" b="1">
                <a:solidFill>
                  <a:srgbClr val="7251B5"/>
                </a:solidFill>
                <a:latin typeface="Aptos"/>
                <a:ea typeface="Aptos"/>
                <a:cs typeface="Aptos"/>
              </a:rPr>
              <a:t>IEEE Fellow</a:t>
            </a:r>
          </a:p>
          <a:p>
            <a:pPr algn="l">
              <a:defRPr sz="1125" b="1">
                <a:solidFill>
                  <a:srgbClr val="7251B5"/>
                </a:solidFill>
                <a:latin typeface="Aptos"/>
                <a:ea typeface="Aptos"/>
                <a:cs typeface="Aptos"/>
              </a:defRPr>
            </a:pPr>
            <a:r>
              <a:rPr sz="1125" b="1">
                <a:solidFill>
                  <a:srgbClr val="7251B5"/>
                </a:solidFill>
                <a:latin typeface="Aptos"/>
                <a:ea typeface="Aptos"/>
                <a:cs typeface="Aptos"/>
              </a:rPr>
              <a:t>ACM Distinguished Member</a:t>
            </a:r>
          </a:p>
          <a:p>
            <a:pPr algn="l">
              <a:defRPr sz="1125" b="1">
                <a:solidFill>
                  <a:srgbClr val="7251B5"/>
                </a:solidFill>
                <a:latin typeface="Aptos"/>
                <a:ea typeface="Aptos"/>
                <a:cs typeface="Aptos"/>
              </a:defRPr>
            </a:pPr>
            <a:r>
              <a:rPr sz="1125" b="1">
                <a:solidFill>
                  <a:srgbClr val="7251B5"/>
                </a:solidFill>
                <a:latin typeface="Aptos"/>
                <a:ea typeface="Aptos"/>
                <a:cs typeface="Aptos"/>
              </a:rPr>
              <a:t>Associate Professor</a:t>
            </a:r>
          </a:p>
          <a:p>
            <a:pPr algn="l">
              <a:defRPr sz="1125" b="1">
                <a:solidFill>
                  <a:srgbClr val="7251B5"/>
                </a:solidFill>
                <a:latin typeface="Aptos"/>
                <a:ea typeface="Aptos"/>
                <a:cs typeface="Aptos"/>
              </a:defRPr>
            </a:pPr>
            <a:r>
              <a:rPr sz="1125" b="1">
                <a:solidFill>
                  <a:srgbClr val="7251B5"/>
                </a:solidFill>
                <a:latin typeface="Aptos"/>
                <a:ea typeface="Aptos"/>
                <a:cs typeface="Aptos"/>
              </a:rPr>
              <a:t>State Key Laboratory</a:t>
            </a:r>
          </a:p>
        </p:txBody>
      </p:sp>
      <p:sp>
        <p:nvSpPr>
          <p:cNvPr id="22" name="矩形 21">
            <a:extLst>
              <a:ext uri="{FF2B5EF4-FFF2-40B4-BE49-F238E27FC236}">
                <a16:creationId xmlns:a16="http://schemas.microsoft.com/office/drawing/2014/main" id="{8F1E3763-826E-4724-9795-CBAC3ADFAC10}"/>
              </a:ext>
            </a:extLst>
          </p:cNvPr>
          <p:cNvSpPr>
            <a:spLocks noGrp="1"/>
          </p:cNvSpPr>
          <p:nvPr/>
        </p:nvSpPr>
        <p:spPr>
          <a:xfrm>
            <a:off x="552450" y="6515100"/>
            <a:ext cx="11087100" cy="171450"/>
          </a:xfrm>
          <a:prstGeom prst="rect">
            <a:avLst/>
          </a:prstGeom>
          <a:noFill/>
          <a:ln w="0">
            <a:noFill/>
          </a:ln>
        </p:spPr>
        <p:txBody>
          <a:bodyPr lIns="0" tIns="0" rIns="0" bIns="0" anchor="t">
            <a:normAutofit/>
          </a:bodyPr>
          <a:lstStyle/>
          <a:p>
            <a:pPr algn="r">
              <a:defRPr sz="750" b="0">
                <a:solidFill>
                  <a:srgbClr val="5E7389"/>
                </a:solidFill>
                <a:latin typeface="Aptos"/>
                <a:ea typeface="Aptos"/>
                <a:cs typeface="Aptos"/>
              </a:defRPr>
            </a:pPr>
            <a:r>
              <a:rPr sz="750" b="0">
                <a:solidFill>
                  <a:srgbClr val="5E7389"/>
                </a:solidFill>
                <a:latin typeface="Aptos"/>
                <a:ea typeface="Aptos"/>
                <a:cs typeface="Aptos"/>
              </a:rPr>
              <a:t>REVIEW MEETING BRIEF · CAND-001 · 2</a:t>
            </a:r>
          </a:p>
        </p:txBody>
      </p:sp>
    </p:spTree>
    <p:extLst>
      <p:ext uri="{BB962C8B-B14F-4D97-AF65-F5344CB8AC3E}">
        <p14:creationId xmlns:p14="http://schemas.microsoft.com/office/powerpoint/2010/main" val="297479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43">
            <a:extLst>
              <a:ext uri="{FF2B5EF4-FFF2-40B4-BE49-F238E27FC236}">
                <a16:creationId xmlns:a16="http://schemas.microsoft.com/office/drawing/2014/main" id="{78ACC59E-F8D8-42CF-BC6E-B3D12DF1EB99}"/>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sz="3300" b="1" dirty="0" err="1">
                <a:solidFill>
                  <a:srgbClr val="12324F"/>
                </a:solidFill>
                <a:latin typeface="Noto Sans CJK SC"/>
                <a:ea typeface="Noto Sans CJK SC"/>
                <a:cs typeface="Noto Sans CJK SC"/>
              </a:rPr>
              <a:t>Work Experience Timeline</a:t>
            </a:r>
            <a:endParaRPr sz="3300" b="1" dirty="0">
              <a:solidFill>
                <a:srgbClr val="12324F"/>
              </a:solidFill>
              <a:latin typeface="Noto Sans CJK SC"/>
              <a:ea typeface="Noto Sans CJK SC"/>
              <a:cs typeface="Noto Sans CJK SC"/>
            </a:endParaRPr>
          </a:p>
        </p:txBody>
      </p:sp>
      <p:sp>
        <p:nvSpPr>
          <p:cNvPr id="3" name="text-45">
            <a:extLst>
              <a:ext uri="{FF2B5EF4-FFF2-40B4-BE49-F238E27FC236}">
                <a16:creationId xmlns:a16="http://schemas.microsoft.com/office/drawing/2014/main" id="{8245BB56-820F-4D9C-8B8C-F7AEA755C319}"/>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06</a:t>
            </a:r>
          </a:p>
        </p:txBody>
      </p:sp>
      <p:sp>
        <p:nvSpPr>
          <p:cNvPr id="5" name="text-46">
            <a:extLst>
              <a:ext uri="{FF2B5EF4-FFF2-40B4-BE49-F238E27FC236}">
                <a16:creationId xmlns:a16="http://schemas.microsoft.com/office/drawing/2014/main" id="{F9DBBAD0-C540-472A-9936-4E5226AE533C}"/>
              </a:ext>
            </a:extLst>
          </p:cNvPr>
          <p:cNvSpPr>
            <a:spLocks noGrp="1"/>
          </p:cNvSpPr>
          <p:nvPr/>
        </p:nvSpPr>
        <p:spPr>
          <a:xfrm>
            <a:off x="1092200" y="1165225"/>
            <a:ext cx="10820400" cy="371475"/>
          </a:xfrm>
          <a:prstGeom prst="rect">
            <a:avLst/>
          </a:prstGeom>
          <a:noFill/>
          <a:ln w="0">
            <a:noFill/>
          </a:ln>
        </p:spPr>
        <p:txBody>
          <a:bodyPr wrap="square" lIns="0" tIns="0" rIns="0" bIns="0" anchor="t">
            <a:noAutofit/>
          </a:bodyPr>
          <a:lstStyle/>
          <a:p>
            <a:pPr>
              <a:lnSpc>
                <a:spcPct val="112000"/>
              </a:lnSpc>
              <a:buNone/>
              <a:defRPr sz="2025" b="1">
                <a:solidFill>
                  <a:srgbClr val="12324F"/>
                </a:solidFill>
                <a:latin typeface="Noto Sans CJK SC"/>
                <a:ea typeface="Noto Sans CJK SC"/>
                <a:cs typeface="Noto Sans CJK SC"/>
              </a:defRPr>
            </a:pPr>
            <a:r>
              <a:rPr sz="1700" b="1" dirty="0" err="1">
                <a:solidFill>
                  <a:srgbClr val="12324F"/>
                </a:solidFill>
                <a:latin typeface="Noto Sans CJK SC"/>
                <a:ea typeface="Noto Sans CJK SC"/>
                <a:cs typeface="Noto Sans CJK SC"/>
              </a:rPr>
              <a:t>For each role, record: start date, end date, responsibilities, outcomes, and sources</a:t>
            </a:r>
            <a:endParaRPr sz="2025" b="1" dirty="0">
              <a:solidFill>
                <a:srgbClr val="12324F"/>
              </a:solidFill>
              <a:latin typeface="Noto Sans CJK SC"/>
              <a:ea typeface="Noto Sans CJK SC"/>
              <a:cs typeface="Noto Sans CJK SC"/>
            </a:endParaRPr>
          </a:p>
        </p:txBody>
      </p:sp>
      <p:pic>
        <p:nvPicPr>
          <p:cNvPr id="9" name="图片 8">
            <a:extLst>
              <a:ext uri="{FF2B5EF4-FFF2-40B4-BE49-F238E27FC236}">
                <a16:creationId xmlns:a16="http://schemas.microsoft.com/office/drawing/2014/main" id="{79E12A0A-EBB6-5D31-8FCA-980ED96DEF28}"/>
              </a:ext>
            </a:extLst>
          </p:cNvPr>
          <p:cNvPicPr>
            <a:picLocks noChangeAspect="1"/>
          </p:cNvPicPr>
          <p:nvPr/>
        </p:nvPicPr>
        <p:blipFill>
          <a:blip r:embed="rId3"/>
          <a:stretch>
            <a:fillRect/>
          </a:stretch>
        </p:blipFill>
        <p:spPr>
          <a:xfrm>
            <a:off x="1721676" y="1905259"/>
            <a:ext cx="9047924" cy="4818657"/>
          </a:xfrm>
          <a:prstGeom prst="rect">
            <a:avLst/>
          </a:prstGeom>
        </p:spPr>
      </p:pic>
    </p:spTree>
    <p:extLst>
      <p:ext uri="{BB962C8B-B14F-4D97-AF65-F5344CB8AC3E}">
        <p14:creationId xmlns:p14="http://schemas.microsoft.com/office/powerpoint/2010/main" val="1470255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63">
            <a:extLst>
              <a:ext uri="{FF2B5EF4-FFF2-40B4-BE49-F238E27FC236}">
                <a16:creationId xmlns:a16="http://schemas.microsoft.com/office/drawing/2014/main" id="{86A03A5E-BBC5-4E63-B1F5-F44EC3D42227}"/>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lang="zh-CN" altLang="en-US" sz="2800" b="1" dirty="0">
                <a:solidFill>
                  <a:srgbClr val="12324F"/>
                </a:solidFill>
                <a:latin typeface="Noto Sans CJK SC"/>
                <a:ea typeface="Noto Sans CJK SC"/>
                <a:cs typeface="Noto Sans CJK SC"/>
              </a:rPr>
              <a:t>Awards &amp; Funding: Record Facts and Clarify Individual Roles</a:t>
            </a:r>
            <a:endParaRPr sz="3300" b="1" dirty="0">
              <a:solidFill>
                <a:srgbClr val="12324F"/>
              </a:solidFill>
              <a:latin typeface="Noto Sans CJK SC"/>
              <a:ea typeface="Noto Sans CJK SC"/>
              <a:cs typeface="Noto Sans CJK SC"/>
            </a:endParaRPr>
          </a:p>
        </p:txBody>
      </p:sp>
      <p:sp>
        <p:nvSpPr>
          <p:cNvPr id="3" name="text-65">
            <a:extLst>
              <a:ext uri="{FF2B5EF4-FFF2-40B4-BE49-F238E27FC236}">
                <a16:creationId xmlns:a16="http://schemas.microsoft.com/office/drawing/2014/main" id="{BED018DA-0D61-4486-B0B4-19452BF31E9E}"/>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08</a:t>
            </a:r>
          </a:p>
        </p:txBody>
      </p:sp>
      <p:sp>
        <p:nvSpPr>
          <p:cNvPr id="4" name="text-66">
            <a:extLst>
              <a:ext uri="{FF2B5EF4-FFF2-40B4-BE49-F238E27FC236}">
                <a16:creationId xmlns:a16="http://schemas.microsoft.com/office/drawing/2014/main" id="{F1F5755C-B7BF-4AD7-95F8-1399BE3FAB29}"/>
              </a:ext>
            </a:extLst>
          </p:cNvPr>
          <p:cNvSpPr>
            <a:spLocks noGrp="1"/>
          </p:cNvSpPr>
          <p:nvPr/>
        </p:nvSpPr>
        <p:spPr>
          <a:xfrm>
            <a:off x="685800" y="2000250"/>
            <a:ext cx="5000625" cy="428625"/>
          </a:xfrm>
          <a:prstGeom prst="rect">
            <a:avLst/>
          </a:prstGeom>
          <a:noFill/>
          <a:ln w="0">
            <a:noFill/>
          </a:ln>
        </p:spPr>
        <p:txBody>
          <a:bodyPr wrap="square" lIns="0" tIns="0" rIns="0" bIns="0" anchor="t">
            <a:noAutofit/>
          </a:bodyPr>
          <a:lstStyle/>
          <a:p>
            <a:pPr>
              <a:lnSpc>
                <a:spcPct val="112000"/>
              </a:lnSpc>
              <a:buNone/>
              <a:defRPr sz="2325" b="1">
                <a:solidFill>
                  <a:srgbClr val="076DB8"/>
                </a:solidFill>
                <a:latin typeface="Noto Sans CJK SC"/>
                <a:ea typeface="Noto Sans CJK SC"/>
                <a:cs typeface="Noto Sans CJK SC"/>
              </a:defRPr>
            </a:pPr>
            <a:r>
              <a:rPr sz="2325" b="1" dirty="0">
                <a:solidFill>
                  <a:srgbClr val="076DB8"/>
                </a:solidFill>
                <a:latin typeface="Noto Sans CJK SC"/>
                <a:ea typeface="Noto Sans CJK SC"/>
                <a:cs typeface="Noto Sans CJK SC"/>
              </a:rPr>
              <a:t>Awards</a:t>
            </a:r>
          </a:p>
        </p:txBody>
      </p:sp>
      <p:sp>
        <p:nvSpPr>
          <p:cNvPr id="5" name="text-67">
            <a:extLst>
              <a:ext uri="{FF2B5EF4-FFF2-40B4-BE49-F238E27FC236}">
                <a16:creationId xmlns:a16="http://schemas.microsoft.com/office/drawing/2014/main" id="{EE9E7953-F8C8-47EA-89FD-5BD37EA79930}"/>
              </a:ext>
            </a:extLst>
          </p:cNvPr>
          <p:cNvSpPr>
            <a:spLocks noGrp="1"/>
          </p:cNvSpPr>
          <p:nvPr/>
        </p:nvSpPr>
        <p:spPr>
          <a:xfrm>
            <a:off x="685800" y="2686050"/>
            <a:ext cx="4972050" cy="1914525"/>
          </a:xfrm>
          <a:prstGeom prst="rect">
            <a:avLst/>
          </a:prstGeom>
          <a:noFill/>
          <a:ln w="0">
            <a:noFill/>
          </a:ln>
        </p:spPr>
        <p:txBody>
          <a:bodyPr wrap="square" lIns="0" tIns="0" rIns="0" bIns="0" anchor="t">
            <a:noAutofit/>
          </a:bodyPr>
          <a:lstStyle/>
          <a:p>
            <a:pPr>
              <a:lnSpc>
                <a:spcPct val="112000"/>
              </a:lnSpc>
              <a:buNone/>
              <a:defRPr sz="2025" b="0">
                <a:solidFill>
                  <a:srgbClr val="243E53"/>
                </a:solidFill>
                <a:latin typeface="Noto Sans CJK SC"/>
                <a:ea typeface="Noto Sans CJK SC"/>
                <a:cs typeface="Noto Sans CJK SC"/>
              </a:defRPr>
            </a:pPr>
            <a:r>
              <a:rPr sz="1800" b="0" dirty="0" err="1">
                <a:solidFill>
                  <a:srgbClr val="243E53"/>
                </a:solidFill>
                <a:latin typeface="Noto Sans CJK SC"/>
                <a:ea typeface="Noto Sans CJK SC"/>
                <a:cs typeface="Noto Sans CJK SC"/>
              </a:rPr>
              <a:t>Award name, year, and awarding organization</a:t>
            </a:r>
            <a:endParaRPr sz="2025" b="0" dirty="0">
              <a:solidFill>
                <a:srgbClr val="243E53"/>
              </a:solidFill>
              <a:latin typeface="Noto Sans CJK SC"/>
              <a:ea typeface="Noto Sans CJK SC"/>
              <a:cs typeface="Noto Sans CJK SC"/>
            </a:endParaRPr>
          </a:p>
          <a:p>
            <a:pPr>
              <a:lnSpc>
                <a:spcPct val="112000"/>
              </a:lnSpc>
              <a:buNone/>
              <a:defRPr sz="2025" b="0">
                <a:solidFill>
                  <a:srgbClr val="243E53"/>
                </a:solidFill>
                <a:latin typeface="Noto Sans CJK SC"/>
                <a:ea typeface="Noto Sans CJK SC"/>
                <a:cs typeface="Noto Sans CJK SC"/>
              </a:defRPr>
            </a:pPr>
            <a:r>
              <a:rPr lang="zh-CN" altLang="en-US" sz="1800" dirty="0">
                <a:solidFill>
                  <a:srgbClr val="243E53"/>
                </a:solidFill>
                <a:latin typeface="Noto Sans CJK SC"/>
                <a:ea typeface="Noto Sans CJK SC"/>
                <a:cs typeface="Noto Sans CJK SC"/>
              </a:rPr>
              <a:t>Where possible, include a hyperlink to the award’s official webpage.</a:t>
            </a:r>
            <a:endParaRPr sz="2025" b="0" dirty="0">
              <a:solidFill>
                <a:srgbClr val="243E53"/>
              </a:solidFill>
              <a:latin typeface="Noto Sans CJK SC"/>
              <a:ea typeface="Noto Sans CJK SC"/>
              <a:cs typeface="Noto Sans CJK SC"/>
            </a:endParaRPr>
          </a:p>
        </p:txBody>
      </p:sp>
      <p:sp>
        <p:nvSpPr>
          <p:cNvPr id="6" name="text-68">
            <a:extLst>
              <a:ext uri="{FF2B5EF4-FFF2-40B4-BE49-F238E27FC236}">
                <a16:creationId xmlns:a16="http://schemas.microsoft.com/office/drawing/2014/main" id="{FC676382-4134-4C88-B127-D71A95DC0DDC}"/>
              </a:ext>
            </a:extLst>
          </p:cNvPr>
          <p:cNvSpPr>
            <a:spLocks noGrp="1"/>
          </p:cNvSpPr>
          <p:nvPr/>
        </p:nvSpPr>
        <p:spPr>
          <a:xfrm>
            <a:off x="6515100" y="2000250"/>
            <a:ext cx="4991100" cy="428625"/>
          </a:xfrm>
          <a:prstGeom prst="rect">
            <a:avLst/>
          </a:prstGeom>
          <a:noFill/>
          <a:ln w="0">
            <a:noFill/>
          </a:ln>
        </p:spPr>
        <p:txBody>
          <a:bodyPr wrap="square" lIns="0" tIns="0" rIns="0" bIns="0" anchor="t">
            <a:noAutofit/>
          </a:bodyPr>
          <a:lstStyle/>
          <a:p>
            <a:pPr>
              <a:lnSpc>
                <a:spcPct val="112000"/>
              </a:lnSpc>
              <a:buNone/>
              <a:defRPr sz="2325" b="1">
                <a:solidFill>
                  <a:srgbClr val="076DB8"/>
                </a:solidFill>
                <a:latin typeface="Noto Sans CJK SC"/>
                <a:ea typeface="Noto Sans CJK SC"/>
                <a:cs typeface="Noto Sans CJK SC"/>
              </a:defRPr>
            </a:pPr>
            <a:r>
              <a:rPr sz="2325" b="1" dirty="0">
                <a:solidFill>
                  <a:srgbClr val="076DB8"/>
                </a:solidFill>
                <a:latin typeface="Noto Sans CJK SC"/>
                <a:ea typeface="Noto Sans CJK SC"/>
                <a:cs typeface="Noto Sans CJK SC"/>
              </a:rPr>
              <a:t>Funding &amp; Grants</a:t>
            </a:r>
          </a:p>
        </p:txBody>
      </p:sp>
      <p:sp>
        <p:nvSpPr>
          <p:cNvPr id="7" name="text-69">
            <a:extLst>
              <a:ext uri="{FF2B5EF4-FFF2-40B4-BE49-F238E27FC236}">
                <a16:creationId xmlns:a16="http://schemas.microsoft.com/office/drawing/2014/main" id="{C44F88A9-9C7A-44C8-92C3-81A675321DA1}"/>
              </a:ext>
            </a:extLst>
          </p:cNvPr>
          <p:cNvSpPr>
            <a:spLocks noGrp="1"/>
          </p:cNvSpPr>
          <p:nvPr/>
        </p:nvSpPr>
        <p:spPr>
          <a:xfrm>
            <a:off x="6515100" y="2686050"/>
            <a:ext cx="4991100" cy="1914525"/>
          </a:xfrm>
          <a:prstGeom prst="rect">
            <a:avLst/>
          </a:prstGeom>
          <a:noFill/>
          <a:ln w="0">
            <a:noFill/>
          </a:ln>
        </p:spPr>
        <p:txBody>
          <a:bodyPr wrap="square" lIns="0" tIns="0" rIns="0" bIns="0" anchor="t">
            <a:noAutofit/>
          </a:bodyPr>
          <a:lstStyle/>
          <a:p>
            <a:pPr>
              <a:lnSpc>
                <a:spcPct val="112000"/>
              </a:lnSpc>
              <a:buNone/>
              <a:defRPr sz="2025" b="0">
                <a:solidFill>
                  <a:srgbClr val="243E53"/>
                </a:solidFill>
                <a:latin typeface="Noto Sans CJK SC"/>
                <a:ea typeface="Noto Sans CJK SC"/>
                <a:cs typeface="Noto Sans CJK SC"/>
              </a:defRPr>
            </a:pPr>
            <a:r>
              <a:rPr sz="2025" b="0" dirty="0" err="1">
                <a:solidFill>
                  <a:srgbClr val="243E53"/>
                </a:solidFill>
                <a:latin typeface="Noto Sans CJK SC"/>
                <a:ea typeface="Noto Sans CJK SC"/>
                <a:cs typeface="Noto Sans CJK SC"/>
              </a:rPr>
              <a:t>Project title and funding agency</a:t>
            </a:r>
            <a:endParaRPr sz="2025" b="0" dirty="0">
              <a:solidFill>
                <a:srgbClr val="243E53"/>
              </a:solidFill>
              <a:latin typeface="Noto Sans CJK SC"/>
              <a:ea typeface="Noto Sans CJK SC"/>
              <a:cs typeface="Noto Sans CJK SC"/>
            </a:endParaRPr>
          </a:p>
          <a:p>
            <a:pPr>
              <a:lnSpc>
                <a:spcPct val="112000"/>
              </a:lnSpc>
              <a:buNone/>
              <a:defRPr sz="2025" b="0">
                <a:solidFill>
                  <a:srgbClr val="243E53"/>
                </a:solidFill>
                <a:latin typeface="Noto Sans CJK SC"/>
                <a:ea typeface="Noto Sans CJK SC"/>
                <a:cs typeface="Noto Sans CJK SC"/>
              </a:defRPr>
            </a:pPr>
            <a:r>
              <a:rPr sz="2025" b="0" dirty="0" err="1">
                <a:solidFill>
                  <a:srgbClr val="243E53"/>
                </a:solidFill>
                <a:latin typeface="Noto Sans CJK SC"/>
                <a:ea typeface="Noto Sans CJK SC"/>
                <a:cs typeface="Noto Sans CJK SC"/>
              </a:rPr>
              <a:t>Project period, amount, and currency</a:t>
            </a:r>
            <a:endParaRPr sz="2025" b="0" dirty="0">
              <a:solidFill>
                <a:srgbClr val="243E53"/>
              </a:solidFill>
              <a:latin typeface="Noto Sans CJK SC"/>
              <a:ea typeface="Noto Sans CJK SC"/>
              <a:cs typeface="Noto Sans CJK SC"/>
            </a:endParaRPr>
          </a:p>
          <a:p>
            <a:pPr>
              <a:lnSpc>
                <a:spcPct val="112000"/>
              </a:lnSpc>
              <a:buNone/>
              <a:defRPr sz="2025" b="0">
                <a:solidFill>
                  <a:srgbClr val="243E53"/>
                </a:solidFill>
                <a:latin typeface="Noto Sans CJK SC"/>
                <a:ea typeface="Noto Sans CJK SC"/>
                <a:cs typeface="Noto Sans CJK SC"/>
              </a:defRPr>
            </a:pPr>
            <a:r>
              <a:rPr sz="2025" b="0" dirty="0" err="1">
                <a:solidFill>
                  <a:srgbClr val="243E53"/>
                </a:solidFill>
                <a:latin typeface="Noto Sans CJK SC"/>
                <a:ea typeface="Noto Sans CJK SC"/>
                <a:cs typeface="Noto Sans CJK SC"/>
              </a:rPr>
              <a:t>PI, co-PI, or participant</a:t>
            </a:r>
            <a:endParaRPr sz="2025" b="0" dirty="0">
              <a:solidFill>
                <a:srgbClr val="243E53"/>
              </a:solidFill>
              <a:latin typeface="Noto Sans CJK SC"/>
              <a:ea typeface="Noto Sans CJK SC"/>
              <a:cs typeface="Noto Sans CJK SC"/>
            </a:endParaRPr>
          </a:p>
          <a:p>
            <a:pPr>
              <a:lnSpc>
                <a:spcPct val="112000"/>
              </a:lnSpc>
              <a:buNone/>
              <a:defRPr sz="2025" b="0">
                <a:solidFill>
                  <a:srgbClr val="243E53"/>
                </a:solidFill>
                <a:latin typeface="Noto Sans CJK SC"/>
                <a:ea typeface="Noto Sans CJK SC"/>
                <a:cs typeface="Noto Sans CJK SC"/>
              </a:defRPr>
            </a:pPr>
            <a:r>
              <a:rPr sz="2025" b="0" dirty="0" err="1">
                <a:solidFill>
                  <a:srgbClr val="243E53"/>
                </a:solidFill>
                <a:latin typeface="Noto Sans CJK SC"/>
                <a:ea typeface="Noto Sans CJK SC"/>
                <a:cs typeface="Noto Sans CJK SC"/>
              </a:rPr>
              <a:t>Research scope and actual responsibilities</a:t>
            </a:r>
            <a:endParaRPr sz="2025" b="0" dirty="0">
              <a:solidFill>
                <a:srgbClr val="243E53"/>
              </a:solidFill>
              <a:latin typeface="Noto Sans CJK SC"/>
              <a:ea typeface="Noto Sans CJK SC"/>
              <a:cs typeface="Noto Sans CJK SC"/>
            </a:endParaRPr>
          </a:p>
        </p:txBody>
      </p:sp>
      <p:sp>
        <p:nvSpPr>
          <p:cNvPr id="8" name="text-70">
            <a:extLst>
              <a:ext uri="{FF2B5EF4-FFF2-40B4-BE49-F238E27FC236}">
                <a16:creationId xmlns:a16="http://schemas.microsoft.com/office/drawing/2014/main" id="{BAEF8B59-B882-447E-826E-1409F959D398}"/>
              </a:ext>
            </a:extLst>
          </p:cNvPr>
          <p:cNvSpPr>
            <a:spLocks noGrp="1"/>
          </p:cNvSpPr>
          <p:nvPr/>
        </p:nvSpPr>
        <p:spPr>
          <a:xfrm>
            <a:off x="685800" y="5305425"/>
            <a:ext cx="1981200" cy="409575"/>
          </a:xfrm>
          <a:prstGeom prst="rect">
            <a:avLst/>
          </a:prstGeom>
          <a:noFill/>
          <a:ln w="0">
            <a:noFill/>
          </a:ln>
        </p:spPr>
        <p:txBody>
          <a:bodyPr wrap="square" lIns="0" tIns="0" rIns="0" bIns="0" anchor="t">
            <a:noAutofit/>
          </a:bodyPr>
          <a:lstStyle/>
          <a:p>
            <a:pPr>
              <a:lnSpc>
                <a:spcPct val="112000"/>
              </a:lnSpc>
              <a:buNone/>
              <a:defRPr sz="2175" b="1">
                <a:solidFill>
                  <a:srgbClr val="12324F"/>
                </a:solidFill>
                <a:latin typeface="Noto Sans CJK SC"/>
                <a:ea typeface="Noto Sans CJK SC"/>
                <a:cs typeface="Noto Sans CJK SC"/>
              </a:defRPr>
            </a:pPr>
            <a:r>
              <a:rPr sz="2175" b="1" dirty="0" err="1">
                <a:solidFill>
                  <a:srgbClr val="12324F"/>
                </a:solidFill>
                <a:latin typeface="Noto Sans CJK SC"/>
                <a:ea typeface="Noto Sans CJK SC"/>
                <a:cs typeface="Noto Sans CJK SC"/>
              </a:rPr>
              <a:t>Key Analysis</a:t>
            </a:r>
            <a:endParaRPr sz="2175" b="1" dirty="0">
              <a:solidFill>
                <a:srgbClr val="12324F"/>
              </a:solidFill>
              <a:latin typeface="Noto Sans CJK SC"/>
              <a:ea typeface="Noto Sans CJK SC"/>
              <a:cs typeface="Noto Sans CJK SC"/>
            </a:endParaRPr>
          </a:p>
        </p:txBody>
      </p:sp>
      <p:sp>
        <p:nvSpPr>
          <p:cNvPr id="9" name="text-71">
            <a:extLst>
              <a:ext uri="{FF2B5EF4-FFF2-40B4-BE49-F238E27FC236}">
                <a16:creationId xmlns:a16="http://schemas.microsoft.com/office/drawing/2014/main" id="{7EA0D53D-6228-480D-A395-6A557BE5D065}"/>
              </a:ext>
            </a:extLst>
          </p:cNvPr>
          <p:cNvSpPr>
            <a:spLocks noGrp="1"/>
          </p:cNvSpPr>
          <p:nvPr/>
        </p:nvSpPr>
        <p:spPr>
          <a:xfrm>
            <a:off x="2420624" y="5364690"/>
            <a:ext cx="8714232" cy="666750"/>
          </a:xfrm>
          <a:prstGeom prst="rect">
            <a:avLst/>
          </a:prstGeom>
          <a:noFill/>
          <a:ln w="0">
            <a:noFill/>
          </a:ln>
        </p:spPr>
        <p:txBody>
          <a:bodyPr wrap="square" lIns="0" tIns="0" rIns="0" bIns="0" anchor="t">
            <a:noAutofit/>
          </a:bodyPr>
          <a:lstStyle/>
          <a:p>
            <a:pPr>
              <a:lnSpc>
                <a:spcPct val="112000"/>
              </a:lnSpc>
              <a:buNone/>
              <a:defRPr sz="2025" b="0">
                <a:solidFill>
                  <a:srgbClr val="243E53"/>
                </a:solidFill>
                <a:latin typeface="Noto Sans CJK SC"/>
                <a:ea typeface="Noto Sans CJK SC"/>
                <a:cs typeface="Noto Sans CJK SC"/>
              </a:defRPr>
            </a:pPr>
            <a:r>
              <a:rPr sz="1750" b="0" dirty="0" err="1">
                <a:solidFill>
                  <a:srgbClr val="243E53"/>
                </a:solidFill>
                <a:latin typeface="Noto Sans CJK SC"/>
                <a:ea typeface="Noto Sans CJK SC"/>
                <a:cs typeface="Noto Sans CJK SC"/>
              </a:rPr>
              <a:t>Relevance to the candidate’s research direction and their actual contribution</a:t>
            </a:r>
            <a:endParaRPr sz="2025" b="0" dirty="0">
              <a:solidFill>
                <a:srgbClr val="243E53"/>
              </a:solidFill>
              <a:latin typeface="Noto Sans CJK SC"/>
              <a:ea typeface="Noto Sans CJK SC"/>
              <a:cs typeface="Noto Sans CJK SC"/>
            </a:endParaRPr>
          </a:p>
        </p:txBody>
      </p:sp>
    </p:spTree>
    <p:extLst>
      <p:ext uri="{BB962C8B-B14F-4D97-AF65-F5344CB8AC3E}">
        <p14:creationId xmlns:p14="http://schemas.microsoft.com/office/powerpoint/2010/main" val="890729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0786DEE-6AA1-4271-AA79-76F6EF010AD9}"/>
              </a:ext>
            </a:extLst>
          </p:cNvPr>
          <p:cNvSpPr>
            <a:spLocks noGrp="1"/>
          </p:cNvSpPr>
          <p:nvPr/>
        </p:nvSpPr>
        <p:spPr>
          <a:xfrm>
            <a:off x="552450" y="323850"/>
            <a:ext cx="40957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RECOGNITION</a:t>
            </a:r>
          </a:p>
        </p:txBody>
      </p:sp>
      <p:sp>
        <p:nvSpPr>
          <p:cNvPr id="2" name="矩形 1">
            <a:extLst>
              <a:ext uri="{FF2B5EF4-FFF2-40B4-BE49-F238E27FC236}">
                <a16:creationId xmlns:a16="http://schemas.microsoft.com/office/drawing/2014/main" id="{82E4880D-1979-4A0F-98D1-542E6CC672D8}"/>
              </a:ext>
            </a:extLst>
          </p:cNvPr>
          <p:cNvSpPr>
            <a:spLocks noGrp="1"/>
          </p:cNvSpPr>
          <p:nvPr/>
        </p:nvSpPr>
        <p:spPr>
          <a:xfrm>
            <a:off x="552450" y="628650"/>
            <a:ext cx="10668000" cy="533400"/>
          </a:xfrm>
          <a:prstGeom prst="rect">
            <a:avLst/>
          </a:prstGeom>
          <a:noFill/>
          <a:ln w="0">
            <a:noFill/>
          </a:ln>
        </p:spPr>
        <p:txBody>
          <a:bodyPr lIns="0" tIns="0" rIns="0" bIns="0" anchor="t">
            <a:normAutofit/>
          </a:bodyPr>
          <a:lstStyle/>
          <a:p>
            <a:pPr algn="l">
              <a:defRPr sz="2700" b="1">
                <a:solidFill>
                  <a:srgbClr val="092445"/>
                </a:solidFill>
                <a:latin typeface="Aptos"/>
                <a:ea typeface="Aptos"/>
                <a:cs typeface="Aptos"/>
              </a:defRPr>
            </a:pPr>
            <a:r>
              <a:rPr sz="2700" b="1">
                <a:solidFill>
                  <a:srgbClr val="092445"/>
                </a:solidFill>
                <a:latin typeface="Aptos"/>
                <a:ea typeface="Aptos"/>
                <a:cs typeface="Aptos"/>
              </a:rPr>
              <a:t>Awards and funding</a:t>
            </a:r>
          </a:p>
        </p:txBody>
      </p:sp>
      <p:sp>
        <p:nvSpPr>
          <p:cNvPr id="3" name="矩形 2">
            <a:extLst>
              <a:ext uri="{FF2B5EF4-FFF2-40B4-BE49-F238E27FC236}">
                <a16:creationId xmlns:a16="http://schemas.microsoft.com/office/drawing/2014/main" id="{AE0556D3-8891-47AC-AA55-1CF557C6A6EC}"/>
              </a:ext>
            </a:extLst>
          </p:cNvPr>
          <p:cNvSpPr>
            <a:spLocks noGrp="1"/>
          </p:cNvSpPr>
          <p:nvPr/>
        </p:nvSpPr>
        <p:spPr>
          <a:xfrm>
            <a:off x="552450" y="1257300"/>
            <a:ext cx="11087100" cy="19050"/>
          </a:xfrm>
          <a:prstGeom prst="rect">
            <a:avLst/>
          </a:prstGeom>
          <a:solidFill>
            <a:srgbClr val="D7E4ED"/>
          </a:solidFill>
          <a:ln w="0">
            <a:noFill/>
          </a:ln>
        </p:spPr>
      </p:sp>
      <p:sp>
        <p:nvSpPr>
          <p:cNvPr id="4" name="矩形 3">
            <a:extLst>
              <a:ext uri="{FF2B5EF4-FFF2-40B4-BE49-F238E27FC236}">
                <a16:creationId xmlns:a16="http://schemas.microsoft.com/office/drawing/2014/main" id="{ACF695D1-305C-4B54-914D-BCDDA08A989E}"/>
              </a:ext>
            </a:extLst>
          </p:cNvPr>
          <p:cNvSpPr>
            <a:spLocks noGrp="1"/>
          </p:cNvSpPr>
          <p:nvPr/>
        </p:nvSpPr>
        <p:spPr>
          <a:xfrm>
            <a:off x="590550" y="1524000"/>
            <a:ext cx="4762500" cy="342900"/>
          </a:xfrm>
          <a:prstGeom prst="rect">
            <a:avLst/>
          </a:prstGeom>
          <a:noFill/>
          <a:ln w="0">
            <a:noFill/>
          </a:ln>
        </p:spPr>
        <p:txBody>
          <a:bodyPr lIns="0" tIns="0" rIns="0" bIns="0" anchor="t">
            <a:normAutofit/>
          </a:bodyPr>
          <a:lstStyle/>
          <a:p>
            <a:pPr algn="l">
              <a:defRPr sz="1800" b="1">
                <a:solidFill>
                  <a:srgbClr val="D49A1D"/>
                </a:solidFill>
                <a:latin typeface="Aptos"/>
                <a:ea typeface="Aptos"/>
                <a:cs typeface="Aptos"/>
              </a:defRPr>
            </a:pPr>
            <a:r>
              <a:rPr sz="1800" b="1">
                <a:solidFill>
                  <a:srgbClr val="D49A1D"/>
                </a:solidFill>
                <a:latin typeface="Aptos"/>
                <a:ea typeface="Aptos"/>
                <a:cs typeface="Aptos"/>
              </a:rPr>
              <a:t>Awards</a:t>
            </a:r>
          </a:p>
        </p:txBody>
      </p:sp>
      <p:sp>
        <p:nvSpPr>
          <p:cNvPr id="5" name="矩形 4">
            <a:extLst>
              <a:ext uri="{FF2B5EF4-FFF2-40B4-BE49-F238E27FC236}">
                <a16:creationId xmlns:a16="http://schemas.microsoft.com/office/drawing/2014/main" id="{EA739BA3-EBF2-41FC-9705-8698AF749E62}"/>
              </a:ext>
            </a:extLst>
          </p:cNvPr>
          <p:cNvSpPr>
            <a:spLocks noGrp="1"/>
          </p:cNvSpPr>
          <p:nvPr/>
        </p:nvSpPr>
        <p:spPr>
          <a:xfrm>
            <a:off x="590550" y="2019300"/>
            <a:ext cx="666750" cy="247650"/>
          </a:xfrm>
          <a:prstGeom prst="rect">
            <a:avLst/>
          </a:prstGeom>
          <a:noFill/>
          <a:ln w="0">
            <a:noFill/>
          </a:ln>
        </p:spPr>
        <p:txBody>
          <a:bodyPr lIns="0" tIns="0" rIns="0" bIns="0" anchor="t">
            <a:normAutofit/>
          </a:bodyPr>
          <a:lstStyle/>
          <a:p>
            <a:pPr algn="l">
              <a:defRPr sz="1050" b="1">
                <a:solidFill>
                  <a:srgbClr val="D49A1D"/>
                </a:solidFill>
                <a:latin typeface="Aptos"/>
                <a:ea typeface="Aptos"/>
                <a:cs typeface="Aptos"/>
              </a:defRPr>
            </a:pPr>
            <a:r>
              <a:rPr sz="1050" b="1">
                <a:solidFill>
                  <a:srgbClr val="D49A1D"/>
                </a:solidFill>
                <a:latin typeface="Aptos"/>
                <a:ea typeface="Aptos"/>
                <a:cs typeface="Aptos"/>
              </a:rPr>
              <a:t>2025</a:t>
            </a:r>
          </a:p>
        </p:txBody>
      </p:sp>
      <p:sp>
        <p:nvSpPr>
          <p:cNvPr id="6" name="矩形 5">
            <a:extLst>
              <a:ext uri="{FF2B5EF4-FFF2-40B4-BE49-F238E27FC236}">
                <a16:creationId xmlns:a16="http://schemas.microsoft.com/office/drawing/2014/main" id="{8BC66635-DA6B-4314-A888-02D9B64706B8}"/>
              </a:ext>
            </a:extLst>
          </p:cNvPr>
          <p:cNvSpPr>
            <a:spLocks noGrp="1"/>
          </p:cNvSpPr>
          <p:nvPr/>
        </p:nvSpPr>
        <p:spPr>
          <a:xfrm>
            <a:off x="1333500" y="2000250"/>
            <a:ext cx="4191000" cy="400050"/>
          </a:xfrm>
          <a:prstGeom prst="rect">
            <a:avLst/>
          </a:prstGeom>
          <a:noFill/>
          <a:ln w="0">
            <a:noFill/>
          </a:ln>
        </p:spPr>
        <p:txBody>
          <a:bodyPr lIns="0" tIns="0" rIns="0" bIns="0" anchor="t">
            <a:normAutofit lnSpcReduction="10000"/>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ACM SIGSOFT Outstanding Doctoral Dissertation Award</a:t>
            </a:r>
          </a:p>
        </p:txBody>
      </p:sp>
      <p:sp>
        <p:nvSpPr>
          <p:cNvPr id="7" name="矩形 6">
            <a:extLst>
              <a:ext uri="{FF2B5EF4-FFF2-40B4-BE49-F238E27FC236}">
                <a16:creationId xmlns:a16="http://schemas.microsoft.com/office/drawing/2014/main" id="{EE5AD052-FEAA-4986-9965-16F47F5131C8}"/>
              </a:ext>
            </a:extLst>
          </p:cNvPr>
          <p:cNvSpPr>
            <a:spLocks noGrp="1"/>
          </p:cNvSpPr>
          <p:nvPr/>
        </p:nvSpPr>
        <p:spPr>
          <a:xfrm>
            <a:off x="1333500" y="2400300"/>
            <a:ext cx="4191000" cy="400050"/>
          </a:xfrm>
          <a:prstGeom prst="rect">
            <a:avLst/>
          </a:prstGeom>
          <a:noFill/>
          <a:ln w="0">
            <a:noFill/>
          </a:ln>
        </p:spPr>
        <p:txBody>
          <a:bodyPr lIns="0" tIns="0" rIns="0" bIns="0" anchor="t">
            <a:normAutofit lnSpcReduction="10000"/>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SIGSOFT presents this annual award for outstanding doctoral dissertations in software engineering. The official 2025 recipients list includes this dissertation, so this is a direc…</a:t>
            </a:r>
          </a:p>
        </p:txBody>
      </p:sp>
      <p:sp>
        <p:nvSpPr>
          <p:cNvPr id="8" name="矩形 7">
            <a:extLst>
              <a:ext uri="{FF2B5EF4-FFF2-40B4-BE49-F238E27FC236}">
                <a16:creationId xmlns:a16="http://schemas.microsoft.com/office/drawing/2014/main" id="{11F71C18-85A2-4E03-B42A-8C70008D3DDC}"/>
              </a:ext>
            </a:extLst>
          </p:cNvPr>
          <p:cNvSpPr>
            <a:spLocks noGrp="1"/>
          </p:cNvSpPr>
          <p:nvPr/>
        </p:nvSpPr>
        <p:spPr>
          <a:xfrm>
            <a:off x="590550" y="2895600"/>
            <a:ext cx="666750" cy="247650"/>
          </a:xfrm>
          <a:prstGeom prst="rect">
            <a:avLst/>
          </a:prstGeom>
          <a:noFill/>
          <a:ln w="0">
            <a:noFill/>
          </a:ln>
        </p:spPr>
        <p:txBody>
          <a:bodyPr lIns="0" tIns="0" rIns="0" bIns="0" anchor="t">
            <a:normAutofit/>
          </a:bodyPr>
          <a:lstStyle/>
          <a:p>
            <a:pPr algn="l">
              <a:defRPr sz="1050" b="1">
                <a:solidFill>
                  <a:srgbClr val="D49A1D"/>
                </a:solidFill>
                <a:latin typeface="Aptos"/>
                <a:ea typeface="Aptos"/>
                <a:cs typeface="Aptos"/>
              </a:defRPr>
            </a:pPr>
            <a:r>
              <a:rPr sz="1050" b="1">
                <a:solidFill>
                  <a:srgbClr val="D49A1D"/>
                </a:solidFill>
                <a:latin typeface="Aptos"/>
                <a:ea typeface="Aptos"/>
                <a:cs typeface="Aptos"/>
              </a:rPr>
              <a:t>2024</a:t>
            </a:r>
          </a:p>
        </p:txBody>
      </p:sp>
      <p:sp>
        <p:nvSpPr>
          <p:cNvPr id="9" name="矩形 8">
            <a:extLst>
              <a:ext uri="{FF2B5EF4-FFF2-40B4-BE49-F238E27FC236}">
                <a16:creationId xmlns:a16="http://schemas.microsoft.com/office/drawing/2014/main" id="{19B1D6D8-CB0A-4474-B530-CCF25336F7D6}"/>
              </a:ext>
            </a:extLst>
          </p:cNvPr>
          <p:cNvSpPr>
            <a:spLocks noGrp="1"/>
          </p:cNvSpPr>
          <p:nvPr/>
        </p:nvSpPr>
        <p:spPr>
          <a:xfrm>
            <a:off x="1333500" y="2876550"/>
            <a:ext cx="4191000" cy="400050"/>
          </a:xfrm>
          <a:prstGeom prst="rect">
            <a:avLst/>
          </a:prstGeom>
          <a:noFill/>
          <a:ln w="0">
            <a:noFill/>
          </a:ln>
        </p:spPr>
        <p:txBody>
          <a:bodyPr lIns="0" tIns="0" rIns="0" bIns="0" anchor="t">
            <a:normAutofit/>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ACM Distinguished paper award (ASE)</a:t>
            </a:r>
          </a:p>
        </p:txBody>
      </p:sp>
      <p:sp>
        <p:nvSpPr>
          <p:cNvPr id="10" name="矩形 9">
            <a:extLst>
              <a:ext uri="{FF2B5EF4-FFF2-40B4-BE49-F238E27FC236}">
                <a16:creationId xmlns:a16="http://schemas.microsoft.com/office/drawing/2014/main" id="{7DEB3175-A0E8-424F-AD21-EBA46EA86CA0}"/>
              </a:ext>
            </a:extLst>
          </p:cNvPr>
          <p:cNvSpPr>
            <a:spLocks noGrp="1"/>
          </p:cNvSpPr>
          <p:nvPr/>
        </p:nvSpPr>
        <p:spPr>
          <a:xfrm>
            <a:off x="1333500" y="3276600"/>
            <a:ext cx="4191000" cy="400050"/>
          </a:xfrm>
          <a:prstGeom prst="rect">
            <a:avLst/>
          </a:prstGeom>
          <a:noFill/>
          <a:ln w="0">
            <a:noFill/>
          </a:ln>
        </p:spPr>
        <p:txBody>
          <a:bodyPr lIns="0" tIns="0" rIns="0" bIns="0" anchor="t">
            <a:normAutofit fontScale="97222" lnSpcReduction="10000"/>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ACM SIGSOFT allows a small subset of accepted papers at sponsored conferences, including ASE, to receive Distinguished Paper Awards. Under the published rule, conferences with mor…</a:t>
            </a:r>
          </a:p>
        </p:txBody>
      </p:sp>
      <p:sp>
        <p:nvSpPr>
          <p:cNvPr id="11" name="矩形 10">
            <a:extLst>
              <a:ext uri="{FF2B5EF4-FFF2-40B4-BE49-F238E27FC236}">
                <a16:creationId xmlns:a16="http://schemas.microsoft.com/office/drawing/2014/main" id="{BD454D8E-0389-4546-8823-5461EB2C5D47}"/>
              </a:ext>
            </a:extLst>
          </p:cNvPr>
          <p:cNvSpPr>
            <a:spLocks noGrp="1"/>
          </p:cNvSpPr>
          <p:nvPr/>
        </p:nvSpPr>
        <p:spPr>
          <a:xfrm>
            <a:off x="590550" y="3771900"/>
            <a:ext cx="666750" cy="247650"/>
          </a:xfrm>
          <a:prstGeom prst="rect">
            <a:avLst/>
          </a:prstGeom>
          <a:noFill/>
          <a:ln w="0">
            <a:noFill/>
          </a:ln>
        </p:spPr>
        <p:txBody>
          <a:bodyPr lIns="0" tIns="0" rIns="0" bIns="0" anchor="t">
            <a:normAutofit fontScale="92500"/>
          </a:bodyPr>
          <a:lstStyle/>
          <a:p>
            <a:pPr algn="l">
              <a:defRPr sz="1050" b="1">
                <a:solidFill>
                  <a:srgbClr val="D49A1D"/>
                </a:solidFill>
                <a:latin typeface="Aptos"/>
                <a:ea typeface="Aptos"/>
                <a:cs typeface="Aptos"/>
              </a:defRPr>
            </a:pPr>
            <a:r>
              <a:rPr sz="1050" b="1">
                <a:solidFill>
                  <a:srgbClr val="D49A1D"/>
                </a:solidFill>
                <a:latin typeface="Aptos"/>
                <a:ea typeface="Aptos"/>
                <a:cs typeface="Aptos"/>
              </a:rPr>
              <a:t>2019 - 2021</a:t>
            </a:r>
          </a:p>
        </p:txBody>
      </p:sp>
      <p:sp>
        <p:nvSpPr>
          <p:cNvPr id="12" name="矩形 11">
            <a:extLst>
              <a:ext uri="{FF2B5EF4-FFF2-40B4-BE49-F238E27FC236}">
                <a16:creationId xmlns:a16="http://schemas.microsoft.com/office/drawing/2014/main" id="{1EABC7B7-82BC-46B0-A2DD-B5C0CD0849E6}"/>
              </a:ext>
            </a:extLst>
          </p:cNvPr>
          <p:cNvSpPr>
            <a:spLocks noGrp="1"/>
          </p:cNvSpPr>
          <p:nvPr/>
        </p:nvSpPr>
        <p:spPr>
          <a:xfrm>
            <a:off x="1333500" y="3752850"/>
            <a:ext cx="4191000" cy="400050"/>
          </a:xfrm>
          <a:prstGeom prst="rect">
            <a:avLst/>
          </a:prstGeom>
          <a:noFill/>
          <a:ln w="0">
            <a:noFill/>
          </a:ln>
        </p:spPr>
        <p:txBody>
          <a:bodyPr lIns="0" tIns="0" rIns="0" bIns="0" anchor="t">
            <a:normAutofit/>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Huawei Fellowship Scholarship</a:t>
            </a:r>
          </a:p>
        </p:txBody>
      </p:sp>
      <p:sp>
        <p:nvSpPr>
          <p:cNvPr id="13" name="矩形 12">
            <a:extLst>
              <a:ext uri="{FF2B5EF4-FFF2-40B4-BE49-F238E27FC236}">
                <a16:creationId xmlns:a16="http://schemas.microsoft.com/office/drawing/2014/main" id="{C747E9C7-DB3B-44C2-94DE-147061E1B292}"/>
              </a:ext>
            </a:extLst>
          </p:cNvPr>
          <p:cNvSpPr>
            <a:spLocks noGrp="1"/>
          </p:cNvSpPr>
          <p:nvPr/>
        </p:nvSpPr>
        <p:spPr>
          <a:xfrm>
            <a:off x="590550" y="4648200"/>
            <a:ext cx="666750" cy="247650"/>
          </a:xfrm>
          <a:prstGeom prst="rect">
            <a:avLst/>
          </a:prstGeom>
          <a:noFill/>
          <a:ln w="0">
            <a:noFill/>
          </a:ln>
        </p:spPr>
        <p:txBody>
          <a:bodyPr lIns="0" tIns="0" rIns="0" bIns="0" anchor="t">
            <a:normAutofit fontScale="92500"/>
          </a:bodyPr>
          <a:lstStyle/>
          <a:p>
            <a:pPr algn="l">
              <a:defRPr sz="1050" b="1">
                <a:solidFill>
                  <a:srgbClr val="D49A1D"/>
                </a:solidFill>
                <a:latin typeface="Aptos"/>
                <a:ea typeface="Aptos"/>
                <a:cs typeface="Aptos"/>
              </a:defRPr>
            </a:pPr>
            <a:r>
              <a:rPr sz="1050" b="1">
                <a:solidFill>
                  <a:srgbClr val="D49A1D"/>
                </a:solidFill>
                <a:latin typeface="Aptos"/>
                <a:ea typeface="Aptos"/>
                <a:cs typeface="Aptos"/>
              </a:rPr>
              <a:t>2023 - 2024</a:t>
            </a:r>
          </a:p>
        </p:txBody>
      </p:sp>
      <p:sp>
        <p:nvSpPr>
          <p:cNvPr id="14" name="矩形 13">
            <a:extLst>
              <a:ext uri="{FF2B5EF4-FFF2-40B4-BE49-F238E27FC236}">
                <a16:creationId xmlns:a16="http://schemas.microsoft.com/office/drawing/2014/main" id="{F509B54F-243C-476B-BAE4-033434057F17}"/>
              </a:ext>
            </a:extLst>
          </p:cNvPr>
          <p:cNvSpPr>
            <a:spLocks noGrp="1"/>
          </p:cNvSpPr>
          <p:nvPr/>
        </p:nvSpPr>
        <p:spPr>
          <a:xfrm>
            <a:off x="1333500" y="4629150"/>
            <a:ext cx="4191000" cy="400050"/>
          </a:xfrm>
          <a:prstGeom prst="rect">
            <a:avLst/>
          </a:prstGeom>
          <a:noFill/>
          <a:ln w="0">
            <a:noFill/>
          </a:ln>
        </p:spPr>
        <p:txBody>
          <a:bodyPr lIns="0" tIns="0" rIns="0" bIns="0" anchor="t">
            <a:normAutofit/>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Hong Kong Postgraduate Scholarship</a:t>
            </a:r>
          </a:p>
        </p:txBody>
      </p:sp>
      <p:sp>
        <p:nvSpPr>
          <p:cNvPr id="15" name="矩形 14">
            <a:extLst>
              <a:ext uri="{FF2B5EF4-FFF2-40B4-BE49-F238E27FC236}">
                <a16:creationId xmlns:a16="http://schemas.microsoft.com/office/drawing/2014/main" id="{7AB7C277-6CA7-4E98-BC9A-E48239026975}"/>
              </a:ext>
            </a:extLst>
          </p:cNvPr>
          <p:cNvSpPr>
            <a:spLocks noGrp="1"/>
          </p:cNvSpPr>
          <p:nvPr/>
        </p:nvSpPr>
        <p:spPr>
          <a:xfrm>
            <a:off x="5962650" y="1524000"/>
            <a:ext cx="19050" cy="4286250"/>
          </a:xfrm>
          <a:prstGeom prst="rect">
            <a:avLst/>
          </a:prstGeom>
          <a:solidFill>
            <a:srgbClr val="D7E4ED"/>
          </a:solidFill>
          <a:ln w="0">
            <a:noFill/>
          </a:ln>
        </p:spPr>
      </p:sp>
      <p:sp>
        <p:nvSpPr>
          <p:cNvPr id="16" name="矩形 15">
            <a:extLst>
              <a:ext uri="{FF2B5EF4-FFF2-40B4-BE49-F238E27FC236}">
                <a16:creationId xmlns:a16="http://schemas.microsoft.com/office/drawing/2014/main" id="{4F0C9D05-722E-470F-BB1C-22E79E22BD99}"/>
              </a:ext>
            </a:extLst>
          </p:cNvPr>
          <p:cNvSpPr>
            <a:spLocks noGrp="1"/>
          </p:cNvSpPr>
          <p:nvPr/>
        </p:nvSpPr>
        <p:spPr>
          <a:xfrm>
            <a:off x="6419850" y="1524000"/>
            <a:ext cx="4762500" cy="342900"/>
          </a:xfrm>
          <a:prstGeom prst="rect">
            <a:avLst/>
          </a:prstGeom>
          <a:noFill/>
          <a:ln w="0">
            <a:noFill/>
          </a:ln>
        </p:spPr>
        <p:txBody>
          <a:bodyPr lIns="0" tIns="0" rIns="0" bIns="0" anchor="t">
            <a:normAutofit/>
          </a:bodyPr>
          <a:lstStyle/>
          <a:p>
            <a:pPr algn="l">
              <a:defRPr sz="1800" b="1">
                <a:solidFill>
                  <a:srgbClr val="2A9D8F"/>
                </a:solidFill>
                <a:latin typeface="Aptos"/>
                <a:ea typeface="Aptos"/>
                <a:cs typeface="Aptos"/>
              </a:defRPr>
            </a:pPr>
            <a:r>
              <a:rPr sz="1800" b="1">
                <a:solidFill>
                  <a:srgbClr val="2A9D8F"/>
                </a:solidFill>
                <a:latin typeface="Aptos"/>
                <a:ea typeface="Aptos"/>
                <a:cs typeface="Aptos"/>
              </a:rPr>
              <a:t>Funding</a:t>
            </a:r>
          </a:p>
        </p:txBody>
      </p:sp>
      <p:sp>
        <p:nvSpPr>
          <p:cNvPr id="17" name="矩形 16">
            <a:extLst>
              <a:ext uri="{FF2B5EF4-FFF2-40B4-BE49-F238E27FC236}">
                <a16:creationId xmlns:a16="http://schemas.microsoft.com/office/drawing/2014/main" id="{E3B49642-3C37-4649-9539-6AEC89560C15}"/>
              </a:ext>
            </a:extLst>
          </p:cNvPr>
          <p:cNvSpPr>
            <a:spLocks noGrp="1"/>
          </p:cNvSpPr>
          <p:nvPr/>
        </p:nvSpPr>
        <p:spPr>
          <a:xfrm>
            <a:off x="6419850" y="2019300"/>
            <a:ext cx="1190625" cy="266700"/>
          </a:xfrm>
          <a:prstGeom prst="rect">
            <a:avLst/>
          </a:prstGeom>
          <a:noFill/>
          <a:ln w="0">
            <a:noFill/>
          </a:ln>
        </p:spPr>
        <p:txBody>
          <a:bodyPr lIns="0" tIns="0" rIns="0" bIns="0" anchor="t">
            <a:normAutofit/>
          </a:bodyPr>
          <a:lstStyle/>
          <a:p>
            <a:pPr algn="l">
              <a:defRPr sz="975" b="1">
                <a:solidFill>
                  <a:srgbClr val="2A9D8F"/>
                </a:solidFill>
                <a:latin typeface="Aptos"/>
                <a:ea typeface="Aptos"/>
                <a:cs typeface="Aptos"/>
              </a:defRPr>
            </a:pPr>
            <a:r>
              <a:rPr sz="975" b="1">
                <a:solidFill>
                  <a:srgbClr val="2A9D8F"/>
                </a:solidFill>
                <a:latin typeface="Aptos"/>
                <a:ea typeface="Aptos"/>
                <a:cs typeface="Aptos"/>
              </a:rPr>
              <a:t>2025/26</a:t>
            </a:r>
          </a:p>
        </p:txBody>
      </p:sp>
      <p:sp>
        <p:nvSpPr>
          <p:cNvPr id="18" name="矩形 17">
            <a:extLst>
              <a:ext uri="{FF2B5EF4-FFF2-40B4-BE49-F238E27FC236}">
                <a16:creationId xmlns:a16="http://schemas.microsoft.com/office/drawing/2014/main" id="{4184C8C9-C37C-47B6-A105-0B56A314F9EC}"/>
              </a:ext>
            </a:extLst>
          </p:cNvPr>
          <p:cNvSpPr>
            <a:spLocks noGrp="1"/>
          </p:cNvSpPr>
          <p:nvPr/>
        </p:nvSpPr>
        <p:spPr>
          <a:xfrm>
            <a:off x="7696200" y="2000250"/>
            <a:ext cx="3571875" cy="400050"/>
          </a:xfrm>
          <a:prstGeom prst="rect">
            <a:avLst/>
          </a:prstGeom>
          <a:noFill/>
          <a:ln w="0">
            <a:noFill/>
          </a:ln>
        </p:spPr>
        <p:txBody>
          <a:bodyPr lIns="0" tIns="0" rIns="0" bIns="0" anchor="t">
            <a:normAutofit fontScale="80331" lnSpcReduction="10000"/>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A Multi-faceted Framework for Automated Pseudocode-to-Code Translation using Large Language Models</a:t>
            </a:r>
          </a:p>
        </p:txBody>
      </p:sp>
      <p:sp>
        <p:nvSpPr>
          <p:cNvPr id="19" name="矩形 18">
            <a:extLst>
              <a:ext uri="{FF2B5EF4-FFF2-40B4-BE49-F238E27FC236}">
                <a16:creationId xmlns:a16="http://schemas.microsoft.com/office/drawing/2014/main" id="{B5C71A74-2F1B-4223-B8B1-FFE74CEBFC35}"/>
              </a:ext>
            </a:extLst>
          </p:cNvPr>
          <p:cNvSpPr>
            <a:spLocks noGrp="1"/>
          </p:cNvSpPr>
          <p:nvPr/>
        </p:nvSpPr>
        <p:spPr>
          <a:xfrm>
            <a:off x="7696200" y="2419350"/>
            <a:ext cx="3571875" cy="342900"/>
          </a:xfrm>
          <a:prstGeom prst="rect">
            <a:avLst/>
          </a:prstGeom>
          <a:noFill/>
          <a:ln w="0">
            <a:noFill/>
          </a:ln>
        </p:spPr>
        <p:txBody>
          <a:bodyPr lIns="0" tIns="0" rIns="0" bIns="0" anchor="t">
            <a:normAutofit/>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Co-PI · HK$ 1,590,700 · Research Grants Council of Hong Kong</a:t>
            </a:r>
          </a:p>
        </p:txBody>
      </p:sp>
      <p:sp>
        <p:nvSpPr>
          <p:cNvPr id="20" name="矩形 19">
            <a:extLst>
              <a:ext uri="{FF2B5EF4-FFF2-40B4-BE49-F238E27FC236}">
                <a16:creationId xmlns:a16="http://schemas.microsoft.com/office/drawing/2014/main" id="{C85FFF91-6532-44D7-9E1F-411ABB8F638E}"/>
              </a:ext>
            </a:extLst>
          </p:cNvPr>
          <p:cNvSpPr>
            <a:spLocks noGrp="1"/>
          </p:cNvSpPr>
          <p:nvPr/>
        </p:nvSpPr>
        <p:spPr>
          <a:xfrm>
            <a:off x="6419850" y="2895600"/>
            <a:ext cx="1190625" cy="266700"/>
          </a:xfrm>
          <a:prstGeom prst="rect">
            <a:avLst/>
          </a:prstGeom>
          <a:noFill/>
          <a:ln w="0">
            <a:noFill/>
          </a:ln>
        </p:spPr>
        <p:txBody>
          <a:bodyPr lIns="0" tIns="0" rIns="0" bIns="0" anchor="t">
            <a:normAutofit fontScale="94819" lnSpcReduction="10000"/>
          </a:bodyPr>
          <a:lstStyle/>
          <a:p>
            <a:pPr algn="l">
              <a:defRPr sz="975" b="1">
                <a:solidFill>
                  <a:srgbClr val="2A9D8F"/>
                </a:solidFill>
                <a:latin typeface="Aptos"/>
                <a:ea typeface="Aptos"/>
                <a:cs typeface="Aptos"/>
              </a:defRPr>
            </a:pPr>
            <a:r>
              <a:rPr sz="975" b="1">
                <a:solidFill>
                  <a:srgbClr val="2A9D8F"/>
                </a:solidFill>
                <a:latin typeface="Aptos"/>
                <a:ea typeface="Aptos"/>
                <a:cs typeface="Aptos"/>
              </a:rPr>
              <a:t>2023.12.21 – 2025.05.06</a:t>
            </a:r>
          </a:p>
        </p:txBody>
      </p:sp>
      <p:sp>
        <p:nvSpPr>
          <p:cNvPr id="21" name="矩形 20">
            <a:extLst>
              <a:ext uri="{FF2B5EF4-FFF2-40B4-BE49-F238E27FC236}">
                <a16:creationId xmlns:a16="http://schemas.microsoft.com/office/drawing/2014/main" id="{86E5918E-4680-4E1D-82AD-15D301B1FF75}"/>
              </a:ext>
            </a:extLst>
          </p:cNvPr>
          <p:cNvSpPr>
            <a:spLocks noGrp="1"/>
          </p:cNvSpPr>
          <p:nvPr/>
        </p:nvSpPr>
        <p:spPr>
          <a:xfrm>
            <a:off x="7696200" y="2876550"/>
            <a:ext cx="3571875" cy="400050"/>
          </a:xfrm>
          <a:prstGeom prst="rect">
            <a:avLst/>
          </a:prstGeom>
          <a:noFill/>
          <a:ln w="0">
            <a:noFill/>
          </a:ln>
        </p:spPr>
        <p:txBody>
          <a:bodyPr lIns="0" tIns="0" rIns="0" bIns="0" anchor="t">
            <a:normAutofit fontScale="97222"/>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Large language models driven Test Oracle Generation</a:t>
            </a:r>
          </a:p>
        </p:txBody>
      </p:sp>
      <p:sp>
        <p:nvSpPr>
          <p:cNvPr id="22" name="矩形 21">
            <a:extLst>
              <a:ext uri="{FF2B5EF4-FFF2-40B4-BE49-F238E27FC236}">
                <a16:creationId xmlns:a16="http://schemas.microsoft.com/office/drawing/2014/main" id="{898A3EA7-1113-494A-A1E3-6866C65BE4F9}"/>
              </a:ext>
            </a:extLst>
          </p:cNvPr>
          <p:cNvSpPr>
            <a:spLocks noGrp="1"/>
          </p:cNvSpPr>
          <p:nvPr/>
        </p:nvSpPr>
        <p:spPr>
          <a:xfrm>
            <a:off x="7696200" y="3295650"/>
            <a:ext cx="3571875" cy="342900"/>
          </a:xfrm>
          <a:prstGeom prst="rect">
            <a:avLst/>
          </a:prstGeom>
          <a:noFill/>
          <a:ln w="0">
            <a:noFill/>
          </a:ln>
        </p:spPr>
        <p:txBody>
          <a:bodyPr lIns="0" tIns="0" rIns="0" bIns="0" anchor="t">
            <a:normAutofit/>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Key contributor · HK$ 1,430,000</a:t>
            </a:r>
          </a:p>
        </p:txBody>
      </p:sp>
      <p:sp>
        <p:nvSpPr>
          <p:cNvPr id="23" name="矩形 22">
            <a:extLst>
              <a:ext uri="{FF2B5EF4-FFF2-40B4-BE49-F238E27FC236}">
                <a16:creationId xmlns:a16="http://schemas.microsoft.com/office/drawing/2014/main" id="{4804426F-806A-4182-95C4-541E25B0D62A}"/>
              </a:ext>
            </a:extLst>
          </p:cNvPr>
          <p:cNvSpPr>
            <a:spLocks noGrp="1"/>
          </p:cNvSpPr>
          <p:nvPr/>
        </p:nvSpPr>
        <p:spPr>
          <a:xfrm>
            <a:off x="6419850" y="3771900"/>
            <a:ext cx="1190625" cy="266700"/>
          </a:xfrm>
          <a:prstGeom prst="rect">
            <a:avLst/>
          </a:prstGeom>
          <a:noFill/>
          <a:ln w="0">
            <a:noFill/>
          </a:ln>
        </p:spPr>
        <p:txBody>
          <a:bodyPr lIns="0" tIns="0" rIns="0" bIns="0" anchor="t">
            <a:normAutofit fontScale="94819" lnSpcReduction="10000"/>
          </a:bodyPr>
          <a:lstStyle/>
          <a:p>
            <a:pPr algn="l">
              <a:defRPr sz="975" b="1">
                <a:solidFill>
                  <a:srgbClr val="2A9D8F"/>
                </a:solidFill>
                <a:latin typeface="Aptos"/>
                <a:ea typeface="Aptos"/>
                <a:cs typeface="Aptos"/>
              </a:defRPr>
            </a:pPr>
            <a:r>
              <a:rPr sz="975" b="1">
                <a:solidFill>
                  <a:srgbClr val="2A9D8F"/>
                </a:solidFill>
                <a:latin typeface="Aptos"/>
                <a:ea typeface="Aptos"/>
                <a:cs typeface="Aptos"/>
              </a:rPr>
              <a:t>2024.01.19 – 2025.04.23</a:t>
            </a:r>
          </a:p>
        </p:txBody>
      </p:sp>
      <p:sp>
        <p:nvSpPr>
          <p:cNvPr id="24" name="矩形 23">
            <a:extLst>
              <a:ext uri="{FF2B5EF4-FFF2-40B4-BE49-F238E27FC236}">
                <a16:creationId xmlns:a16="http://schemas.microsoft.com/office/drawing/2014/main" id="{0F60CB77-B3D4-4369-BFF0-EF8EABBF73A8}"/>
              </a:ext>
            </a:extLst>
          </p:cNvPr>
          <p:cNvSpPr>
            <a:spLocks noGrp="1"/>
          </p:cNvSpPr>
          <p:nvPr/>
        </p:nvSpPr>
        <p:spPr>
          <a:xfrm>
            <a:off x="7696200" y="3752850"/>
            <a:ext cx="3571875" cy="400050"/>
          </a:xfrm>
          <a:prstGeom prst="rect">
            <a:avLst/>
          </a:prstGeom>
          <a:noFill/>
          <a:ln w="0">
            <a:noFill/>
          </a:ln>
        </p:spPr>
        <p:txBody>
          <a:bodyPr lIns="0" tIns="0" rIns="0" bIns="0" anchor="t">
            <a:normAutofit fontScale="89722"/>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From requirements to formal modeling verification projects based on large language models</a:t>
            </a:r>
          </a:p>
        </p:txBody>
      </p:sp>
      <p:sp>
        <p:nvSpPr>
          <p:cNvPr id="25" name="矩形 24">
            <a:extLst>
              <a:ext uri="{FF2B5EF4-FFF2-40B4-BE49-F238E27FC236}">
                <a16:creationId xmlns:a16="http://schemas.microsoft.com/office/drawing/2014/main" id="{E7C5EC91-6481-4485-9FC6-576D7BC259C1}"/>
              </a:ext>
            </a:extLst>
          </p:cNvPr>
          <p:cNvSpPr>
            <a:spLocks noGrp="1"/>
          </p:cNvSpPr>
          <p:nvPr/>
        </p:nvSpPr>
        <p:spPr>
          <a:xfrm>
            <a:off x="7696200" y="4171950"/>
            <a:ext cx="3571875" cy="342900"/>
          </a:xfrm>
          <a:prstGeom prst="rect">
            <a:avLst/>
          </a:prstGeom>
          <a:noFill/>
          <a:ln w="0">
            <a:noFill/>
          </a:ln>
        </p:spPr>
        <p:txBody>
          <a:bodyPr lIns="0" tIns="0" rIns="0" bIns="0" anchor="t">
            <a:normAutofit/>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HK$ 1,380,000</a:t>
            </a:r>
          </a:p>
        </p:txBody>
      </p:sp>
      <p:sp>
        <p:nvSpPr>
          <p:cNvPr id="26" name="矩形 25">
            <a:extLst>
              <a:ext uri="{FF2B5EF4-FFF2-40B4-BE49-F238E27FC236}">
                <a16:creationId xmlns:a16="http://schemas.microsoft.com/office/drawing/2014/main" id="{0BEABB50-38D6-4DC5-AA0D-45AD7C38AB18}"/>
              </a:ext>
            </a:extLst>
          </p:cNvPr>
          <p:cNvSpPr>
            <a:spLocks noGrp="1"/>
          </p:cNvSpPr>
          <p:nvPr/>
        </p:nvSpPr>
        <p:spPr>
          <a:xfrm>
            <a:off x="6419850" y="4648200"/>
            <a:ext cx="1190625" cy="266700"/>
          </a:xfrm>
          <a:prstGeom prst="rect">
            <a:avLst/>
          </a:prstGeom>
          <a:noFill/>
          <a:ln w="0">
            <a:noFill/>
          </a:ln>
        </p:spPr>
        <p:txBody>
          <a:bodyPr lIns="0" tIns="0" rIns="0" bIns="0" anchor="t">
            <a:normAutofit/>
          </a:bodyPr>
          <a:lstStyle/>
          <a:p>
            <a:pPr algn="l">
              <a:defRPr sz="975" b="1">
                <a:solidFill>
                  <a:srgbClr val="2A9D8F"/>
                </a:solidFill>
                <a:latin typeface="Aptos"/>
                <a:ea typeface="Aptos"/>
                <a:cs typeface="Aptos"/>
              </a:defRPr>
            </a:pPr>
            <a:r>
              <a:rPr sz="975" b="1">
                <a:solidFill>
                  <a:srgbClr val="2A9D8F"/>
                </a:solidFill>
                <a:latin typeface="Aptos"/>
                <a:ea typeface="Aptos"/>
                <a:cs typeface="Aptos"/>
              </a:rPr>
              <a:t>2024.10.30 – Now</a:t>
            </a:r>
          </a:p>
        </p:txBody>
      </p:sp>
      <p:sp>
        <p:nvSpPr>
          <p:cNvPr id="27" name="矩形 26">
            <a:extLst>
              <a:ext uri="{FF2B5EF4-FFF2-40B4-BE49-F238E27FC236}">
                <a16:creationId xmlns:a16="http://schemas.microsoft.com/office/drawing/2014/main" id="{4D45E2E2-35B4-413D-BBB5-A6AA590A21C8}"/>
              </a:ext>
            </a:extLst>
          </p:cNvPr>
          <p:cNvSpPr>
            <a:spLocks noGrp="1"/>
          </p:cNvSpPr>
          <p:nvPr/>
        </p:nvSpPr>
        <p:spPr>
          <a:xfrm>
            <a:off x="7696200" y="4629150"/>
            <a:ext cx="3571875" cy="400050"/>
          </a:xfrm>
          <a:prstGeom prst="rect">
            <a:avLst/>
          </a:prstGeom>
          <a:noFill/>
          <a:ln w="0">
            <a:noFill/>
          </a:ln>
        </p:spPr>
        <p:txBody>
          <a:bodyPr lIns="0" tIns="0" rIns="0" bIns="0" anchor="t">
            <a:normAutofit fontScale="97222"/>
          </a:bodyPr>
          <a:lstStyle/>
          <a:p>
            <a:pPr algn="l">
              <a:defRPr sz="1350" b="1">
                <a:solidFill>
                  <a:srgbClr val="092445"/>
                </a:solidFill>
                <a:latin typeface="Aptos"/>
                <a:ea typeface="Aptos"/>
                <a:cs typeface="Aptos"/>
              </a:defRPr>
            </a:pPr>
            <a:r>
              <a:rPr sz="1350" b="1">
                <a:solidFill>
                  <a:srgbClr val="092445"/>
                </a:solidFill>
                <a:latin typeface="Aptos"/>
                <a:ea typeface="Aptos"/>
                <a:cs typeface="Aptos"/>
              </a:rPr>
              <a:t>Large language models aided program abstraction and model checking</a:t>
            </a:r>
          </a:p>
        </p:txBody>
      </p:sp>
      <p:sp>
        <p:nvSpPr>
          <p:cNvPr id="28" name="矩形 27">
            <a:extLst>
              <a:ext uri="{FF2B5EF4-FFF2-40B4-BE49-F238E27FC236}">
                <a16:creationId xmlns:a16="http://schemas.microsoft.com/office/drawing/2014/main" id="{A6861D1B-30F6-4659-9F12-CB8520B6D6F0}"/>
              </a:ext>
            </a:extLst>
          </p:cNvPr>
          <p:cNvSpPr>
            <a:spLocks noGrp="1"/>
          </p:cNvSpPr>
          <p:nvPr/>
        </p:nvSpPr>
        <p:spPr>
          <a:xfrm>
            <a:off x="7696200" y="5048250"/>
            <a:ext cx="3571875" cy="342900"/>
          </a:xfrm>
          <a:prstGeom prst="rect">
            <a:avLst/>
          </a:prstGeom>
          <a:noFill/>
          <a:ln w="0">
            <a:noFill/>
          </a:ln>
        </p:spPr>
        <p:txBody>
          <a:bodyPr lIns="0" tIns="0" rIns="0" bIns="0" anchor="t">
            <a:normAutofit/>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HK$ 80,000</a:t>
            </a:r>
          </a:p>
        </p:txBody>
      </p:sp>
      <p:sp>
        <p:nvSpPr>
          <p:cNvPr id="29" name="矩形 28">
            <a:extLst>
              <a:ext uri="{FF2B5EF4-FFF2-40B4-BE49-F238E27FC236}">
                <a16:creationId xmlns:a16="http://schemas.microsoft.com/office/drawing/2014/main" id="{B0A58C2E-B9B5-475E-AE70-9615B6258D84}"/>
              </a:ext>
            </a:extLst>
          </p:cNvPr>
          <p:cNvSpPr>
            <a:spLocks noGrp="1"/>
          </p:cNvSpPr>
          <p:nvPr/>
        </p:nvSpPr>
        <p:spPr>
          <a:xfrm>
            <a:off x="552450" y="6515100"/>
            <a:ext cx="11087100" cy="171450"/>
          </a:xfrm>
          <a:prstGeom prst="rect">
            <a:avLst/>
          </a:prstGeom>
          <a:noFill/>
          <a:ln w="0">
            <a:noFill/>
          </a:ln>
        </p:spPr>
        <p:txBody>
          <a:bodyPr lIns="0" tIns="0" rIns="0" bIns="0" anchor="t">
            <a:normAutofit/>
          </a:bodyPr>
          <a:lstStyle/>
          <a:p>
            <a:pPr algn="r">
              <a:defRPr sz="750" b="0">
                <a:solidFill>
                  <a:srgbClr val="5E7389"/>
                </a:solidFill>
                <a:latin typeface="Aptos"/>
                <a:ea typeface="Aptos"/>
                <a:cs typeface="Aptos"/>
              </a:defRPr>
            </a:pPr>
            <a:r>
              <a:rPr sz="750" b="0">
                <a:solidFill>
                  <a:srgbClr val="5E7389"/>
                </a:solidFill>
                <a:latin typeface="Aptos"/>
                <a:ea typeface="Aptos"/>
                <a:cs typeface="Aptos"/>
              </a:rPr>
              <a:t>REVIEW MEETING BRIEF · CAND-001 · 5</a:t>
            </a:r>
          </a:p>
        </p:txBody>
      </p:sp>
    </p:spTree>
    <p:extLst>
      <p:ext uri="{BB962C8B-B14F-4D97-AF65-F5344CB8AC3E}">
        <p14:creationId xmlns:p14="http://schemas.microsoft.com/office/powerpoint/2010/main" val="122236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72">
            <a:extLst>
              <a:ext uri="{FF2B5EF4-FFF2-40B4-BE49-F238E27FC236}">
                <a16:creationId xmlns:a16="http://schemas.microsoft.com/office/drawing/2014/main" id="{22C7D224-001D-407F-8858-AF572D74FBD9}"/>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sz="3300" b="1">
                <a:solidFill>
                  <a:srgbClr val="12324F"/>
                </a:solidFill>
                <a:latin typeface="Noto Sans CJK SC"/>
                <a:ea typeface="Noto Sans CJK SC"/>
                <a:cs typeface="Noto Sans CJK SC"/>
              </a:rPr>
              <a:t>Publications, Citations &amp; Open-Source Outputs</a:t>
            </a:r>
          </a:p>
        </p:txBody>
      </p:sp>
      <p:sp>
        <p:nvSpPr>
          <p:cNvPr id="3" name="text-74">
            <a:extLst>
              <a:ext uri="{FF2B5EF4-FFF2-40B4-BE49-F238E27FC236}">
                <a16:creationId xmlns:a16="http://schemas.microsoft.com/office/drawing/2014/main" id="{6044E668-3775-4074-957C-8B5A4A07E849}"/>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09</a:t>
            </a:r>
          </a:p>
        </p:txBody>
      </p:sp>
      <p:graphicFrame>
        <p:nvGraphicFramePr>
          <p:cNvPr id="10" name="Image"/>
          <p:cNvGraphicFramePr/>
          <p:nvPr>
            <p:extLst>
              <p:ext uri="{D42A27DB-BD31-4B8C-83A1-F6EECF244321}">
                <p14:modId xmlns:p14="http://schemas.microsoft.com/office/powerpoint/2010/main" val="2734299836"/>
              </p:ext>
            </p:extLst>
          </p:nvPr>
        </p:nvGraphicFramePr>
        <p:xfrm>
          <a:off x="685800" y="1197416"/>
          <a:ext cx="10820400" cy="3219450"/>
        </p:xfrm>
        <a:graphic>
          <a:graphicData uri="http://schemas.openxmlformats.org/drawingml/2006/table">
            <a:tbl>
              <a:tblPr/>
              <a:tblGrid>
                <a:gridCol w="2419350">
                  <a:extLst>
                    <a:ext uri="{9D8B030D-6E8A-4147-A177-3AD203B41FA5}">
                      <a16:colId xmlns:a16="http://schemas.microsoft.com/office/drawing/2014/main" val="20000"/>
                    </a:ext>
                  </a:extLst>
                </a:gridCol>
                <a:gridCol w="8401050">
                  <a:extLst>
                    <a:ext uri="{9D8B030D-6E8A-4147-A177-3AD203B41FA5}">
                      <a16:colId xmlns:a16="http://schemas.microsoft.com/office/drawing/2014/main" val="20001"/>
                    </a:ext>
                  </a:extLst>
                </a:gridCol>
              </a:tblGrid>
              <a:tr h="552450">
                <a:tc>
                  <a:txBody>
                    <a:bodyPr/>
                    <a:lstStyle/>
                    <a:p>
                      <a:r>
                        <a:rPr sz="1500" b="1">
                          <a:solidFill>
                            <a:srgbClr val="FFFFFF"/>
                          </a:solidFill>
                          <a:latin typeface="Noto Sans CJK SC"/>
                          <a:ea typeface="Noto Sans CJK SC"/>
                          <a:cs typeface="Noto Sans CJK SC"/>
                        </a:rPr>
                        <a:t>Information Level</a:t>
                      </a:r>
                    </a:p>
                  </a:txBody>
                  <a:tcPr marL="152400" marR="133350" marT="123825" marB="95250" anchor="ctr">
                    <a:solidFill>
                      <a:srgbClr val="12324F"/>
                    </a:solidFill>
                  </a:tcPr>
                </a:tc>
                <a:tc>
                  <a:txBody>
                    <a:bodyPr/>
                    <a:lstStyle/>
                    <a:p>
                      <a:r>
                        <a:rPr sz="1500" b="1">
                          <a:solidFill>
                            <a:srgbClr val="FFFFFF"/>
                          </a:solidFill>
                          <a:latin typeface="Noto Sans CJK SC"/>
                          <a:ea typeface="Noto Sans CJK SC"/>
                          <a:cs typeface="Noto Sans CJK SC"/>
                        </a:rPr>
                        <a:t>Suggested Information to Extract or Add</a:t>
                      </a:r>
                    </a:p>
                  </a:txBody>
                  <a:tcPr marL="152400" marR="133350" marT="123825" marB="95250" anchor="ctr">
                    <a:solidFill>
                      <a:srgbClr val="12324F"/>
                    </a:solidFill>
                  </a:tcPr>
                </a:tc>
                <a:extLst>
                  <a:ext uri="{0D108BD9-81ED-4DB2-BD59-A6C34878D82A}">
                    <a16:rowId xmlns:a16="http://schemas.microsoft.com/office/drawing/2014/main" val="10000"/>
                  </a:ext>
                </a:extLst>
              </a:tr>
              <a:tr h="666750">
                <a:tc>
                  <a:txBody>
                    <a:bodyPr/>
                    <a:lstStyle/>
                    <a:p>
                      <a:r>
                        <a:rPr sz="1350" b="1">
                          <a:solidFill>
                            <a:srgbClr val="12324F"/>
                          </a:solidFill>
                          <a:latin typeface="Noto Sans CJK SC"/>
                          <a:ea typeface="Noto Sans CJK SC"/>
                          <a:cs typeface="Noto Sans CJK SC"/>
                        </a:rPr>
                        <a:t>Publication Details</a:t>
                      </a:r>
                    </a:p>
                  </a:txBody>
                  <a:tcPr marL="152400" marR="133350" marT="123825" marB="95250" anchor="ctr">
                    <a:solidFill>
                      <a:srgbClr val="FFFFFF"/>
                    </a:solidFill>
                  </a:tcPr>
                </a:tc>
                <a:tc>
                  <a:txBody>
                    <a:bodyPr/>
                    <a:lstStyle/>
                    <a:p>
                      <a:r>
                        <a:rPr sz="1350" b="0">
                          <a:solidFill>
                            <a:srgbClr val="243E53"/>
                          </a:solidFill>
                          <a:latin typeface="Noto Sans CJK SC"/>
                          <a:ea typeface="Noto Sans CJK SC"/>
                          <a:cs typeface="Noto Sans CJK SC"/>
                        </a:rPr>
                        <a:t>Title, year, DOI, paper link, and publication status</a:t>
                      </a:r>
                    </a:p>
                  </a:txBody>
                  <a:tcPr marL="152400" marR="133350" marT="123825" marB="95250" anchor="ctr">
                    <a:solidFill>
                      <a:srgbClr val="FFFFFF"/>
                    </a:solidFill>
                  </a:tcPr>
                </a:tc>
                <a:extLst>
                  <a:ext uri="{0D108BD9-81ED-4DB2-BD59-A6C34878D82A}">
                    <a16:rowId xmlns:a16="http://schemas.microsoft.com/office/drawing/2014/main" val="10001"/>
                  </a:ext>
                </a:extLst>
              </a:tr>
              <a:tr h="666750">
                <a:tc>
                  <a:txBody>
                    <a:bodyPr/>
                    <a:lstStyle/>
                    <a:p>
                      <a:r>
                        <a:rPr sz="1350" b="1">
                          <a:solidFill>
                            <a:srgbClr val="12324F"/>
                          </a:solidFill>
                          <a:latin typeface="Noto Sans CJK SC"/>
                          <a:ea typeface="Noto Sans CJK SC"/>
                          <a:cs typeface="Noto Sans CJK SC"/>
                        </a:rPr>
                        <a:t>Individual Contribution</a:t>
                      </a:r>
                    </a:p>
                  </a:txBody>
                  <a:tcPr marL="152400" marR="133350" marT="123825" marB="95250" anchor="ctr">
                    <a:solidFill>
                      <a:srgbClr val="F2F7FB"/>
                    </a:solidFill>
                  </a:tcPr>
                </a:tc>
                <a:tc>
                  <a:txBody>
                    <a:bodyPr/>
                    <a:lstStyle/>
                    <a:p>
                      <a:r>
                        <a:rPr sz="1350" b="0">
                          <a:solidFill>
                            <a:srgbClr val="243E53"/>
                          </a:solidFill>
                          <a:latin typeface="Noto Sans CJK SC"/>
                          <a:ea typeface="Noto Sans CJK SC"/>
                          <a:cs typeface="Noto Sans CJK SC"/>
                        </a:rPr>
                        <a:t>Author order and explicit evidence for co-first or corresponding authorship</a:t>
                      </a:r>
                    </a:p>
                  </a:txBody>
                  <a:tcPr marL="152400" marR="133350" marT="123825" marB="95250" anchor="ctr">
                    <a:solidFill>
                      <a:srgbClr val="F2F7FB"/>
                    </a:solidFill>
                  </a:tcPr>
                </a:tc>
                <a:extLst>
                  <a:ext uri="{0D108BD9-81ED-4DB2-BD59-A6C34878D82A}">
                    <a16:rowId xmlns:a16="http://schemas.microsoft.com/office/drawing/2014/main" val="10002"/>
                  </a:ext>
                </a:extLst>
              </a:tr>
              <a:tr h="666750">
                <a:tc>
                  <a:txBody>
                    <a:bodyPr/>
                    <a:lstStyle/>
                    <a:p>
                      <a:r>
                        <a:rPr sz="1350" b="1">
                          <a:solidFill>
                            <a:srgbClr val="12324F"/>
                          </a:solidFill>
                          <a:latin typeface="Noto Sans CJK SC"/>
                          <a:ea typeface="Noto Sans CJK SC"/>
                          <a:cs typeface="Noto Sans CJK SC"/>
                        </a:rPr>
                        <a:t>Publication &amp; Citation Context</a:t>
                      </a:r>
                    </a:p>
                  </a:txBody>
                  <a:tcPr marL="152400" marR="133350" marT="123825" marB="95250" anchor="ctr">
                    <a:solidFill>
                      <a:srgbClr val="FFFFFF"/>
                    </a:solidFill>
                  </a:tcPr>
                </a:tc>
                <a:tc>
                  <a:txBody>
                    <a:bodyPr/>
                    <a:lstStyle/>
                    <a:p>
                      <a:r>
                        <a:rPr sz="1350" b="0" dirty="0">
                          <a:solidFill>
                            <a:srgbClr val="243E53"/>
                          </a:solidFill>
                          <a:latin typeface="Noto Sans CJK SC"/>
                          <a:ea typeface="Noto Sans CJK SC"/>
                          <a:cs typeface="Noto Sans CJK SC"/>
                        </a:rPr>
                        <a:t>Journal or conference, field/context, citation count</a:t>
                      </a:r>
                    </a:p>
                  </a:txBody>
                  <a:tcPr marL="152400" marR="133350" marT="123825" marB="95250" anchor="ctr">
                    <a:solidFill>
                      <a:srgbClr val="FFFFFF"/>
                    </a:solidFill>
                  </a:tcPr>
                </a:tc>
                <a:extLst>
                  <a:ext uri="{0D108BD9-81ED-4DB2-BD59-A6C34878D82A}">
                    <a16:rowId xmlns:a16="http://schemas.microsoft.com/office/drawing/2014/main" val="10003"/>
                  </a:ext>
                </a:extLst>
              </a:tr>
              <a:tr h="666750">
                <a:tc>
                  <a:txBody>
                    <a:bodyPr/>
                    <a:lstStyle/>
                    <a:p>
                      <a:r>
                        <a:rPr sz="1350" b="1">
                          <a:solidFill>
                            <a:srgbClr val="12324F"/>
                          </a:solidFill>
                          <a:latin typeface="Noto Sans CJK SC"/>
                          <a:ea typeface="Noto Sans CJK SC"/>
                          <a:cs typeface="Noto Sans CJK SC"/>
                        </a:rPr>
                        <a:t>Related Code &amp; Projects</a:t>
                      </a:r>
                    </a:p>
                  </a:txBody>
                  <a:tcPr marL="152400" marR="133350" marT="123825" marB="95250" anchor="ctr">
                    <a:solidFill>
                      <a:srgbClr val="F2F7FB"/>
                    </a:solidFill>
                  </a:tcPr>
                </a:tc>
                <a:tc>
                  <a:txBody>
                    <a:bodyPr/>
                    <a:lstStyle/>
                    <a:p>
                      <a:r>
                        <a:rPr sz="1350" b="0" dirty="0">
                          <a:solidFill>
                            <a:srgbClr val="243E53"/>
                          </a:solidFill>
                          <a:latin typeface="Noto Sans CJK SC"/>
                          <a:ea typeface="Noto Sans CJK SC"/>
                          <a:cs typeface="Noto Sans CJK SC"/>
                        </a:rPr>
                        <a:t>GitHub repository link, Stars,</a:t>
                      </a:r>
                      <a:endParaRPr sz="1875" b="0" dirty="0">
                        <a:solidFill>
                          <a:srgbClr val="243E53"/>
                        </a:solidFill>
                        <a:latin typeface="Noto Sans CJK SC"/>
                        <a:ea typeface="Noto Sans CJK SC"/>
                        <a:cs typeface="Noto Sans CJK SC"/>
                      </a:endParaRPr>
                    </a:p>
                  </a:txBody>
                  <a:tcPr marL="152400" marR="133350" marT="123825" marB="95250" anchor="ctr">
                    <a:solidFill>
                      <a:srgbClr val="F2F7FB"/>
                    </a:solidFill>
                  </a:tcPr>
                </a:tc>
                <a:extLst>
                  <a:ext uri="{0D108BD9-81ED-4DB2-BD59-A6C34878D82A}">
                    <a16:rowId xmlns:a16="http://schemas.microsoft.com/office/drawing/2014/main" val="10004"/>
                  </a:ext>
                </a:extLst>
              </a:tr>
            </a:tbl>
          </a:graphicData>
        </a:graphic>
      </p:graphicFrame>
      <p:sp>
        <p:nvSpPr>
          <p:cNvPr id="5" name="text-75">
            <a:extLst>
              <a:ext uri="{FF2B5EF4-FFF2-40B4-BE49-F238E27FC236}">
                <a16:creationId xmlns:a16="http://schemas.microsoft.com/office/drawing/2014/main" id="{47B135E9-3A0E-498F-8BB7-ED9A8E7FD292}"/>
              </a:ext>
            </a:extLst>
          </p:cNvPr>
          <p:cNvSpPr>
            <a:spLocks noGrp="1"/>
          </p:cNvSpPr>
          <p:nvPr/>
        </p:nvSpPr>
        <p:spPr>
          <a:xfrm>
            <a:off x="685800" y="4788807"/>
            <a:ext cx="10820400" cy="371475"/>
          </a:xfrm>
          <a:prstGeom prst="rect">
            <a:avLst/>
          </a:prstGeom>
          <a:noFill/>
          <a:ln w="0">
            <a:noFill/>
          </a:ln>
        </p:spPr>
        <p:txBody>
          <a:bodyPr wrap="square" lIns="0" tIns="0" rIns="0" bIns="0" anchor="t">
            <a:noAutofit/>
          </a:bodyPr>
          <a:lstStyle/>
          <a:p>
            <a:pPr>
              <a:lnSpc>
                <a:spcPct val="112000"/>
              </a:lnSpc>
              <a:buNone/>
              <a:defRPr sz="2025" b="1">
                <a:solidFill>
                  <a:srgbClr val="12324F"/>
                </a:solidFill>
                <a:latin typeface="Noto Sans CJK SC"/>
                <a:ea typeface="Noto Sans CJK SC"/>
                <a:cs typeface="Noto Sans CJK SC"/>
              </a:defRPr>
            </a:pPr>
            <a:r>
              <a:rPr sz="1700" b="1" dirty="0" err="1">
                <a:solidFill>
                  <a:srgbClr val="12324F"/>
                </a:solidFill>
                <a:latin typeface="Noto Sans CJK SC"/>
                <a:ea typeface="Noto Sans CJK SC"/>
                <a:cs typeface="Noto Sans CJK SC"/>
              </a:rPr>
              <a:t>Add the query date for citation counts and Stars; show a missing status if unavailable.</a:t>
            </a:r>
            <a:endParaRPr sz="2025" b="1" dirty="0">
              <a:solidFill>
                <a:srgbClr val="12324F"/>
              </a:solidFill>
              <a:latin typeface="Noto Sans CJK SC"/>
              <a:ea typeface="Noto Sans CJK SC"/>
              <a:cs typeface="Noto Sans CJK SC"/>
            </a:endParaRPr>
          </a:p>
        </p:txBody>
      </p:sp>
      <p:sp>
        <p:nvSpPr>
          <p:cNvPr id="6" name="text-76">
            <a:extLst>
              <a:ext uri="{FF2B5EF4-FFF2-40B4-BE49-F238E27FC236}">
                <a16:creationId xmlns:a16="http://schemas.microsoft.com/office/drawing/2014/main" id="{6559FCAB-4774-47B2-9661-A78FB61F9A73}"/>
              </a:ext>
            </a:extLst>
          </p:cNvPr>
          <p:cNvSpPr>
            <a:spLocks noGrp="1"/>
          </p:cNvSpPr>
          <p:nvPr/>
        </p:nvSpPr>
        <p:spPr>
          <a:xfrm>
            <a:off x="722086" y="5266191"/>
            <a:ext cx="10820400" cy="361950"/>
          </a:xfrm>
          <a:prstGeom prst="rect">
            <a:avLst/>
          </a:prstGeom>
          <a:noFill/>
          <a:ln w="0">
            <a:noFill/>
          </a:ln>
        </p:spPr>
        <p:txBody>
          <a:bodyPr wrap="square" lIns="0" tIns="0" rIns="0" bIns="0" anchor="t">
            <a:noAutofit/>
          </a:bodyPr>
          <a:lstStyle/>
          <a:p>
            <a:pPr>
              <a:lnSpc>
                <a:spcPct val="112000"/>
              </a:lnSpc>
              <a:buNone/>
              <a:defRPr sz="1650" b="0">
                <a:solidFill>
                  <a:srgbClr val="60758B"/>
                </a:solidFill>
                <a:latin typeface="Noto Sans CJK SC"/>
                <a:ea typeface="Noto Sans CJK SC"/>
                <a:cs typeface="Noto Sans CJK SC"/>
              </a:defRPr>
            </a:pPr>
            <a:r>
              <a:rPr lang="zh-CN" altLang="en-US" sz="1700" b="1" dirty="0">
                <a:solidFill>
                  <a:srgbClr val="12324F"/>
                </a:solidFill>
                <a:latin typeface="Noto Sans CJK SC"/>
              </a:rPr>
              <a:t>Publications can be ranked by impact factor, journal quartile, or conference category.</a:t>
            </a:r>
            <a:endParaRPr sz="1650" b="0" dirty="0">
              <a:solidFill>
                <a:srgbClr val="60758B"/>
              </a:solidFill>
              <a:latin typeface="Noto Sans CJK SC"/>
              <a:ea typeface="Noto Sans CJK SC"/>
              <a:cs typeface="Noto Sans CJK SC"/>
            </a:endParaRPr>
          </a:p>
        </p:txBody>
      </p:sp>
    </p:spTree>
    <p:extLst>
      <p:ext uri="{BB962C8B-B14F-4D97-AF65-F5344CB8AC3E}">
        <p14:creationId xmlns:p14="http://schemas.microsoft.com/office/powerpoint/2010/main" val="68263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6CFBC612-894B-4682-96F0-B102CBE1E778}"/>
              </a:ext>
            </a:extLst>
          </p:cNvPr>
          <p:cNvSpPr>
            <a:spLocks noGrp="1"/>
          </p:cNvSpPr>
          <p:nvPr/>
        </p:nvSpPr>
        <p:spPr>
          <a:xfrm>
            <a:off x="552450" y="323850"/>
            <a:ext cx="40957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RESEARCH</a:t>
            </a:r>
          </a:p>
        </p:txBody>
      </p:sp>
      <p:sp>
        <p:nvSpPr>
          <p:cNvPr id="2" name="矩形 1">
            <a:extLst>
              <a:ext uri="{FF2B5EF4-FFF2-40B4-BE49-F238E27FC236}">
                <a16:creationId xmlns:a16="http://schemas.microsoft.com/office/drawing/2014/main" id="{0BF91C18-EA42-4845-A832-2F5BA1B70CCB}"/>
              </a:ext>
            </a:extLst>
          </p:cNvPr>
          <p:cNvSpPr>
            <a:spLocks noGrp="1"/>
          </p:cNvSpPr>
          <p:nvPr/>
        </p:nvSpPr>
        <p:spPr>
          <a:xfrm>
            <a:off x="552450" y="628650"/>
            <a:ext cx="10668000" cy="533400"/>
          </a:xfrm>
          <a:prstGeom prst="rect">
            <a:avLst/>
          </a:prstGeom>
          <a:noFill/>
          <a:ln w="0">
            <a:noFill/>
          </a:ln>
        </p:spPr>
        <p:txBody>
          <a:bodyPr lIns="0" tIns="0" rIns="0" bIns="0" anchor="t">
            <a:normAutofit/>
          </a:bodyPr>
          <a:lstStyle/>
          <a:p>
            <a:pPr algn="l">
              <a:defRPr sz="2700" b="1">
                <a:solidFill>
                  <a:srgbClr val="092445"/>
                </a:solidFill>
                <a:latin typeface="Aptos"/>
                <a:ea typeface="Aptos"/>
                <a:cs typeface="Aptos"/>
              </a:defRPr>
            </a:pPr>
            <a:r>
              <a:rPr sz="2700" b="1">
                <a:solidFill>
                  <a:srgbClr val="092445"/>
                </a:solidFill>
                <a:latin typeface="Aptos"/>
                <a:ea typeface="Aptos"/>
                <a:cs typeface="Aptos"/>
              </a:rPr>
              <a:t>Representative research outputs</a:t>
            </a:r>
          </a:p>
        </p:txBody>
      </p:sp>
      <p:sp>
        <p:nvSpPr>
          <p:cNvPr id="3" name="矩形 2">
            <a:extLst>
              <a:ext uri="{FF2B5EF4-FFF2-40B4-BE49-F238E27FC236}">
                <a16:creationId xmlns:a16="http://schemas.microsoft.com/office/drawing/2014/main" id="{B2EEA754-2A2D-485B-B6B5-D173F90B951F}"/>
              </a:ext>
            </a:extLst>
          </p:cNvPr>
          <p:cNvSpPr>
            <a:spLocks noGrp="1"/>
          </p:cNvSpPr>
          <p:nvPr/>
        </p:nvSpPr>
        <p:spPr>
          <a:xfrm>
            <a:off x="552450" y="1257300"/>
            <a:ext cx="11087100" cy="19050"/>
          </a:xfrm>
          <a:prstGeom prst="rect">
            <a:avLst/>
          </a:prstGeom>
          <a:solidFill>
            <a:srgbClr val="D7E4ED"/>
          </a:solidFill>
          <a:ln w="0">
            <a:noFill/>
          </a:ln>
        </p:spPr>
      </p:sp>
      <p:sp>
        <p:nvSpPr>
          <p:cNvPr id="4" name="矩形 3">
            <a:extLst>
              <a:ext uri="{FF2B5EF4-FFF2-40B4-BE49-F238E27FC236}">
                <a16:creationId xmlns:a16="http://schemas.microsoft.com/office/drawing/2014/main" id="{25559C28-500E-4811-99E9-063035450E59}"/>
              </a:ext>
            </a:extLst>
          </p:cNvPr>
          <p:cNvSpPr>
            <a:spLocks noGrp="1"/>
          </p:cNvSpPr>
          <p:nvPr/>
        </p:nvSpPr>
        <p:spPr>
          <a:xfrm>
            <a:off x="590550" y="1504950"/>
            <a:ext cx="428625"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01</a:t>
            </a:r>
          </a:p>
        </p:txBody>
      </p:sp>
      <p:sp>
        <p:nvSpPr>
          <p:cNvPr id="5" name="矩形 4">
            <a:extLst>
              <a:ext uri="{FF2B5EF4-FFF2-40B4-BE49-F238E27FC236}">
                <a16:creationId xmlns:a16="http://schemas.microsoft.com/office/drawing/2014/main" id="{FFEACE85-9B3D-40AE-B01B-D380AF91B42C}"/>
              </a:ext>
            </a:extLst>
          </p:cNvPr>
          <p:cNvSpPr>
            <a:spLocks noGrp="1"/>
          </p:cNvSpPr>
          <p:nvPr/>
        </p:nvSpPr>
        <p:spPr>
          <a:xfrm>
            <a:off x="1143000" y="1485900"/>
            <a:ext cx="6858000" cy="438150"/>
          </a:xfrm>
          <a:prstGeom prst="rect">
            <a:avLst/>
          </a:prstGeom>
          <a:noFill/>
          <a:ln w="0">
            <a:noFill/>
          </a:ln>
        </p:spPr>
        <p:txBody>
          <a:bodyPr lIns="0" tIns="0" rIns="0" bIns="0" anchor="t">
            <a:normAutofit/>
          </a:bodyPr>
          <a:lstStyle/>
          <a:p>
            <a:pPr algn="l">
              <a:defRPr sz="1425" b="1">
                <a:solidFill>
                  <a:srgbClr val="092445"/>
                </a:solidFill>
                <a:latin typeface="Aptos"/>
                <a:ea typeface="Aptos"/>
                <a:cs typeface="Aptos"/>
              </a:defRPr>
            </a:pPr>
            <a:r>
              <a:rPr sz="1425" b="1">
                <a:solidFill>
                  <a:srgbClr val="092445"/>
                </a:solidFill>
                <a:latin typeface="Aptos"/>
                <a:ea typeface="Aptos"/>
                <a:cs typeface="Aptos"/>
              </a:rPr>
              <a:t>Enchanting program specification synthesis by large language models using static analysis and program verification</a:t>
            </a:r>
          </a:p>
        </p:txBody>
      </p:sp>
      <p:sp>
        <p:nvSpPr>
          <p:cNvPr id="6" name="矩形 5">
            <a:extLst>
              <a:ext uri="{FF2B5EF4-FFF2-40B4-BE49-F238E27FC236}">
                <a16:creationId xmlns:a16="http://schemas.microsoft.com/office/drawing/2014/main" id="{1BB442DE-05DA-4E60-97B9-6CB8670019EF}"/>
              </a:ext>
            </a:extLst>
          </p:cNvPr>
          <p:cNvSpPr>
            <a:spLocks noGrp="1"/>
          </p:cNvSpPr>
          <p:nvPr/>
        </p:nvSpPr>
        <p:spPr>
          <a:xfrm>
            <a:off x="1143000" y="1962150"/>
            <a:ext cx="6858000" cy="26670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a:solidFill>
                  <a:srgbClr val="5E7389"/>
                </a:solidFill>
                <a:latin typeface="Aptos"/>
                <a:ea typeface="Aptos"/>
                <a:cs typeface="Aptos"/>
              </a:rPr>
              <a:t>International Conference on Computer Aided Verification · 2024 · Corresponding author · CCF A</a:t>
            </a:r>
          </a:p>
        </p:txBody>
      </p:sp>
      <p:sp>
        <p:nvSpPr>
          <p:cNvPr id="7" name="矩形 6">
            <a:extLst>
              <a:ext uri="{FF2B5EF4-FFF2-40B4-BE49-F238E27FC236}">
                <a16:creationId xmlns:a16="http://schemas.microsoft.com/office/drawing/2014/main" id="{1E6BACFD-4AAE-4104-9CFE-2F40CC85D7C5}"/>
              </a:ext>
            </a:extLst>
          </p:cNvPr>
          <p:cNvSpPr>
            <a:spLocks noGrp="1"/>
          </p:cNvSpPr>
          <p:nvPr/>
        </p:nvSpPr>
        <p:spPr>
          <a:xfrm>
            <a:off x="1143000" y="2247900"/>
            <a:ext cx="6858000" cy="238125"/>
          </a:xfrm>
          <a:prstGeom prst="rect">
            <a:avLst/>
          </a:prstGeom>
          <a:noFill/>
          <a:ln w="0">
            <a:noFill/>
          </a:ln>
        </p:spPr>
        <p:txBody>
          <a:bodyPr lIns="0" tIns="0" rIns="0" bIns="0" anchor="t">
            <a:normAutofit/>
          </a:bodyPr>
          <a:lstStyle/>
          <a:p>
            <a:pPr algn="l">
              <a:defRPr sz="825" b="0">
                <a:solidFill>
                  <a:srgbClr val="1572B8"/>
                </a:solidFill>
                <a:latin typeface="Aptos"/>
                <a:ea typeface="Aptos"/>
                <a:cs typeface="Aptos"/>
              </a:defRPr>
            </a:pPr>
            <a:r>
              <a:rPr sz="825" b="0">
                <a:solidFill>
                  <a:srgbClr val="1572B8"/>
                </a:solidFill>
                <a:latin typeface="Aptos"/>
                <a:ea typeface="Aptos"/>
                <a:cs typeface="Aptos"/>
              </a:rPr>
              <a:t>DOI  10.1007/978-3-031-65630-9_16</a:t>
            </a:r>
          </a:p>
        </p:txBody>
      </p:sp>
      <p:sp>
        <p:nvSpPr>
          <p:cNvPr id="8" name="矩形 7">
            <a:extLst>
              <a:ext uri="{FF2B5EF4-FFF2-40B4-BE49-F238E27FC236}">
                <a16:creationId xmlns:a16="http://schemas.microsoft.com/office/drawing/2014/main" id="{80384248-46A6-4529-82A9-0AC4B3BB31B4}"/>
              </a:ext>
            </a:extLst>
          </p:cNvPr>
          <p:cNvSpPr>
            <a:spLocks noGrp="1"/>
          </p:cNvSpPr>
          <p:nvPr/>
        </p:nvSpPr>
        <p:spPr>
          <a:xfrm>
            <a:off x="8572500" y="1524000"/>
            <a:ext cx="2476500" cy="800100"/>
          </a:xfrm>
          <a:prstGeom prst="rect">
            <a:avLst/>
          </a:prstGeom>
          <a:noFill/>
          <a:ln w="0">
            <a:noFill/>
          </a:ln>
        </p:spPr>
        <p:txBody>
          <a:bodyPr lIns="0" tIns="0" rIns="0" bIns="0" anchor="t">
            <a:normAutofit/>
          </a:bodyPr>
          <a:lstStyle/>
          <a:p>
            <a:pPr algn="r">
              <a:defRPr sz="1275" b="1">
                <a:solidFill>
                  <a:srgbClr val="D49A1D"/>
                </a:solidFill>
                <a:latin typeface="Aptos"/>
                <a:ea typeface="Aptos"/>
                <a:cs typeface="Aptos"/>
              </a:defRPr>
            </a:pPr>
            <a:r>
              <a:rPr sz="1275" b="1">
                <a:solidFill>
                  <a:srgbClr val="D49A1D"/>
                </a:solidFill>
                <a:latin typeface="Aptos"/>
                <a:ea typeface="Aptos"/>
                <a:cs typeface="Aptos"/>
              </a:rPr>
              <a:t>57 Citations</a:t>
            </a:r>
          </a:p>
        </p:txBody>
      </p:sp>
      <p:sp>
        <p:nvSpPr>
          <p:cNvPr id="9" name="矩形 8">
            <a:extLst>
              <a:ext uri="{FF2B5EF4-FFF2-40B4-BE49-F238E27FC236}">
                <a16:creationId xmlns:a16="http://schemas.microsoft.com/office/drawing/2014/main" id="{5C71CF1D-54F3-4FFD-AA49-0BFB5B965FC3}"/>
              </a:ext>
            </a:extLst>
          </p:cNvPr>
          <p:cNvSpPr>
            <a:spLocks noGrp="1"/>
          </p:cNvSpPr>
          <p:nvPr/>
        </p:nvSpPr>
        <p:spPr>
          <a:xfrm>
            <a:off x="1143000" y="2562225"/>
            <a:ext cx="9906000" cy="9525"/>
          </a:xfrm>
          <a:prstGeom prst="rect">
            <a:avLst/>
          </a:prstGeom>
          <a:solidFill>
            <a:srgbClr val="D7E4ED"/>
          </a:solidFill>
          <a:ln w="0">
            <a:noFill/>
          </a:ln>
        </p:spPr>
      </p:sp>
      <p:sp>
        <p:nvSpPr>
          <p:cNvPr id="10" name="矩形 9">
            <a:extLst>
              <a:ext uri="{FF2B5EF4-FFF2-40B4-BE49-F238E27FC236}">
                <a16:creationId xmlns:a16="http://schemas.microsoft.com/office/drawing/2014/main" id="{A02B066A-7296-4E5F-96F4-2DDD52A1EE77}"/>
              </a:ext>
            </a:extLst>
          </p:cNvPr>
          <p:cNvSpPr>
            <a:spLocks noGrp="1"/>
          </p:cNvSpPr>
          <p:nvPr/>
        </p:nvSpPr>
        <p:spPr>
          <a:xfrm>
            <a:off x="590550" y="2676525"/>
            <a:ext cx="428625"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02</a:t>
            </a:r>
          </a:p>
        </p:txBody>
      </p:sp>
      <p:sp>
        <p:nvSpPr>
          <p:cNvPr id="11" name="矩形 10">
            <a:extLst>
              <a:ext uri="{FF2B5EF4-FFF2-40B4-BE49-F238E27FC236}">
                <a16:creationId xmlns:a16="http://schemas.microsoft.com/office/drawing/2014/main" id="{3C7E3871-3798-4D3E-9F10-84C12358F7B8}"/>
              </a:ext>
            </a:extLst>
          </p:cNvPr>
          <p:cNvSpPr>
            <a:spLocks noGrp="1"/>
          </p:cNvSpPr>
          <p:nvPr/>
        </p:nvSpPr>
        <p:spPr>
          <a:xfrm>
            <a:off x="1143000" y="2657475"/>
            <a:ext cx="6858000" cy="438150"/>
          </a:xfrm>
          <a:prstGeom prst="rect">
            <a:avLst/>
          </a:prstGeom>
          <a:noFill/>
          <a:ln w="0">
            <a:noFill/>
          </a:ln>
        </p:spPr>
        <p:txBody>
          <a:bodyPr lIns="0" tIns="0" rIns="0" bIns="0" anchor="t">
            <a:normAutofit/>
          </a:bodyPr>
          <a:lstStyle/>
          <a:p>
            <a:pPr algn="l">
              <a:defRPr sz="1425" b="1">
                <a:solidFill>
                  <a:srgbClr val="092445"/>
                </a:solidFill>
                <a:latin typeface="Aptos"/>
                <a:ea typeface="Aptos"/>
                <a:cs typeface="Aptos"/>
              </a:defRPr>
            </a:pPr>
            <a:r>
              <a:rPr sz="1425" b="1">
                <a:solidFill>
                  <a:srgbClr val="092445"/>
                </a:solidFill>
                <a:latin typeface="Aptos"/>
                <a:ea typeface="Aptos"/>
                <a:cs typeface="Aptos"/>
              </a:rPr>
              <a:t>A study on prompt design, advantages and limitations of ChatGPT for deep learning program repair</a:t>
            </a:r>
          </a:p>
        </p:txBody>
      </p:sp>
      <p:sp>
        <p:nvSpPr>
          <p:cNvPr id="12" name="矩形 11">
            <a:extLst>
              <a:ext uri="{FF2B5EF4-FFF2-40B4-BE49-F238E27FC236}">
                <a16:creationId xmlns:a16="http://schemas.microsoft.com/office/drawing/2014/main" id="{14B046CF-33CF-4538-8A40-466042AF5063}"/>
              </a:ext>
            </a:extLst>
          </p:cNvPr>
          <p:cNvSpPr>
            <a:spLocks noGrp="1"/>
          </p:cNvSpPr>
          <p:nvPr/>
        </p:nvSpPr>
        <p:spPr>
          <a:xfrm>
            <a:off x="1143000" y="3133725"/>
            <a:ext cx="6858000" cy="26670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a:solidFill>
                  <a:srgbClr val="5E7389"/>
                </a:solidFill>
                <a:latin typeface="Aptos"/>
                <a:ea typeface="Aptos"/>
                <a:cs typeface="Aptos"/>
              </a:rPr>
              <a:t>Automated Software Engineering · 2025 · First author · CCF B</a:t>
            </a:r>
          </a:p>
        </p:txBody>
      </p:sp>
      <p:sp>
        <p:nvSpPr>
          <p:cNvPr id="13" name="矩形 12">
            <a:extLst>
              <a:ext uri="{FF2B5EF4-FFF2-40B4-BE49-F238E27FC236}">
                <a16:creationId xmlns:a16="http://schemas.microsoft.com/office/drawing/2014/main" id="{E6003D41-E0EA-4001-81FF-3670A3CFCF68}"/>
              </a:ext>
            </a:extLst>
          </p:cNvPr>
          <p:cNvSpPr>
            <a:spLocks noGrp="1"/>
          </p:cNvSpPr>
          <p:nvPr/>
        </p:nvSpPr>
        <p:spPr>
          <a:xfrm>
            <a:off x="1143000" y="3419475"/>
            <a:ext cx="6858000" cy="238125"/>
          </a:xfrm>
          <a:prstGeom prst="rect">
            <a:avLst/>
          </a:prstGeom>
          <a:noFill/>
          <a:ln w="0">
            <a:noFill/>
          </a:ln>
        </p:spPr>
        <p:txBody>
          <a:bodyPr lIns="0" tIns="0" rIns="0" bIns="0" anchor="t">
            <a:normAutofit/>
          </a:bodyPr>
          <a:lstStyle/>
          <a:p>
            <a:pPr algn="l">
              <a:defRPr sz="825" b="0">
                <a:solidFill>
                  <a:srgbClr val="1572B8"/>
                </a:solidFill>
                <a:latin typeface="Aptos"/>
                <a:ea typeface="Aptos"/>
                <a:cs typeface="Aptos"/>
              </a:defRPr>
            </a:pPr>
            <a:r>
              <a:rPr sz="825" b="0">
                <a:solidFill>
                  <a:srgbClr val="1572B8"/>
                </a:solidFill>
                <a:latin typeface="Aptos"/>
                <a:ea typeface="Aptos"/>
                <a:cs typeface="Aptos"/>
              </a:rPr>
              <a:t>DOI  10.1007/s10515-025-00492-x</a:t>
            </a:r>
          </a:p>
        </p:txBody>
      </p:sp>
      <p:sp>
        <p:nvSpPr>
          <p:cNvPr id="14" name="矩形 13">
            <a:extLst>
              <a:ext uri="{FF2B5EF4-FFF2-40B4-BE49-F238E27FC236}">
                <a16:creationId xmlns:a16="http://schemas.microsoft.com/office/drawing/2014/main" id="{E707589C-D7A8-432C-B531-7FEC31C87B5C}"/>
              </a:ext>
            </a:extLst>
          </p:cNvPr>
          <p:cNvSpPr>
            <a:spLocks noGrp="1"/>
          </p:cNvSpPr>
          <p:nvPr/>
        </p:nvSpPr>
        <p:spPr>
          <a:xfrm>
            <a:off x="8572500" y="2695575"/>
            <a:ext cx="2476500" cy="800100"/>
          </a:xfrm>
          <a:prstGeom prst="rect">
            <a:avLst/>
          </a:prstGeom>
          <a:noFill/>
          <a:ln w="0">
            <a:noFill/>
          </a:ln>
        </p:spPr>
        <p:txBody>
          <a:bodyPr lIns="0" tIns="0" rIns="0" bIns="0" anchor="t">
            <a:normAutofit/>
          </a:bodyPr>
          <a:lstStyle/>
          <a:p>
            <a:pPr algn="r">
              <a:defRPr sz="1275" b="1">
                <a:solidFill>
                  <a:srgbClr val="1572B8"/>
                </a:solidFill>
                <a:latin typeface="Aptos"/>
                <a:ea typeface="Aptos"/>
                <a:cs typeface="Aptos"/>
              </a:defRPr>
            </a:pPr>
            <a:r>
              <a:rPr sz="1275" b="1">
                <a:solidFill>
                  <a:srgbClr val="1572B8"/>
                </a:solidFill>
                <a:latin typeface="Aptos"/>
                <a:ea typeface="Aptos"/>
                <a:cs typeface="Aptos"/>
              </a:rPr>
              <a:t>32 Citations</a:t>
            </a:r>
          </a:p>
        </p:txBody>
      </p:sp>
      <p:sp>
        <p:nvSpPr>
          <p:cNvPr id="15" name="矩形 14">
            <a:extLst>
              <a:ext uri="{FF2B5EF4-FFF2-40B4-BE49-F238E27FC236}">
                <a16:creationId xmlns:a16="http://schemas.microsoft.com/office/drawing/2014/main" id="{C36E94D7-043C-4913-A0D4-F0B3AACDD407}"/>
              </a:ext>
            </a:extLst>
          </p:cNvPr>
          <p:cNvSpPr>
            <a:spLocks noGrp="1"/>
          </p:cNvSpPr>
          <p:nvPr/>
        </p:nvSpPr>
        <p:spPr>
          <a:xfrm>
            <a:off x="1143000" y="3733800"/>
            <a:ext cx="9906000" cy="9525"/>
          </a:xfrm>
          <a:prstGeom prst="rect">
            <a:avLst/>
          </a:prstGeom>
          <a:solidFill>
            <a:srgbClr val="D7E4ED"/>
          </a:solidFill>
          <a:ln w="0">
            <a:noFill/>
          </a:ln>
        </p:spPr>
      </p:sp>
      <p:sp>
        <p:nvSpPr>
          <p:cNvPr id="16" name="矩形 15">
            <a:extLst>
              <a:ext uri="{FF2B5EF4-FFF2-40B4-BE49-F238E27FC236}">
                <a16:creationId xmlns:a16="http://schemas.microsoft.com/office/drawing/2014/main" id="{46A0E7B6-B9C7-4DD5-804A-0A23FB4C1BD2}"/>
              </a:ext>
            </a:extLst>
          </p:cNvPr>
          <p:cNvSpPr>
            <a:spLocks noGrp="1"/>
          </p:cNvSpPr>
          <p:nvPr/>
        </p:nvSpPr>
        <p:spPr>
          <a:xfrm>
            <a:off x="590550" y="3848100"/>
            <a:ext cx="428625"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03</a:t>
            </a:r>
          </a:p>
        </p:txBody>
      </p:sp>
      <p:sp>
        <p:nvSpPr>
          <p:cNvPr id="17" name="矩形 16">
            <a:extLst>
              <a:ext uri="{FF2B5EF4-FFF2-40B4-BE49-F238E27FC236}">
                <a16:creationId xmlns:a16="http://schemas.microsoft.com/office/drawing/2014/main" id="{0C3783C7-1271-400E-95B7-1D2D39E447BD}"/>
              </a:ext>
            </a:extLst>
          </p:cNvPr>
          <p:cNvSpPr>
            <a:spLocks noGrp="1"/>
          </p:cNvSpPr>
          <p:nvPr/>
        </p:nvSpPr>
        <p:spPr>
          <a:xfrm>
            <a:off x="1143000" y="3829050"/>
            <a:ext cx="6858000" cy="438150"/>
          </a:xfrm>
          <a:prstGeom prst="rect">
            <a:avLst/>
          </a:prstGeom>
          <a:noFill/>
          <a:ln w="0">
            <a:noFill/>
          </a:ln>
        </p:spPr>
        <p:txBody>
          <a:bodyPr lIns="0" tIns="0" rIns="0" bIns="0" anchor="t">
            <a:normAutofit/>
          </a:bodyPr>
          <a:lstStyle/>
          <a:p>
            <a:pPr algn="l">
              <a:defRPr sz="1425" b="1">
                <a:solidFill>
                  <a:srgbClr val="092445"/>
                </a:solidFill>
                <a:latin typeface="Aptos"/>
                <a:ea typeface="Aptos"/>
                <a:cs typeface="Aptos"/>
              </a:defRPr>
            </a:pPr>
            <a:r>
              <a:rPr sz="1425" b="1">
                <a:solidFill>
                  <a:srgbClr val="092445"/>
                </a:solidFill>
                <a:latin typeface="Aptos"/>
                <a:ea typeface="Aptos"/>
                <a:cs typeface="Aptos"/>
              </a:rPr>
              <a:t>Javabench: A benchmark of object-oriented code generation for evaluating large language models</a:t>
            </a:r>
          </a:p>
        </p:txBody>
      </p:sp>
      <p:sp>
        <p:nvSpPr>
          <p:cNvPr id="18" name="矩形 17">
            <a:extLst>
              <a:ext uri="{FF2B5EF4-FFF2-40B4-BE49-F238E27FC236}">
                <a16:creationId xmlns:a16="http://schemas.microsoft.com/office/drawing/2014/main" id="{58FADE63-079C-498E-853A-F4D543BCF2F2}"/>
              </a:ext>
            </a:extLst>
          </p:cNvPr>
          <p:cNvSpPr>
            <a:spLocks noGrp="1"/>
          </p:cNvSpPr>
          <p:nvPr/>
        </p:nvSpPr>
        <p:spPr>
          <a:xfrm>
            <a:off x="1143000" y="4305300"/>
            <a:ext cx="6858000" cy="26670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a:solidFill>
                  <a:srgbClr val="5E7389"/>
                </a:solidFill>
                <a:latin typeface="Aptos"/>
                <a:ea typeface="Aptos"/>
                <a:cs typeface="Aptos"/>
              </a:rPr>
              <a:t>Proceedings of the 39th IEEE/ACM International Conference on Automated Software… · 2024 · First author · CCF A</a:t>
            </a:r>
          </a:p>
        </p:txBody>
      </p:sp>
      <p:sp>
        <p:nvSpPr>
          <p:cNvPr id="19" name="矩形 18">
            <a:extLst>
              <a:ext uri="{FF2B5EF4-FFF2-40B4-BE49-F238E27FC236}">
                <a16:creationId xmlns:a16="http://schemas.microsoft.com/office/drawing/2014/main" id="{3D3A4379-4D8A-4BE0-A391-072F55184E21}"/>
              </a:ext>
            </a:extLst>
          </p:cNvPr>
          <p:cNvSpPr>
            <a:spLocks noGrp="1"/>
          </p:cNvSpPr>
          <p:nvPr/>
        </p:nvSpPr>
        <p:spPr>
          <a:xfrm>
            <a:off x="1143000" y="4591050"/>
            <a:ext cx="6858000" cy="238125"/>
          </a:xfrm>
          <a:prstGeom prst="rect">
            <a:avLst/>
          </a:prstGeom>
          <a:noFill/>
          <a:ln w="0">
            <a:noFill/>
          </a:ln>
        </p:spPr>
        <p:txBody>
          <a:bodyPr lIns="0" tIns="0" rIns="0" bIns="0" anchor="t">
            <a:normAutofit/>
          </a:bodyPr>
          <a:lstStyle/>
          <a:p>
            <a:pPr algn="l">
              <a:defRPr sz="825" b="0">
                <a:solidFill>
                  <a:srgbClr val="1572B8"/>
                </a:solidFill>
                <a:latin typeface="Aptos"/>
                <a:ea typeface="Aptos"/>
                <a:cs typeface="Aptos"/>
              </a:defRPr>
            </a:pPr>
            <a:r>
              <a:rPr sz="825" b="0">
                <a:solidFill>
                  <a:srgbClr val="1572B8"/>
                </a:solidFill>
                <a:latin typeface="Aptos"/>
                <a:ea typeface="Aptos"/>
                <a:cs typeface="Aptos"/>
              </a:rPr>
              <a:t>DOI  10.1145/3691620.3695470</a:t>
            </a:r>
          </a:p>
        </p:txBody>
      </p:sp>
      <p:sp>
        <p:nvSpPr>
          <p:cNvPr id="20" name="矩形 19">
            <a:extLst>
              <a:ext uri="{FF2B5EF4-FFF2-40B4-BE49-F238E27FC236}">
                <a16:creationId xmlns:a16="http://schemas.microsoft.com/office/drawing/2014/main" id="{9BD00301-4495-4F6B-BB5C-5D099307868F}"/>
              </a:ext>
            </a:extLst>
          </p:cNvPr>
          <p:cNvSpPr>
            <a:spLocks noGrp="1"/>
          </p:cNvSpPr>
          <p:nvPr/>
        </p:nvSpPr>
        <p:spPr>
          <a:xfrm>
            <a:off x="8572500" y="3867150"/>
            <a:ext cx="2476500" cy="800100"/>
          </a:xfrm>
          <a:prstGeom prst="rect">
            <a:avLst/>
          </a:prstGeom>
          <a:noFill/>
          <a:ln w="0">
            <a:noFill/>
          </a:ln>
        </p:spPr>
        <p:txBody>
          <a:bodyPr lIns="0" tIns="0" rIns="0" bIns="0" anchor="t">
            <a:normAutofit/>
          </a:bodyPr>
          <a:lstStyle/>
          <a:p>
            <a:pPr algn="r">
              <a:defRPr sz="1275" b="1">
                <a:solidFill>
                  <a:srgbClr val="1572B8"/>
                </a:solidFill>
                <a:latin typeface="Aptos"/>
                <a:ea typeface="Aptos"/>
                <a:cs typeface="Aptos"/>
              </a:defRPr>
            </a:pPr>
            <a:r>
              <a:rPr sz="1275" b="1">
                <a:solidFill>
                  <a:srgbClr val="1572B8"/>
                </a:solidFill>
                <a:latin typeface="Aptos"/>
                <a:ea typeface="Aptos"/>
                <a:cs typeface="Aptos"/>
              </a:rPr>
              <a:t>11 Citations</a:t>
            </a:r>
          </a:p>
        </p:txBody>
      </p:sp>
      <p:sp>
        <p:nvSpPr>
          <p:cNvPr id="21" name="矩形 20">
            <a:extLst>
              <a:ext uri="{FF2B5EF4-FFF2-40B4-BE49-F238E27FC236}">
                <a16:creationId xmlns:a16="http://schemas.microsoft.com/office/drawing/2014/main" id="{415FF368-A447-4489-80D7-E76BE067AE29}"/>
              </a:ext>
            </a:extLst>
          </p:cNvPr>
          <p:cNvSpPr>
            <a:spLocks noGrp="1"/>
          </p:cNvSpPr>
          <p:nvPr/>
        </p:nvSpPr>
        <p:spPr>
          <a:xfrm>
            <a:off x="1143000" y="4905375"/>
            <a:ext cx="9906000" cy="9525"/>
          </a:xfrm>
          <a:prstGeom prst="rect">
            <a:avLst/>
          </a:prstGeom>
          <a:solidFill>
            <a:srgbClr val="D7E4ED"/>
          </a:solidFill>
          <a:ln w="0">
            <a:noFill/>
          </a:ln>
        </p:spPr>
      </p:sp>
      <p:sp>
        <p:nvSpPr>
          <p:cNvPr id="22" name="矩形 21">
            <a:extLst>
              <a:ext uri="{FF2B5EF4-FFF2-40B4-BE49-F238E27FC236}">
                <a16:creationId xmlns:a16="http://schemas.microsoft.com/office/drawing/2014/main" id="{1FB656B5-72FB-48BA-BE20-CDE84BD0546F}"/>
              </a:ext>
            </a:extLst>
          </p:cNvPr>
          <p:cNvSpPr>
            <a:spLocks noGrp="1"/>
          </p:cNvSpPr>
          <p:nvPr/>
        </p:nvSpPr>
        <p:spPr>
          <a:xfrm>
            <a:off x="590550" y="5019675"/>
            <a:ext cx="428625"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04</a:t>
            </a:r>
          </a:p>
        </p:txBody>
      </p:sp>
      <p:sp>
        <p:nvSpPr>
          <p:cNvPr id="23" name="矩形 22">
            <a:extLst>
              <a:ext uri="{FF2B5EF4-FFF2-40B4-BE49-F238E27FC236}">
                <a16:creationId xmlns:a16="http://schemas.microsoft.com/office/drawing/2014/main" id="{F18D9FCD-7E2A-414F-86A2-2B859B1B8072}"/>
              </a:ext>
            </a:extLst>
          </p:cNvPr>
          <p:cNvSpPr>
            <a:spLocks noGrp="1"/>
          </p:cNvSpPr>
          <p:nvPr/>
        </p:nvSpPr>
        <p:spPr>
          <a:xfrm>
            <a:off x="1143000" y="5000625"/>
            <a:ext cx="6858000" cy="438150"/>
          </a:xfrm>
          <a:prstGeom prst="rect">
            <a:avLst/>
          </a:prstGeom>
          <a:noFill/>
          <a:ln w="0">
            <a:noFill/>
          </a:ln>
        </p:spPr>
        <p:txBody>
          <a:bodyPr lIns="0" tIns="0" rIns="0" bIns="0" anchor="t">
            <a:normAutofit/>
          </a:bodyPr>
          <a:lstStyle/>
          <a:p>
            <a:pPr algn="l">
              <a:defRPr sz="1425" b="1">
                <a:solidFill>
                  <a:srgbClr val="092445"/>
                </a:solidFill>
                <a:latin typeface="Aptos"/>
                <a:ea typeface="Aptos"/>
                <a:cs typeface="Aptos"/>
              </a:defRPr>
            </a:pPr>
            <a:r>
              <a:rPr sz="1425" b="1">
                <a:solidFill>
                  <a:srgbClr val="092445"/>
                </a:solidFill>
                <a:latin typeface="Aptos"/>
                <a:ea typeface="Aptos"/>
                <a:cs typeface="Aptos"/>
              </a:rPr>
              <a:t>CRUXEVAL-X: A Benchmark for Multilingual Code Reasoning, Understanding and Execution</a:t>
            </a:r>
          </a:p>
        </p:txBody>
      </p:sp>
      <p:sp>
        <p:nvSpPr>
          <p:cNvPr id="24" name="矩形 23">
            <a:extLst>
              <a:ext uri="{FF2B5EF4-FFF2-40B4-BE49-F238E27FC236}">
                <a16:creationId xmlns:a16="http://schemas.microsoft.com/office/drawing/2014/main" id="{C93FBF04-43AB-4247-B742-40BD0B4126E7}"/>
              </a:ext>
            </a:extLst>
          </p:cNvPr>
          <p:cNvSpPr>
            <a:spLocks noGrp="1"/>
          </p:cNvSpPr>
          <p:nvPr/>
        </p:nvSpPr>
        <p:spPr>
          <a:xfrm>
            <a:off x="1143000" y="5476875"/>
            <a:ext cx="6858000" cy="266700"/>
          </a:xfrm>
          <a:prstGeom prst="rect">
            <a:avLst/>
          </a:prstGeom>
          <a:noFill/>
          <a:ln w="0">
            <a:noFill/>
          </a:ln>
        </p:spPr>
        <p:txBody>
          <a:bodyPr lIns="0" tIns="0" rIns="0" bIns="0" anchor="t">
            <a:normAutofit/>
          </a:bodyPr>
          <a:lstStyle/>
          <a:p>
            <a:pPr algn="l">
              <a:defRPr sz="1050" b="0">
                <a:solidFill>
                  <a:srgbClr val="5E7389"/>
                </a:solidFill>
                <a:latin typeface="Aptos"/>
                <a:ea typeface="Aptos"/>
                <a:cs typeface="Aptos"/>
              </a:defRPr>
            </a:pPr>
            <a:r>
              <a:rPr sz="1050" b="0">
                <a:solidFill>
                  <a:srgbClr val="5E7389"/>
                </a:solidFill>
                <a:latin typeface="Aptos"/>
                <a:ea typeface="Aptos"/>
                <a:cs typeface="Aptos"/>
              </a:rPr>
              <a:t>Proceedings of the 63rd Annual Meeting of the Association for Computational Lin… · 2025 · Co-first author · CCF A</a:t>
            </a:r>
          </a:p>
        </p:txBody>
      </p:sp>
      <p:sp>
        <p:nvSpPr>
          <p:cNvPr id="25" name="矩形 24">
            <a:extLst>
              <a:ext uri="{FF2B5EF4-FFF2-40B4-BE49-F238E27FC236}">
                <a16:creationId xmlns:a16="http://schemas.microsoft.com/office/drawing/2014/main" id="{1417E0C2-CC97-48D8-931C-F6BBCB1F1823}"/>
              </a:ext>
            </a:extLst>
          </p:cNvPr>
          <p:cNvSpPr>
            <a:spLocks noGrp="1"/>
          </p:cNvSpPr>
          <p:nvPr/>
        </p:nvSpPr>
        <p:spPr>
          <a:xfrm>
            <a:off x="1143000" y="5762625"/>
            <a:ext cx="6858000" cy="238125"/>
          </a:xfrm>
          <a:prstGeom prst="rect">
            <a:avLst/>
          </a:prstGeom>
          <a:noFill/>
          <a:ln w="0">
            <a:noFill/>
          </a:ln>
        </p:spPr>
        <p:txBody>
          <a:bodyPr lIns="0" tIns="0" rIns="0" bIns="0" anchor="t">
            <a:normAutofit/>
          </a:bodyPr>
          <a:lstStyle/>
          <a:p>
            <a:pPr algn="l">
              <a:defRPr sz="825" b="0">
                <a:solidFill>
                  <a:srgbClr val="1572B8"/>
                </a:solidFill>
                <a:latin typeface="Aptos"/>
                <a:ea typeface="Aptos"/>
                <a:cs typeface="Aptos"/>
              </a:defRPr>
            </a:pPr>
            <a:r>
              <a:rPr sz="825" b="0">
                <a:solidFill>
                  <a:srgbClr val="1572B8"/>
                </a:solidFill>
                <a:latin typeface="Aptos"/>
                <a:ea typeface="Aptos"/>
                <a:cs typeface="Aptos"/>
              </a:rPr>
              <a:t>DOI  10.18653/v1/2025.acl-long.1158</a:t>
            </a:r>
          </a:p>
        </p:txBody>
      </p:sp>
      <p:sp>
        <p:nvSpPr>
          <p:cNvPr id="26" name="矩形 25">
            <a:extLst>
              <a:ext uri="{FF2B5EF4-FFF2-40B4-BE49-F238E27FC236}">
                <a16:creationId xmlns:a16="http://schemas.microsoft.com/office/drawing/2014/main" id="{64DF8212-1FA9-40F3-8B8B-BA805DE069A0}"/>
              </a:ext>
            </a:extLst>
          </p:cNvPr>
          <p:cNvSpPr>
            <a:spLocks noGrp="1"/>
          </p:cNvSpPr>
          <p:nvPr/>
        </p:nvSpPr>
        <p:spPr>
          <a:xfrm>
            <a:off x="8572500" y="5038725"/>
            <a:ext cx="2476500" cy="800100"/>
          </a:xfrm>
          <a:prstGeom prst="rect">
            <a:avLst/>
          </a:prstGeom>
          <a:noFill/>
          <a:ln w="0">
            <a:noFill/>
          </a:ln>
        </p:spPr>
        <p:txBody>
          <a:bodyPr lIns="0" tIns="0" rIns="0" bIns="0" anchor="t">
            <a:normAutofit/>
          </a:bodyPr>
          <a:lstStyle/>
          <a:p>
            <a:pPr algn="r">
              <a:defRPr sz="1275" b="1">
                <a:solidFill>
                  <a:srgbClr val="1572B8"/>
                </a:solidFill>
                <a:latin typeface="Aptos"/>
                <a:ea typeface="Aptos"/>
                <a:cs typeface="Aptos"/>
              </a:defRPr>
            </a:pPr>
            <a:r>
              <a:rPr sz="1275" b="1">
                <a:solidFill>
                  <a:srgbClr val="1572B8"/>
                </a:solidFill>
                <a:latin typeface="Aptos"/>
                <a:ea typeface="Aptos"/>
                <a:cs typeface="Aptos"/>
              </a:rPr>
              <a:t>9 Citations</a:t>
            </a:r>
          </a:p>
        </p:txBody>
      </p:sp>
      <p:sp>
        <p:nvSpPr>
          <p:cNvPr id="27" name="矩形 26">
            <a:extLst>
              <a:ext uri="{FF2B5EF4-FFF2-40B4-BE49-F238E27FC236}">
                <a16:creationId xmlns:a16="http://schemas.microsoft.com/office/drawing/2014/main" id="{637BA371-EE94-4AFF-889B-1690D7662CB7}"/>
              </a:ext>
            </a:extLst>
          </p:cNvPr>
          <p:cNvSpPr>
            <a:spLocks noGrp="1"/>
          </p:cNvSpPr>
          <p:nvPr/>
        </p:nvSpPr>
        <p:spPr>
          <a:xfrm>
            <a:off x="552450" y="6515100"/>
            <a:ext cx="11087100" cy="171450"/>
          </a:xfrm>
          <a:prstGeom prst="rect">
            <a:avLst/>
          </a:prstGeom>
          <a:noFill/>
          <a:ln w="0">
            <a:noFill/>
          </a:ln>
        </p:spPr>
        <p:txBody>
          <a:bodyPr lIns="0" tIns="0" rIns="0" bIns="0" anchor="t">
            <a:normAutofit/>
          </a:bodyPr>
          <a:lstStyle/>
          <a:p>
            <a:pPr algn="r">
              <a:defRPr sz="750" b="0">
                <a:solidFill>
                  <a:srgbClr val="5E7389"/>
                </a:solidFill>
                <a:latin typeface="Aptos"/>
                <a:ea typeface="Aptos"/>
                <a:cs typeface="Aptos"/>
              </a:defRPr>
            </a:pPr>
            <a:r>
              <a:rPr sz="750" b="0">
                <a:solidFill>
                  <a:srgbClr val="5E7389"/>
                </a:solidFill>
                <a:latin typeface="Aptos"/>
                <a:ea typeface="Aptos"/>
                <a:cs typeface="Aptos"/>
              </a:rPr>
              <a:t>REVIEW MEETING BRIEF · CAND-001 · 4</a:t>
            </a:r>
          </a:p>
        </p:txBody>
      </p:sp>
    </p:spTree>
    <p:extLst>
      <p:ext uri="{BB962C8B-B14F-4D97-AF65-F5344CB8AC3E}">
        <p14:creationId xmlns:p14="http://schemas.microsoft.com/office/powerpoint/2010/main" val="488701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60923E3-E26A-4D2E-A335-714E6EDEF8CD}"/>
              </a:ext>
            </a:extLst>
          </p:cNvPr>
          <p:cNvSpPr>
            <a:spLocks noGrp="1"/>
          </p:cNvSpPr>
          <p:nvPr/>
        </p:nvSpPr>
        <p:spPr>
          <a:xfrm>
            <a:off x="552450" y="323850"/>
            <a:ext cx="4095750" cy="266700"/>
          </a:xfrm>
          <a:prstGeom prst="rect">
            <a:avLst/>
          </a:prstGeom>
          <a:noFill/>
          <a:ln w="0">
            <a:noFill/>
          </a:ln>
        </p:spPr>
        <p:txBody>
          <a:bodyPr lIns="0" tIns="0" rIns="0" bIns="0" anchor="t">
            <a:normAutofit/>
          </a:bodyPr>
          <a:lstStyle/>
          <a:p>
            <a:pPr algn="l">
              <a:defRPr sz="1050" b="1">
                <a:solidFill>
                  <a:srgbClr val="1572B8"/>
                </a:solidFill>
                <a:latin typeface="Aptos"/>
                <a:ea typeface="Aptos"/>
                <a:cs typeface="Aptos"/>
              </a:defRPr>
            </a:pPr>
            <a:r>
              <a:rPr sz="1050" b="1">
                <a:solidFill>
                  <a:srgbClr val="1572B8"/>
                </a:solidFill>
                <a:latin typeface="Aptos"/>
                <a:ea typeface="Aptos"/>
                <a:cs typeface="Aptos"/>
              </a:rPr>
              <a:t>COMMITTEE DISCUSSION</a:t>
            </a:r>
          </a:p>
        </p:txBody>
      </p:sp>
      <p:sp>
        <p:nvSpPr>
          <p:cNvPr id="2" name="矩形 1">
            <a:extLst>
              <a:ext uri="{FF2B5EF4-FFF2-40B4-BE49-F238E27FC236}">
                <a16:creationId xmlns:a16="http://schemas.microsoft.com/office/drawing/2014/main" id="{639D6CFF-1277-45A8-AFA4-F2D63286FC9A}"/>
              </a:ext>
            </a:extLst>
          </p:cNvPr>
          <p:cNvSpPr>
            <a:spLocks noGrp="1"/>
          </p:cNvSpPr>
          <p:nvPr/>
        </p:nvSpPr>
        <p:spPr>
          <a:xfrm>
            <a:off x="552450" y="628650"/>
            <a:ext cx="10668000" cy="533400"/>
          </a:xfrm>
          <a:prstGeom prst="rect">
            <a:avLst/>
          </a:prstGeom>
          <a:noFill/>
          <a:ln w="0">
            <a:noFill/>
          </a:ln>
        </p:spPr>
        <p:txBody>
          <a:bodyPr lIns="0" tIns="0" rIns="0" bIns="0" anchor="t">
            <a:normAutofit/>
          </a:bodyPr>
          <a:lstStyle/>
          <a:p>
            <a:pPr algn="l">
              <a:defRPr sz="2700" b="1">
                <a:solidFill>
                  <a:srgbClr val="092445"/>
                </a:solidFill>
                <a:latin typeface="Aptos"/>
                <a:ea typeface="Aptos"/>
                <a:cs typeface="Aptos"/>
              </a:defRPr>
            </a:pPr>
            <a:r>
              <a:rPr sz="2700" b="1">
                <a:solidFill>
                  <a:srgbClr val="092445"/>
                </a:solidFill>
                <a:latin typeface="Aptos"/>
                <a:ea typeface="Aptos"/>
                <a:cs typeface="Aptos"/>
              </a:rPr>
              <a:t>Reviewer assessment</a:t>
            </a:r>
          </a:p>
        </p:txBody>
      </p:sp>
      <p:sp>
        <p:nvSpPr>
          <p:cNvPr id="3" name="矩形 2">
            <a:extLst>
              <a:ext uri="{FF2B5EF4-FFF2-40B4-BE49-F238E27FC236}">
                <a16:creationId xmlns:a16="http://schemas.microsoft.com/office/drawing/2014/main" id="{346A6E2D-90FA-433A-8C07-5B876E28257B}"/>
              </a:ext>
            </a:extLst>
          </p:cNvPr>
          <p:cNvSpPr>
            <a:spLocks noGrp="1"/>
          </p:cNvSpPr>
          <p:nvPr/>
        </p:nvSpPr>
        <p:spPr>
          <a:xfrm>
            <a:off x="552450" y="1257300"/>
            <a:ext cx="11087100" cy="19050"/>
          </a:xfrm>
          <a:prstGeom prst="rect">
            <a:avLst/>
          </a:prstGeom>
          <a:solidFill>
            <a:srgbClr val="D7E4ED"/>
          </a:solidFill>
          <a:ln w="0">
            <a:noFill/>
          </a:ln>
        </p:spPr>
      </p:sp>
      <p:sp>
        <p:nvSpPr>
          <p:cNvPr id="4" name="矩形 3">
            <a:extLst>
              <a:ext uri="{FF2B5EF4-FFF2-40B4-BE49-F238E27FC236}">
                <a16:creationId xmlns:a16="http://schemas.microsoft.com/office/drawing/2014/main" id="{348958B7-4E42-43A4-B876-B358AA5BEF2D}"/>
              </a:ext>
            </a:extLst>
          </p:cNvPr>
          <p:cNvSpPr>
            <a:spLocks noGrp="1"/>
          </p:cNvSpPr>
          <p:nvPr/>
        </p:nvSpPr>
        <p:spPr>
          <a:xfrm>
            <a:off x="590550" y="1543050"/>
            <a:ext cx="10763250" cy="1190625"/>
          </a:xfrm>
          <a:prstGeom prst="rect">
            <a:avLst/>
          </a:prstGeom>
          <a:noFill/>
          <a:ln w="0">
            <a:noFill/>
          </a:ln>
        </p:spPr>
        <p:txBody>
          <a:bodyPr lIns="0" tIns="0" rIns="0" bIns="0" anchor="t">
            <a:normAutofit fontScale="90011" lnSpcReduction="20000"/>
          </a:bodyPr>
          <a:lstStyle/>
          <a:p>
            <a:pPr algn="l">
              <a:defRPr sz="1725" b="0">
                <a:solidFill>
                  <a:srgbClr val="092445"/>
                </a:solidFill>
                <a:latin typeface="Aptos"/>
                <a:ea typeface="Aptos"/>
                <a:cs typeface="Aptos"/>
              </a:defRPr>
            </a:pPr>
            <a:r>
              <a:rPr sz="1725" b="0" dirty="0">
                <a:solidFill>
                  <a:srgbClr val="092445"/>
                </a:solidFill>
                <a:latin typeface="Aptos"/>
                <a:ea typeface="Aptos"/>
                <a:cs typeface="Aptos"/>
              </a:rPr>
              <a:t>The candidate presents a coherent and well-documented profile in software engineering, AI testing, and formal verification, with strong evidence of research productivity, teaching experience, and funding acquisition. The application materials are largely consistent, though some claims in the cover letter and research statement lack full support in the CV or are not independently verified. The teaching statement provides concrete metrics and student feedback, while the research statement outlines a clear agenda with specific contributions. Cross-document consistency is generally high, but a few discrepancies and unsupported claims warrant </a:t>
            </a:r>
            <a:r>
              <a:rPr sz="1725" b="0" dirty="0" err="1">
                <a:solidFill>
                  <a:srgbClr val="092445"/>
                </a:solidFill>
                <a:latin typeface="Aptos"/>
                <a:ea typeface="Aptos"/>
                <a:cs typeface="Aptos"/>
              </a:rPr>
              <a:t>att</a:t>
            </a:r>
            <a:r>
              <a:rPr sz="1725" b="0" dirty="0">
                <a:solidFill>
                  <a:srgbClr val="092445"/>
                </a:solidFill>
                <a:latin typeface="Aptos"/>
                <a:ea typeface="Aptos"/>
                <a:cs typeface="Aptos"/>
              </a:rPr>
              <a:t>…</a:t>
            </a:r>
          </a:p>
        </p:txBody>
      </p:sp>
      <p:sp>
        <p:nvSpPr>
          <p:cNvPr id="5" name="矩形 4">
            <a:extLst>
              <a:ext uri="{FF2B5EF4-FFF2-40B4-BE49-F238E27FC236}">
                <a16:creationId xmlns:a16="http://schemas.microsoft.com/office/drawing/2014/main" id="{47753185-0395-4138-B8D2-E8450243975B}"/>
              </a:ext>
            </a:extLst>
          </p:cNvPr>
          <p:cNvSpPr>
            <a:spLocks noGrp="1"/>
          </p:cNvSpPr>
          <p:nvPr/>
        </p:nvSpPr>
        <p:spPr>
          <a:xfrm>
            <a:off x="601060" y="3033713"/>
            <a:ext cx="10763250" cy="38100"/>
          </a:xfrm>
          <a:prstGeom prst="rect">
            <a:avLst/>
          </a:prstGeom>
          <a:solidFill>
            <a:srgbClr val="1572B8"/>
          </a:solidFill>
          <a:ln w="0">
            <a:noFill/>
          </a:ln>
        </p:spPr>
      </p:sp>
      <p:sp>
        <p:nvSpPr>
          <p:cNvPr id="6" name="矩形 5">
            <a:extLst>
              <a:ext uri="{FF2B5EF4-FFF2-40B4-BE49-F238E27FC236}">
                <a16:creationId xmlns:a16="http://schemas.microsoft.com/office/drawing/2014/main" id="{052595CC-EE1C-4C15-B836-838D47E44C19}"/>
              </a:ext>
            </a:extLst>
          </p:cNvPr>
          <p:cNvSpPr>
            <a:spLocks noGrp="1"/>
          </p:cNvSpPr>
          <p:nvPr/>
        </p:nvSpPr>
        <p:spPr>
          <a:xfrm>
            <a:off x="590550" y="3219450"/>
            <a:ext cx="3238500" cy="381000"/>
          </a:xfrm>
          <a:prstGeom prst="rect">
            <a:avLst/>
          </a:prstGeom>
          <a:noFill/>
          <a:ln w="0">
            <a:noFill/>
          </a:ln>
        </p:spPr>
        <p:txBody>
          <a:bodyPr lIns="0" tIns="0" rIns="0" bIns="0" anchor="t">
            <a:normAutofit/>
          </a:bodyPr>
          <a:lstStyle/>
          <a:p>
            <a:pPr algn="l">
              <a:defRPr sz="1350" b="1">
                <a:solidFill>
                  <a:srgbClr val="1572B8"/>
                </a:solidFill>
                <a:latin typeface="Aptos"/>
                <a:ea typeface="Aptos"/>
                <a:cs typeface="Aptos"/>
              </a:defRPr>
            </a:pPr>
            <a:r>
              <a:rPr sz="1350" b="1">
                <a:solidFill>
                  <a:srgbClr val="1572B8"/>
                </a:solidFill>
                <a:latin typeface="Aptos"/>
                <a:ea typeface="Aptos"/>
                <a:cs typeface="Aptos"/>
              </a:rPr>
              <a:t>Research assessment</a:t>
            </a:r>
          </a:p>
        </p:txBody>
      </p:sp>
      <p:sp>
        <p:nvSpPr>
          <p:cNvPr id="7" name="矩形 6">
            <a:extLst>
              <a:ext uri="{FF2B5EF4-FFF2-40B4-BE49-F238E27FC236}">
                <a16:creationId xmlns:a16="http://schemas.microsoft.com/office/drawing/2014/main" id="{9DDF287B-F717-41ED-AAA3-07282157CD66}"/>
              </a:ext>
            </a:extLst>
          </p:cNvPr>
          <p:cNvSpPr>
            <a:spLocks noGrp="1"/>
          </p:cNvSpPr>
          <p:nvPr/>
        </p:nvSpPr>
        <p:spPr>
          <a:xfrm>
            <a:off x="590550" y="3714750"/>
            <a:ext cx="3238500" cy="2000250"/>
          </a:xfrm>
          <a:prstGeom prst="rect">
            <a:avLst/>
          </a:prstGeom>
          <a:noFill/>
          <a:ln w="0">
            <a:noFill/>
          </a:ln>
        </p:spPr>
        <p:txBody>
          <a:bodyPr lIns="0" tIns="0" rIns="0" bIns="0" anchor="t">
            <a:normAutofit/>
          </a:bodyPr>
          <a:lstStyle/>
          <a:p>
            <a:pPr algn="l">
              <a:defRPr sz="1200" b="0">
                <a:solidFill>
                  <a:srgbClr val="17324D"/>
                </a:solidFill>
                <a:latin typeface="Aptos"/>
                <a:ea typeface="Aptos"/>
                <a:cs typeface="Aptos"/>
              </a:defRPr>
            </a:pPr>
            <a:r>
              <a:rPr sz="1200" b="0">
                <a:solidFill>
                  <a:srgbClr val="17324D"/>
                </a:solidFill>
                <a:latin typeface="Aptos"/>
                <a:ea typeface="Aptos"/>
                <a:cs typeface="Aptos"/>
              </a:rPr>
              <a:t>The candidate has a strong research record in software engineering, AI testing, and formal verification, evidenced by first-author publications in top venues (ICSE, FSE, ASE, TOSEM, ACL, AAAI, CAV) and a 2025 ACM SIGSOFT Outstanding Doctoral Dissertation Award. The research statement articulates a focused ag…</a:t>
            </a:r>
          </a:p>
        </p:txBody>
      </p:sp>
      <p:sp>
        <p:nvSpPr>
          <p:cNvPr id="8" name="矩形 7">
            <a:extLst>
              <a:ext uri="{FF2B5EF4-FFF2-40B4-BE49-F238E27FC236}">
                <a16:creationId xmlns:a16="http://schemas.microsoft.com/office/drawing/2014/main" id="{A5498C92-DBAC-42D5-A98E-43BD29E1E725}"/>
              </a:ext>
            </a:extLst>
          </p:cNvPr>
          <p:cNvSpPr>
            <a:spLocks noGrp="1"/>
          </p:cNvSpPr>
          <p:nvPr/>
        </p:nvSpPr>
        <p:spPr>
          <a:xfrm>
            <a:off x="4229100" y="3219450"/>
            <a:ext cx="3238500" cy="381000"/>
          </a:xfrm>
          <a:prstGeom prst="rect">
            <a:avLst/>
          </a:prstGeom>
          <a:noFill/>
          <a:ln w="0">
            <a:noFill/>
          </a:ln>
        </p:spPr>
        <p:txBody>
          <a:bodyPr lIns="0" tIns="0" rIns="0" bIns="0" anchor="t">
            <a:normAutofit/>
          </a:bodyPr>
          <a:lstStyle/>
          <a:p>
            <a:pPr algn="l">
              <a:defRPr sz="1350" b="1">
                <a:solidFill>
                  <a:srgbClr val="7251B5"/>
                </a:solidFill>
                <a:latin typeface="Aptos"/>
                <a:ea typeface="Aptos"/>
                <a:cs typeface="Aptos"/>
              </a:defRPr>
            </a:pPr>
            <a:r>
              <a:rPr sz="1350" b="1">
                <a:solidFill>
                  <a:srgbClr val="7251B5"/>
                </a:solidFill>
                <a:latin typeface="Aptos"/>
                <a:ea typeface="Aptos"/>
                <a:cs typeface="Aptos"/>
              </a:rPr>
              <a:t>Teaching assessment</a:t>
            </a:r>
          </a:p>
        </p:txBody>
      </p:sp>
      <p:sp>
        <p:nvSpPr>
          <p:cNvPr id="9" name="矩形 8">
            <a:extLst>
              <a:ext uri="{FF2B5EF4-FFF2-40B4-BE49-F238E27FC236}">
                <a16:creationId xmlns:a16="http://schemas.microsoft.com/office/drawing/2014/main" id="{CC8D0343-8407-4EAF-854C-63A2A1E5E38C}"/>
              </a:ext>
            </a:extLst>
          </p:cNvPr>
          <p:cNvSpPr>
            <a:spLocks noGrp="1"/>
          </p:cNvSpPr>
          <p:nvPr/>
        </p:nvSpPr>
        <p:spPr>
          <a:xfrm>
            <a:off x="4229100" y="3714750"/>
            <a:ext cx="3238500" cy="2000250"/>
          </a:xfrm>
          <a:prstGeom prst="rect">
            <a:avLst/>
          </a:prstGeom>
          <a:noFill/>
          <a:ln w="0">
            <a:noFill/>
          </a:ln>
        </p:spPr>
        <p:txBody>
          <a:bodyPr lIns="0" tIns="0" rIns="0" bIns="0" anchor="t">
            <a:normAutofit/>
          </a:bodyPr>
          <a:lstStyle/>
          <a:p>
            <a:pPr algn="l">
              <a:defRPr sz="1200" b="0">
                <a:solidFill>
                  <a:srgbClr val="17324D"/>
                </a:solidFill>
                <a:latin typeface="Aptos"/>
                <a:ea typeface="Aptos"/>
                <a:cs typeface="Aptos"/>
              </a:defRPr>
            </a:pPr>
            <a:r>
              <a:rPr sz="1200" b="0">
                <a:solidFill>
                  <a:srgbClr val="17324D"/>
                </a:solidFill>
                <a:latin typeface="Aptos"/>
                <a:ea typeface="Aptos"/>
                <a:cs typeface="Aptos"/>
              </a:rPr>
              <a:t>The teaching statement provides concrete evidence of teaching effectiveness, including instructor roles for COMP1021 (110 students) and a Nankai University guest course (228 students), with evaluation scores (4.22/5) above course and university averages. Student feedback and attendance metrics support engage…</a:t>
            </a:r>
          </a:p>
        </p:txBody>
      </p:sp>
      <p:sp>
        <p:nvSpPr>
          <p:cNvPr id="10" name="矩形 9">
            <a:extLst>
              <a:ext uri="{FF2B5EF4-FFF2-40B4-BE49-F238E27FC236}">
                <a16:creationId xmlns:a16="http://schemas.microsoft.com/office/drawing/2014/main" id="{0493902A-05E6-48E5-BDEF-64786653E2B3}"/>
              </a:ext>
            </a:extLst>
          </p:cNvPr>
          <p:cNvSpPr>
            <a:spLocks noGrp="1"/>
          </p:cNvSpPr>
          <p:nvPr/>
        </p:nvSpPr>
        <p:spPr>
          <a:xfrm>
            <a:off x="7867650" y="3219450"/>
            <a:ext cx="3238500" cy="381000"/>
          </a:xfrm>
          <a:prstGeom prst="rect">
            <a:avLst/>
          </a:prstGeom>
          <a:noFill/>
          <a:ln w="0">
            <a:noFill/>
          </a:ln>
        </p:spPr>
        <p:txBody>
          <a:bodyPr lIns="0" tIns="0" rIns="0" bIns="0" anchor="t">
            <a:normAutofit/>
          </a:bodyPr>
          <a:lstStyle/>
          <a:p>
            <a:pPr algn="l">
              <a:defRPr sz="1350" b="1">
                <a:solidFill>
                  <a:srgbClr val="2A9D8F"/>
                </a:solidFill>
                <a:latin typeface="Aptos"/>
                <a:ea typeface="Aptos"/>
                <a:cs typeface="Aptos"/>
              </a:defRPr>
            </a:pPr>
            <a:r>
              <a:rPr sz="1350" b="1">
                <a:solidFill>
                  <a:srgbClr val="2A9D8F"/>
                </a:solidFill>
                <a:latin typeface="Aptos"/>
                <a:ea typeface="Aptos"/>
                <a:cs typeface="Aptos"/>
              </a:rPr>
              <a:t>Application narrative</a:t>
            </a:r>
          </a:p>
        </p:txBody>
      </p:sp>
      <p:sp>
        <p:nvSpPr>
          <p:cNvPr id="11" name="矩形 10">
            <a:extLst>
              <a:ext uri="{FF2B5EF4-FFF2-40B4-BE49-F238E27FC236}">
                <a16:creationId xmlns:a16="http://schemas.microsoft.com/office/drawing/2014/main" id="{E2742649-6D1D-43A9-8313-A827D8BC6CAC}"/>
              </a:ext>
            </a:extLst>
          </p:cNvPr>
          <p:cNvSpPr>
            <a:spLocks noGrp="1"/>
          </p:cNvSpPr>
          <p:nvPr/>
        </p:nvSpPr>
        <p:spPr>
          <a:xfrm>
            <a:off x="7867650" y="3714750"/>
            <a:ext cx="3238500" cy="2000250"/>
          </a:xfrm>
          <a:prstGeom prst="rect">
            <a:avLst/>
          </a:prstGeom>
          <a:noFill/>
          <a:ln w="0">
            <a:noFill/>
          </a:ln>
        </p:spPr>
        <p:txBody>
          <a:bodyPr lIns="0" tIns="0" rIns="0" bIns="0" anchor="t">
            <a:normAutofit/>
          </a:bodyPr>
          <a:lstStyle/>
          <a:p>
            <a:pPr algn="l">
              <a:defRPr sz="1200" b="0">
                <a:solidFill>
                  <a:srgbClr val="17324D"/>
                </a:solidFill>
                <a:latin typeface="Aptos"/>
                <a:ea typeface="Aptos"/>
                <a:cs typeface="Aptos"/>
              </a:defRPr>
            </a:pPr>
            <a:r>
              <a:rPr sz="1200" b="0">
                <a:solidFill>
                  <a:srgbClr val="17324D"/>
                </a:solidFill>
                <a:latin typeface="Aptos"/>
                <a:ea typeface="Aptos"/>
                <a:cs typeface="Aptos"/>
              </a:rPr>
              <a:t>The cover letter effectively highlights the candidate's research productivity, teaching experience, funding, and awards, aligning them with the target institution's goals. It provides specific metrics (e.g., 31 publications, HK$2.89 million in funding) and emphasizes prestigious awards. However, the letter's…</a:t>
            </a:r>
          </a:p>
        </p:txBody>
      </p:sp>
      <p:sp>
        <p:nvSpPr>
          <p:cNvPr id="12" name="矩形 11">
            <a:extLst>
              <a:ext uri="{FF2B5EF4-FFF2-40B4-BE49-F238E27FC236}">
                <a16:creationId xmlns:a16="http://schemas.microsoft.com/office/drawing/2014/main" id="{D30D81C2-7357-4BE3-81B5-2CBB5EEFC97D}"/>
              </a:ext>
            </a:extLst>
          </p:cNvPr>
          <p:cNvSpPr>
            <a:spLocks noGrp="1"/>
          </p:cNvSpPr>
          <p:nvPr/>
        </p:nvSpPr>
        <p:spPr>
          <a:xfrm>
            <a:off x="590550" y="6048375"/>
            <a:ext cx="10763250" cy="266700"/>
          </a:xfrm>
          <a:prstGeom prst="rect">
            <a:avLst/>
          </a:prstGeom>
          <a:noFill/>
          <a:ln w="0">
            <a:noFill/>
          </a:ln>
        </p:spPr>
        <p:txBody>
          <a:bodyPr lIns="0" tIns="0" rIns="0" bIns="0" anchor="t">
            <a:normAutofit/>
          </a:bodyPr>
          <a:lstStyle/>
          <a:p>
            <a:pPr algn="l">
              <a:defRPr sz="900" b="0">
                <a:solidFill>
                  <a:srgbClr val="5E7389"/>
                </a:solidFill>
                <a:latin typeface="Aptos"/>
                <a:ea typeface="Aptos"/>
                <a:cs typeface="Aptos"/>
              </a:defRPr>
            </a:pPr>
            <a:r>
              <a:rPr sz="900" b="0">
                <a:solidFill>
                  <a:srgbClr val="5E7389"/>
                </a:solidFill>
                <a:latin typeface="Aptos"/>
                <a:ea typeface="Aptos"/>
                <a:cs typeface="Aptos"/>
              </a:rPr>
              <a:t>Discussion aid only. The deck does not contain a hiring recommendation or numerical score.</a:t>
            </a:r>
          </a:p>
        </p:txBody>
      </p:sp>
      <p:sp>
        <p:nvSpPr>
          <p:cNvPr id="13" name="矩形 12">
            <a:extLst>
              <a:ext uri="{FF2B5EF4-FFF2-40B4-BE49-F238E27FC236}">
                <a16:creationId xmlns:a16="http://schemas.microsoft.com/office/drawing/2014/main" id="{51316620-2489-4E3B-AFE8-88BB85BDDE0D}"/>
              </a:ext>
            </a:extLst>
          </p:cNvPr>
          <p:cNvSpPr>
            <a:spLocks noGrp="1"/>
          </p:cNvSpPr>
          <p:nvPr/>
        </p:nvSpPr>
        <p:spPr>
          <a:xfrm>
            <a:off x="552450" y="6515100"/>
            <a:ext cx="11087100" cy="171450"/>
          </a:xfrm>
          <a:prstGeom prst="rect">
            <a:avLst/>
          </a:prstGeom>
          <a:noFill/>
          <a:ln w="0">
            <a:noFill/>
          </a:ln>
        </p:spPr>
        <p:txBody>
          <a:bodyPr lIns="0" tIns="0" rIns="0" bIns="0" anchor="t">
            <a:normAutofit/>
          </a:bodyPr>
          <a:lstStyle/>
          <a:p>
            <a:pPr algn="r">
              <a:defRPr sz="750" b="0">
                <a:solidFill>
                  <a:srgbClr val="5E7389"/>
                </a:solidFill>
                <a:latin typeface="Aptos"/>
                <a:ea typeface="Aptos"/>
                <a:cs typeface="Aptos"/>
              </a:defRPr>
            </a:pPr>
            <a:r>
              <a:rPr sz="750" b="0">
                <a:solidFill>
                  <a:srgbClr val="5E7389"/>
                </a:solidFill>
                <a:latin typeface="Aptos"/>
                <a:ea typeface="Aptos"/>
                <a:cs typeface="Aptos"/>
              </a:rPr>
              <a:t>REVIEW MEETING BRIEF · CAND-001 · 7</a:t>
            </a:r>
          </a:p>
        </p:txBody>
      </p:sp>
    </p:spTree>
    <p:extLst>
      <p:ext uri="{BB962C8B-B14F-4D97-AF65-F5344CB8AC3E}">
        <p14:creationId xmlns:p14="http://schemas.microsoft.com/office/powerpoint/2010/main" val="1937400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96">
            <a:extLst>
              <a:ext uri="{FF2B5EF4-FFF2-40B4-BE49-F238E27FC236}">
                <a16:creationId xmlns:a16="http://schemas.microsoft.com/office/drawing/2014/main" id="{81BE3BBF-FAD3-4C28-BF72-4662F8EF0CA2}"/>
              </a:ext>
            </a:extLst>
          </p:cNvPr>
          <p:cNvSpPr>
            <a:spLocks noGrp="1"/>
          </p:cNvSpPr>
          <p:nvPr/>
        </p:nvSpPr>
        <p:spPr>
          <a:xfrm>
            <a:off x="1231900" y="1383770"/>
            <a:ext cx="8983133" cy="3984097"/>
          </a:xfrm>
          <a:prstGeom prst="rect">
            <a:avLst/>
          </a:prstGeom>
          <a:noFill/>
          <a:ln w="0">
            <a:noFill/>
          </a:ln>
        </p:spPr>
        <p:txBody>
          <a:bodyPr wrap="square" lIns="0" tIns="0" rIns="0" bIns="0" anchor="t">
            <a:noAutofit/>
          </a:bodyPr>
          <a:lstStyle/>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r>
              <a:rPr sz="2000" b="1" dirty="0">
                <a:solidFill>
                  <a:srgbClr val="12324F"/>
                </a:solidFill>
                <a:latin typeface="Noto Sans CJK SC"/>
                <a:ea typeface="Noto Sans CJK SC"/>
                <a:cs typeface="Noto Sans CJK SC"/>
              </a:rPr>
              <a:t>Presenting Sources &amp; Uncertainty</a:t>
            </a:r>
            <a:endParaRPr lang="en-US" sz="2000" b="1" dirty="0">
              <a:solidFill>
                <a:srgbClr val="12324F"/>
              </a:solidFill>
              <a:latin typeface="Noto Sans CJK SC"/>
              <a:ea typeface="Noto Sans CJK SC"/>
              <a:cs typeface="Noto Sans CJK SC"/>
            </a:endParaRPr>
          </a:p>
          <a:p>
            <a:pPr marL="800100" lvl="1"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r>
              <a:rPr lang="en-US" altLang="zh-CN" sz="1600" dirty="0">
                <a:solidFill>
                  <a:srgbClr val="12324F"/>
                </a:solidFill>
              </a:rPr>
              <a:t>Every key record should trace back to the original material or an accessible webpage, Identity verification can combine institution, discipline, time period, collaborators, and personal homepage.</a:t>
            </a:r>
          </a:p>
          <a:p>
            <a:pPr marL="800100" lvl="1"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1600" b="1"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r>
              <a:rPr lang="en-US" altLang="zh-CN" sz="2000" b="1" dirty="0"/>
              <a:t>Flexible Search &amp; Candidate Filtering</a:t>
            </a:r>
          </a:p>
          <a:p>
            <a:pPr marL="800100" lvl="1"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r>
              <a:rPr lang="en-US" sz="1600" dirty="0">
                <a:solidFill>
                  <a:srgbClr val="12324F"/>
                </a:solidFill>
                <a:latin typeface="Noto Sans CJK SC"/>
                <a:ea typeface="Noto Sans CJK SC"/>
                <a:cs typeface="Noto Sans CJK SC"/>
              </a:rPr>
              <a:t>Users are able to search and filter candidates by research area, skills, institution, experience, publication record, or other customized tags.</a:t>
            </a:r>
          </a:p>
          <a:p>
            <a:pPr marL="800100" lvl="1"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1600"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r>
              <a:rPr lang="en-US" sz="2000" b="1" dirty="0">
                <a:solidFill>
                  <a:srgbClr val="12324F"/>
                </a:solidFill>
                <a:latin typeface="Noto Sans CJK SC"/>
              </a:rPr>
              <a:t>… and more</a:t>
            </a: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2000" b="1"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2000" b="1"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2000" b="1"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2000" b="1"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2000" b="1" dirty="0">
              <a:solidFill>
                <a:srgbClr val="12324F"/>
              </a:solidFill>
              <a:latin typeface="Noto Sans CJK SC"/>
              <a:ea typeface="Noto Sans CJK SC"/>
              <a:cs typeface="Noto Sans CJK SC"/>
            </a:endParaRPr>
          </a:p>
          <a:p>
            <a:pPr marL="342900" indent="-342900">
              <a:lnSpc>
                <a:spcPct val="112000"/>
              </a:lnSpc>
              <a:buFont typeface="Arial" panose="020B0604020202020204" pitchFamily="34" charset="0"/>
              <a:buChar char="•"/>
              <a:defRPr sz="3300" b="1">
                <a:solidFill>
                  <a:srgbClr val="12324F"/>
                </a:solidFill>
                <a:latin typeface="Noto Sans CJK SC"/>
                <a:ea typeface="Noto Sans CJK SC"/>
                <a:cs typeface="Noto Sans CJK SC"/>
              </a:defRPr>
            </a:pPr>
            <a:endParaRPr lang="en-US" sz="2000" b="1" dirty="0">
              <a:solidFill>
                <a:srgbClr val="12324F"/>
              </a:solidFill>
              <a:latin typeface="Noto Sans CJK SC"/>
              <a:ea typeface="Noto Sans CJK SC"/>
              <a:cs typeface="Noto Sans CJK SC"/>
            </a:endParaRPr>
          </a:p>
        </p:txBody>
      </p:sp>
      <p:sp>
        <p:nvSpPr>
          <p:cNvPr id="3" name="text-98">
            <a:extLst>
              <a:ext uri="{FF2B5EF4-FFF2-40B4-BE49-F238E27FC236}">
                <a16:creationId xmlns:a16="http://schemas.microsoft.com/office/drawing/2014/main" id="{BF98A4CA-D67D-479D-A467-74FDA3BF05F9}"/>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13</a:t>
            </a:r>
          </a:p>
        </p:txBody>
      </p:sp>
      <p:sp>
        <p:nvSpPr>
          <p:cNvPr id="4" name="text-96">
            <a:extLst>
              <a:ext uri="{FF2B5EF4-FFF2-40B4-BE49-F238E27FC236}">
                <a16:creationId xmlns:a16="http://schemas.microsoft.com/office/drawing/2014/main" id="{3918BC37-915E-F462-DCCA-9A46D89666F5}"/>
              </a:ext>
            </a:extLst>
          </p:cNvPr>
          <p:cNvSpPr>
            <a:spLocks noGrp="1"/>
          </p:cNvSpPr>
          <p:nvPr/>
        </p:nvSpPr>
        <p:spPr>
          <a:xfrm>
            <a:off x="685800" y="395288"/>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lang="en-US" sz="3100" b="1" dirty="0">
                <a:solidFill>
                  <a:srgbClr val="12324F"/>
                </a:solidFill>
                <a:latin typeface="Noto Sans CJK SC"/>
                <a:ea typeface="Noto Sans CJK SC"/>
                <a:cs typeface="Noto Sans CJK SC"/>
              </a:rPr>
              <a:t>More Consideration</a:t>
            </a:r>
            <a:endParaRPr sz="3100" b="1" dirty="0">
              <a:solidFill>
                <a:srgbClr val="12324F"/>
              </a:solidFill>
              <a:latin typeface="Noto Sans CJK SC"/>
              <a:ea typeface="Noto Sans CJK SC"/>
              <a:cs typeface="Noto Sans CJK SC"/>
            </a:endParaRPr>
          </a:p>
        </p:txBody>
      </p:sp>
    </p:spTree>
    <p:extLst>
      <p:ext uri="{BB962C8B-B14F-4D97-AF65-F5344CB8AC3E}">
        <p14:creationId xmlns:p14="http://schemas.microsoft.com/office/powerpoint/2010/main" val="1152021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115">
            <a:extLst>
              <a:ext uri="{FF2B5EF4-FFF2-40B4-BE49-F238E27FC236}">
                <a16:creationId xmlns:a16="http://schemas.microsoft.com/office/drawing/2014/main" id="{F2063EF1-0365-4D62-A998-0FF240E7A5EC}"/>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sz="3100" b="1">
                <a:solidFill>
                  <a:srgbClr val="12324F"/>
                </a:solidFill>
                <a:latin typeface="Noto Sans CJK SC"/>
                <a:ea typeface="Noto Sans CJK SC"/>
                <a:cs typeface="Noto Sans CJK SC"/>
              </a:rPr>
              <a:t>Suggested Deliverables &amp; Demo Format</a:t>
            </a:r>
          </a:p>
        </p:txBody>
      </p:sp>
      <p:sp>
        <p:nvSpPr>
          <p:cNvPr id="2" name="text-116">
            <a:extLst>
              <a:ext uri="{FF2B5EF4-FFF2-40B4-BE49-F238E27FC236}">
                <a16:creationId xmlns:a16="http://schemas.microsoft.com/office/drawing/2014/main" id="{2E01FD94-275A-4A04-80A8-7F2BA5F6366E}"/>
              </a:ext>
            </a:extLst>
          </p:cNvPr>
          <p:cNvSpPr>
            <a:spLocks noGrp="1"/>
          </p:cNvSpPr>
          <p:nvPr/>
        </p:nvSpPr>
        <p:spPr>
          <a:xfrm>
            <a:off x="685800" y="1190625"/>
            <a:ext cx="10820400" cy="542925"/>
          </a:xfrm>
          <a:prstGeom prst="rect">
            <a:avLst/>
          </a:prstGeom>
          <a:noFill/>
          <a:ln w="0">
            <a:noFill/>
          </a:ln>
        </p:spPr>
        <p:txBody>
          <a:bodyPr wrap="square" lIns="0" tIns="0" rIns="0" bIns="0" anchor="t">
            <a:noAutofit/>
          </a:bodyPr>
          <a:lstStyle/>
          <a:p>
            <a:pPr>
              <a:lnSpc>
                <a:spcPct val="112000"/>
              </a:lnSpc>
              <a:buNone/>
              <a:defRPr sz="1800" b="0">
                <a:solidFill>
                  <a:srgbClr val="60758B"/>
                </a:solidFill>
                <a:latin typeface="Noto Sans CJK SC"/>
                <a:ea typeface="Noto Sans CJK SC"/>
                <a:cs typeface="Noto Sans CJK SC"/>
              </a:defRPr>
            </a:pPr>
            <a:r>
              <a:rPr sz="1650" b="0">
                <a:solidFill>
                  <a:srgbClr val="60758B"/>
                </a:solidFill>
                <a:latin typeface="Noto Sans CJK SC"/>
                <a:ea typeface="Noto Sans CJK SC"/>
                <a:cs typeface="Noto Sans CJK SC"/>
              </a:rPr>
              <a:t>Show an end-to-end workflow so reviewers can understand, operate, and verify the results</a:t>
            </a:r>
          </a:p>
        </p:txBody>
      </p:sp>
      <p:sp>
        <p:nvSpPr>
          <p:cNvPr id="3" name="text-117">
            <a:extLst>
              <a:ext uri="{FF2B5EF4-FFF2-40B4-BE49-F238E27FC236}">
                <a16:creationId xmlns:a16="http://schemas.microsoft.com/office/drawing/2014/main" id="{743E7A53-3C57-402C-AC89-CAC3D56BCCD8}"/>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15</a:t>
            </a:r>
          </a:p>
        </p:txBody>
      </p:sp>
      <p:sp>
        <p:nvSpPr>
          <p:cNvPr id="4" name="text-118">
            <a:extLst>
              <a:ext uri="{FF2B5EF4-FFF2-40B4-BE49-F238E27FC236}">
                <a16:creationId xmlns:a16="http://schemas.microsoft.com/office/drawing/2014/main" id="{AEDE85FC-BC98-430D-B9E5-B9F799D9FF77}"/>
              </a:ext>
            </a:extLst>
          </p:cNvPr>
          <p:cNvSpPr>
            <a:spLocks noGrp="1"/>
          </p:cNvSpPr>
          <p:nvPr/>
        </p:nvSpPr>
        <p:spPr>
          <a:xfrm>
            <a:off x="685800" y="1924050"/>
            <a:ext cx="609600" cy="533400"/>
          </a:xfrm>
          <a:prstGeom prst="rect">
            <a:avLst/>
          </a:prstGeom>
          <a:noFill/>
          <a:ln w="0">
            <a:noFill/>
          </a:ln>
        </p:spPr>
        <p:txBody>
          <a:bodyPr wrap="square" lIns="0" tIns="0" rIns="0" bIns="0" anchor="t">
            <a:noAutofit/>
          </a:bodyPr>
          <a:lstStyle/>
          <a:p>
            <a:pPr>
              <a:lnSpc>
                <a:spcPct val="112000"/>
              </a:lnSpc>
              <a:buNone/>
              <a:defRPr sz="2625" b="1">
                <a:solidFill>
                  <a:srgbClr val="076DB8"/>
                </a:solidFill>
                <a:latin typeface="Noto Sans CJK SC"/>
                <a:ea typeface="Noto Sans CJK SC"/>
                <a:cs typeface="Noto Sans CJK SC"/>
              </a:defRPr>
            </a:pPr>
            <a:r>
              <a:rPr sz="2625" b="1">
                <a:solidFill>
                  <a:srgbClr val="076DB8"/>
                </a:solidFill>
                <a:latin typeface="Noto Sans CJK SC"/>
                <a:ea typeface="Noto Sans CJK SC"/>
                <a:cs typeface="Noto Sans CJK SC"/>
              </a:rPr>
              <a:t>01</a:t>
            </a:r>
          </a:p>
        </p:txBody>
      </p:sp>
      <p:sp>
        <p:nvSpPr>
          <p:cNvPr id="5" name="text-119">
            <a:extLst>
              <a:ext uri="{FF2B5EF4-FFF2-40B4-BE49-F238E27FC236}">
                <a16:creationId xmlns:a16="http://schemas.microsoft.com/office/drawing/2014/main" id="{5273ABDE-C3D8-4D60-BB78-918F020D1E5D}"/>
              </a:ext>
            </a:extLst>
          </p:cNvPr>
          <p:cNvSpPr>
            <a:spLocks noGrp="1"/>
          </p:cNvSpPr>
          <p:nvPr/>
        </p:nvSpPr>
        <p:spPr>
          <a:xfrm>
            <a:off x="1485900" y="1952625"/>
            <a:ext cx="9867900" cy="409575"/>
          </a:xfrm>
          <a:prstGeom prst="rect">
            <a:avLst/>
          </a:prstGeom>
          <a:noFill/>
          <a:ln w="0">
            <a:noFill/>
          </a:ln>
        </p:spPr>
        <p:txBody>
          <a:bodyPr wrap="square" lIns="0" tIns="0" rIns="0" bIns="0" anchor="t">
            <a:noAutofit/>
          </a:bodyPr>
          <a:lstStyle/>
          <a:p>
            <a:pPr>
              <a:lnSpc>
                <a:spcPct val="112000"/>
              </a:lnSpc>
              <a:buNone/>
              <a:defRPr sz="2175" b="1">
                <a:solidFill>
                  <a:srgbClr val="12324F"/>
                </a:solidFill>
                <a:latin typeface="Noto Sans CJK SC"/>
                <a:ea typeface="Noto Sans CJK SC"/>
                <a:cs typeface="Noto Sans CJK SC"/>
              </a:defRPr>
            </a:pPr>
            <a:r>
              <a:rPr sz="2175" b="1">
                <a:solidFill>
                  <a:srgbClr val="12324F"/>
                </a:solidFill>
                <a:latin typeface="Noto Sans CJK SC"/>
                <a:ea typeface="Noto Sans CJK SC"/>
                <a:cs typeface="Noto Sans CJK SC"/>
              </a:rPr>
              <a:t>A Working Prototype</a:t>
            </a:r>
          </a:p>
        </p:txBody>
      </p:sp>
      <p:sp>
        <p:nvSpPr>
          <p:cNvPr id="6" name="text-120">
            <a:extLst>
              <a:ext uri="{FF2B5EF4-FFF2-40B4-BE49-F238E27FC236}">
                <a16:creationId xmlns:a16="http://schemas.microsoft.com/office/drawing/2014/main" id="{82A68D89-A87F-4C96-A15E-F85568CF7314}"/>
              </a:ext>
            </a:extLst>
          </p:cNvPr>
          <p:cNvSpPr>
            <a:spLocks noGrp="1"/>
          </p:cNvSpPr>
          <p:nvPr/>
        </p:nvSpPr>
        <p:spPr>
          <a:xfrm>
            <a:off x="1485900" y="2390775"/>
            <a:ext cx="9867900" cy="552450"/>
          </a:xfrm>
          <a:prstGeom prst="rect">
            <a:avLst/>
          </a:prstGeom>
          <a:noFill/>
          <a:ln w="0">
            <a:noFill/>
          </a:ln>
        </p:spPr>
        <p:txBody>
          <a:bodyPr wrap="square" lIns="0" tIns="0" rIns="0" bIns="0" anchor="t">
            <a:noAutofit/>
          </a:bodyPr>
          <a:lstStyle/>
          <a:p>
            <a:pPr>
              <a:lnSpc>
                <a:spcPct val="112000"/>
              </a:lnSpc>
              <a:buNone/>
              <a:defRPr sz="1875" b="0">
                <a:solidFill>
                  <a:srgbClr val="243E53"/>
                </a:solidFill>
                <a:latin typeface="Noto Sans CJK SC"/>
                <a:ea typeface="Noto Sans CJK SC"/>
                <a:cs typeface="Noto Sans CJK SC"/>
              </a:defRPr>
            </a:pPr>
            <a:r>
              <a:rPr sz="1650" b="0">
                <a:solidFill>
                  <a:srgbClr val="243E53"/>
                </a:solidFill>
                <a:latin typeface="Noto Sans CJK SC"/>
                <a:ea typeface="Noto Sans CJK SC"/>
                <a:cs typeface="Noto Sans CJK SC"/>
              </a:rPr>
              <a:t>Start from uploaded materials and demonstrate profile generation, source inspection, and tag-based search.</a:t>
            </a:r>
          </a:p>
        </p:txBody>
      </p:sp>
      <p:sp>
        <p:nvSpPr>
          <p:cNvPr id="7" name="text-121">
            <a:extLst>
              <a:ext uri="{FF2B5EF4-FFF2-40B4-BE49-F238E27FC236}">
                <a16:creationId xmlns:a16="http://schemas.microsoft.com/office/drawing/2014/main" id="{FBE92894-99D0-4CB4-8B92-B903EC08858F}"/>
              </a:ext>
            </a:extLst>
          </p:cNvPr>
          <p:cNvSpPr>
            <a:spLocks noGrp="1"/>
          </p:cNvSpPr>
          <p:nvPr/>
        </p:nvSpPr>
        <p:spPr>
          <a:xfrm>
            <a:off x="685800" y="2971800"/>
            <a:ext cx="609600" cy="533400"/>
          </a:xfrm>
          <a:prstGeom prst="rect">
            <a:avLst/>
          </a:prstGeom>
          <a:noFill/>
          <a:ln w="0">
            <a:noFill/>
          </a:ln>
        </p:spPr>
        <p:txBody>
          <a:bodyPr wrap="square" lIns="0" tIns="0" rIns="0" bIns="0" anchor="t">
            <a:noAutofit/>
          </a:bodyPr>
          <a:lstStyle/>
          <a:p>
            <a:pPr>
              <a:lnSpc>
                <a:spcPct val="112000"/>
              </a:lnSpc>
              <a:buNone/>
              <a:defRPr sz="2625" b="1">
                <a:solidFill>
                  <a:srgbClr val="076DB8"/>
                </a:solidFill>
                <a:latin typeface="Noto Sans CJK SC"/>
                <a:ea typeface="Noto Sans CJK SC"/>
                <a:cs typeface="Noto Sans CJK SC"/>
              </a:defRPr>
            </a:pPr>
            <a:r>
              <a:rPr sz="2625" b="1">
                <a:solidFill>
                  <a:srgbClr val="076DB8"/>
                </a:solidFill>
                <a:latin typeface="Noto Sans CJK SC"/>
                <a:ea typeface="Noto Sans CJK SC"/>
                <a:cs typeface="Noto Sans CJK SC"/>
              </a:rPr>
              <a:t>02</a:t>
            </a:r>
          </a:p>
        </p:txBody>
      </p:sp>
      <p:sp>
        <p:nvSpPr>
          <p:cNvPr id="8" name="text-122">
            <a:extLst>
              <a:ext uri="{FF2B5EF4-FFF2-40B4-BE49-F238E27FC236}">
                <a16:creationId xmlns:a16="http://schemas.microsoft.com/office/drawing/2014/main" id="{5BD468BC-5E14-4AE2-BE34-3CE0D02044D4}"/>
              </a:ext>
            </a:extLst>
          </p:cNvPr>
          <p:cNvSpPr>
            <a:spLocks noGrp="1"/>
          </p:cNvSpPr>
          <p:nvPr/>
        </p:nvSpPr>
        <p:spPr>
          <a:xfrm>
            <a:off x="1485900" y="3000375"/>
            <a:ext cx="9867900" cy="409575"/>
          </a:xfrm>
          <a:prstGeom prst="rect">
            <a:avLst/>
          </a:prstGeom>
          <a:noFill/>
          <a:ln w="0">
            <a:noFill/>
          </a:ln>
        </p:spPr>
        <p:txBody>
          <a:bodyPr wrap="square" lIns="0" tIns="0" rIns="0" bIns="0" anchor="t">
            <a:noAutofit/>
          </a:bodyPr>
          <a:lstStyle/>
          <a:p>
            <a:pPr>
              <a:lnSpc>
                <a:spcPct val="112000"/>
              </a:lnSpc>
              <a:buNone/>
              <a:defRPr sz="2175" b="1">
                <a:solidFill>
                  <a:srgbClr val="12324F"/>
                </a:solidFill>
                <a:latin typeface="Noto Sans CJK SC"/>
                <a:ea typeface="Noto Sans CJK SC"/>
                <a:cs typeface="Noto Sans CJK SC"/>
              </a:defRPr>
            </a:pPr>
            <a:r>
              <a:rPr sz="2175" b="1">
                <a:solidFill>
                  <a:srgbClr val="12324F"/>
                </a:solidFill>
                <a:latin typeface="Noto Sans CJK SC"/>
                <a:ea typeface="Noto Sans CJK SC"/>
                <a:cs typeface="Noto Sans CJK SC"/>
              </a:rPr>
              <a:t>A Sample Candidate Profile</a:t>
            </a:r>
          </a:p>
        </p:txBody>
      </p:sp>
      <p:sp>
        <p:nvSpPr>
          <p:cNvPr id="9" name="text-123">
            <a:extLst>
              <a:ext uri="{FF2B5EF4-FFF2-40B4-BE49-F238E27FC236}">
                <a16:creationId xmlns:a16="http://schemas.microsoft.com/office/drawing/2014/main" id="{DC1D9D4B-A880-4A39-839A-DC2BECAC4F01}"/>
              </a:ext>
            </a:extLst>
          </p:cNvPr>
          <p:cNvSpPr>
            <a:spLocks noGrp="1"/>
          </p:cNvSpPr>
          <p:nvPr/>
        </p:nvSpPr>
        <p:spPr>
          <a:xfrm>
            <a:off x="1485900" y="3438525"/>
            <a:ext cx="9867900" cy="552450"/>
          </a:xfrm>
          <a:prstGeom prst="rect">
            <a:avLst/>
          </a:prstGeom>
          <a:noFill/>
          <a:ln w="0">
            <a:noFill/>
          </a:ln>
        </p:spPr>
        <p:txBody>
          <a:bodyPr wrap="square" lIns="0" tIns="0" rIns="0" bIns="0" anchor="t">
            <a:noAutofit/>
          </a:bodyPr>
          <a:lstStyle/>
          <a:p>
            <a:pPr>
              <a:lnSpc>
                <a:spcPct val="112000"/>
              </a:lnSpc>
              <a:buNone/>
              <a:defRPr sz="1875" b="0">
                <a:solidFill>
                  <a:srgbClr val="243E53"/>
                </a:solidFill>
                <a:latin typeface="Noto Sans CJK SC"/>
                <a:ea typeface="Noto Sans CJK SC"/>
                <a:cs typeface="Noto Sans CJK SC"/>
              </a:defRPr>
            </a:pPr>
            <a:r>
              <a:rPr sz="1650" b="0">
                <a:solidFill>
                  <a:srgbClr val="243E53"/>
                </a:solidFill>
                <a:latin typeface="Noto Sans CJK SC"/>
                <a:ea typeface="Noto Sans CJK SC"/>
                <a:cs typeface="Noto Sans CJK SC"/>
              </a:rPr>
              <a:t>Cover the main modules, showing evidence-backed evaluation and expandable details.</a:t>
            </a:r>
          </a:p>
        </p:txBody>
      </p:sp>
      <p:sp>
        <p:nvSpPr>
          <p:cNvPr id="10" name="text-124">
            <a:extLst>
              <a:ext uri="{FF2B5EF4-FFF2-40B4-BE49-F238E27FC236}">
                <a16:creationId xmlns:a16="http://schemas.microsoft.com/office/drawing/2014/main" id="{48A5DE0A-6602-4109-8E06-5A13D843BD24}"/>
              </a:ext>
            </a:extLst>
          </p:cNvPr>
          <p:cNvSpPr>
            <a:spLocks noGrp="1"/>
          </p:cNvSpPr>
          <p:nvPr/>
        </p:nvSpPr>
        <p:spPr>
          <a:xfrm>
            <a:off x="685800" y="4019550"/>
            <a:ext cx="609600" cy="533400"/>
          </a:xfrm>
          <a:prstGeom prst="rect">
            <a:avLst/>
          </a:prstGeom>
          <a:noFill/>
          <a:ln w="0">
            <a:noFill/>
          </a:ln>
        </p:spPr>
        <p:txBody>
          <a:bodyPr wrap="square" lIns="0" tIns="0" rIns="0" bIns="0" anchor="t">
            <a:noAutofit/>
          </a:bodyPr>
          <a:lstStyle/>
          <a:p>
            <a:pPr>
              <a:lnSpc>
                <a:spcPct val="112000"/>
              </a:lnSpc>
              <a:buNone/>
              <a:defRPr sz="2625" b="1">
                <a:solidFill>
                  <a:srgbClr val="076DB8"/>
                </a:solidFill>
                <a:latin typeface="Noto Sans CJK SC"/>
                <a:ea typeface="Noto Sans CJK SC"/>
                <a:cs typeface="Noto Sans CJK SC"/>
              </a:defRPr>
            </a:pPr>
            <a:r>
              <a:rPr sz="2625" b="1">
                <a:solidFill>
                  <a:srgbClr val="076DB8"/>
                </a:solidFill>
                <a:latin typeface="Noto Sans CJK SC"/>
                <a:ea typeface="Noto Sans CJK SC"/>
                <a:cs typeface="Noto Sans CJK SC"/>
              </a:rPr>
              <a:t>03</a:t>
            </a:r>
          </a:p>
        </p:txBody>
      </p:sp>
      <p:sp>
        <p:nvSpPr>
          <p:cNvPr id="11" name="text-125">
            <a:extLst>
              <a:ext uri="{FF2B5EF4-FFF2-40B4-BE49-F238E27FC236}">
                <a16:creationId xmlns:a16="http://schemas.microsoft.com/office/drawing/2014/main" id="{E275916C-9A6B-46A0-A76A-5A3717592BD8}"/>
              </a:ext>
            </a:extLst>
          </p:cNvPr>
          <p:cNvSpPr>
            <a:spLocks noGrp="1"/>
          </p:cNvSpPr>
          <p:nvPr/>
        </p:nvSpPr>
        <p:spPr>
          <a:xfrm>
            <a:off x="1485900" y="4048125"/>
            <a:ext cx="9867900" cy="409575"/>
          </a:xfrm>
          <a:prstGeom prst="rect">
            <a:avLst/>
          </a:prstGeom>
          <a:noFill/>
          <a:ln w="0">
            <a:noFill/>
          </a:ln>
        </p:spPr>
        <p:txBody>
          <a:bodyPr wrap="square" lIns="0" tIns="0" rIns="0" bIns="0" anchor="t">
            <a:noAutofit/>
          </a:bodyPr>
          <a:lstStyle/>
          <a:p>
            <a:pPr>
              <a:lnSpc>
                <a:spcPct val="112000"/>
              </a:lnSpc>
              <a:buNone/>
              <a:defRPr sz="2175" b="1">
                <a:solidFill>
                  <a:srgbClr val="12324F"/>
                </a:solidFill>
                <a:latin typeface="Noto Sans CJK SC"/>
                <a:ea typeface="Noto Sans CJK SC"/>
                <a:cs typeface="Noto Sans CJK SC"/>
              </a:defRPr>
            </a:pPr>
            <a:r>
              <a:rPr sz="2175" b="1">
                <a:solidFill>
                  <a:srgbClr val="12324F"/>
                </a:solidFill>
                <a:latin typeface="Noto Sans CJK SC"/>
                <a:ea typeface="Noto Sans CJK SC"/>
                <a:cs typeface="Noto Sans CJK SC"/>
              </a:rPr>
              <a:t>A Methodology Note</a:t>
            </a:r>
          </a:p>
        </p:txBody>
      </p:sp>
      <p:sp>
        <p:nvSpPr>
          <p:cNvPr id="12" name="text-126">
            <a:extLst>
              <a:ext uri="{FF2B5EF4-FFF2-40B4-BE49-F238E27FC236}">
                <a16:creationId xmlns:a16="http://schemas.microsoft.com/office/drawing/2014/main" id="{FECF177D-1AB2-4396-87D8-7F943BD61DEB}"/>
              </a:ext>
            </a:extLst>
          </p:cNvPr>
          <p:cNvSpPr>
            <a:spLocks noGrp="1"/>
          </p:cNvSpPr>
          <p:nvPr/>
        </p:nvSpPr>
        <p:spPr>
          <a:xfrm>
            <a:off x="1485900" y="4486275"/>
            <a:ext cx="9867900" cy="552450"/>
          </a:xfrm>
          <a:prstGeom prst="rect">
            <a:avLst/>
          </a:prstGeom>
          <a:noFill/>
          <a:ln w="0">
            <a:noFill/>
          </a:ln>
        </p:spPr>
        <p:txBody>
          <a:bodyPr wrap="square" lIns="0" tIns="0" rIns="0" bIns="0" anchor="t">
            <a:noAutofit/>
          </a:bodyPr>
          <a:lstStyle/>
          <a:p>
            <a:pPr>
              <a:lnSpc>
                <a:spcPct val="112000"/>
              </a:lnSpc>
              <a:buNone/>
              <a:defRPr sz="1875" b="0">
                <a:solidFill>
                  <a:srgbClr val="243E53"/>
                </a:solidFill>
                <a:latin typeface="Noto Sans CJK SC"/>
                <a:ea typeface="Noto Sans CJK SC"/>
                <a:cs typeface="Noto Sans CJK SC"/>
              </a:defRPr>
            </a:pPr>
            <a:r>
              <a:rPr sz="1650" b="0" dirty="0" err="1">
                <a:solidFill>
                  <a:srgbClr val="243E53"/>
                </a:solidFill>
                <a:latin typeface="Noto Sans CJK SC"/>
                <a:ea typeface="Noto Sans CJK SC"/>
                <a:cs typeface="Noto Sans CJK SC"/>
              </a:rPr>
              <a:t>Explain field design, data sources, scoring rules, and how uncertain information is handled.</a:t>
            </a:r>
          </a:p>
        </p:txBody>
      </p:sp>
    </p:spTree>
    <p:extLst>
      <p:ext uri="{BB962C8B-B14F-4D97-AF65-F5344CB8AC3E}">
        <p14:creationId xmlns:p14="http://schemas.microsoft.com/office/powerpoint/2010/main" val="1791675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a:extLst>
              <a:ext uri="{FF2B5EF4-FFF2-40B4-BE49-F238E27FC236}">
                <a16:creationId xmlns:a16="http://schemas.microsoft.com/office/drawing/2014/main" id="{1816E0AA-8F5B-0A6F-168D-FFF1B6632B88}"/>
              </a:ext>
            </a:extLst>
          </p:cNvPr>
          <p:cNvPicPr>
            <a:picLocks noChangeAspect="1"/>
          </p:cNvPicPr>
          <p:nvPr/>
        </p:nvPicPr>
        <p:blipFill>
          <a:blip r:embed="rId2"/>
          <a:stretch>
            <a:fillRect/>
          </a:stretch>
        </p:blipFill>
        <p:spPr>
          <a:xfrm>
            <a:off x="1561139" y="203268"/>
            <a:ext cx="8920594" cy="6309389"/>
          </a:xfrm>
          <a:prstGeom prst="rect">
            <a:avLst/>
          </a:prstGeom>
        </p:spPr>
      </p:pic>
    </p:spTree>
    <p:extLst>
      <p:ext uri="{BB962C8B-B14F-4D97-AF65-F5344CB8AC3E}">
        <p14:creationId xmlns:p14="http://schemas.microsoft.com/office/powerpoint/2010/main" val="298322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a:extLst>
              <a:ext uri="{FF2B5EF4-FFF2-40B4-BE49-F238E27FC236}">
                <a16:creationId xmlns:a16="http://schemas.microsoft.com/office/drawing/2014/main" id="{B8B9964B-37C9-3DF5-9A95-15C2E5326B7C}"/>
              </a:ext>
            </a:extLst>
          </p:cNvPr>
          <p:cNvPicPr>
            <a:picLocks noChangeAspect="1"/>
          </p:cNvPicPr>
          <p:nvPr/>
        </p:nvPicPr>
        <p:blipFill>
          <a:blip r:embed="rId2"/>
          <a:stretch>
            <a:fillRect/>
          </a:stretch>
        </p:blipFill>
        <p:spPr>
          <a:xfrm>
            <a:off x="6021394" y="1850324"/>
            <a:ext cx="6128468" cy="3314105"/>
          </a:xfrm>
          <a:prstGeom prst="rect">
            <a:avLst/>
          </a:prstGeom>
        </p:spPr>
      </p:pic>
      <p:pic>
        <p:nvPicPr>
          <p:cNvPr id="4" name="图片 3">
            <a:extLst>
              <a:ext uri="{FF2B5EF4-FFF2-40B4-BE49-F238E27FC236}">
                <a16:creationId xmlns:a16="http://schemas.microsoft.com/office/drawing/2014/main" id="{AD6BF737-04C6-304A-A2A8-0F4FE40024E5}"/>
              </a:ext>
            </a:extLst>
          </p:cNvPr>
          <p:cNvPicPr>
            <a:picLocks noChangeAspect="1"/>
          </p:cNvPicPr>
          <p:nvPr/>
        </p:nvPicPr>
        <p:blipFill>
          <a:blip r:embed="rId3"/>
          <a:stretch>
            <a:fillRect/>
          </a:stretch>
        </p:blipFill>
        <p:spPr>
          <a:xfrm>
            <a:off x="211668" y="422366"/>
            <a:ext cx="5742359" cy="6170023"/>
          </a:xfrm>
          <a:prstGeom prst="rect">
            <a:avLst/>
          </a:prstGeom>
        </p:spPr>
      </p:pic>
    </p:spTree>
    <p:extLst>
      <p:ext uri="{BB962C8B-B14F-4D97-AF65-F5344CB8AC3E}">
        <p14:creationId xmlns:p14="http://schemas.microsoft.com/office/powerpoint/2010/main" val="4109771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77">
            <a:extLst>
              <a:ext uri="{FF2B5EF4-FFF2-40B4-BE49-F238E27FC236}">
                <a16:creationId xmlns:a16="http://schemas.microsoft.com/office/drawing/2014/main" id="{360632F1-D6CF-48FA-8B3D-23B979DC2BB2}"/>
              </a:ext>
            </a:extLst>
          </p:cNvPr>
          <p:cNvSpPr>
            <a:spLocks noGrp="1"/>
          </p:cNvSpPr>
          <p:nvPr/>
        </p:nvSpPr>
        <p:spPr>
          <a:xfrm>
            <a:off x="685800" y="438150"/>
            <a:ext cx="10820400" cy="685800"/>
          </a:xfrm>
          <a:prstGeom prst="rect">
            <a:avLst/>
          </a:prstGeom>
          <a:noFill/>
          <a:ln w="0">
            <a:noFill/>
          </a:ln>
        </p:spPr>
        <p:txBody>
          <a:bodyPr wrap="square" lIns="0" tIns="0" rIns="0" bIns="0" anchor="t">
            <a:noAutofit/>
          </a:bodyPr>
          <a:lstStyle/>
          <a:p>
            <a:pPr>
              <a:lnSpc>
                <a:spcPct val="112000"/>
              </a:lnSpc>
              <a:buNone/>
              <a:defRPr sz="3300" b="1">
                <a:solidFill>
                  <a:srgbClr val="12324F"/>
                </a:solidFill>
                <a:latin typeface="Noto Sans CJK SC"/>
                <a:ea typeface="Noto Sans CJK SC"/>
                <a:cs typeface="Noto Sans CJK SC"/>
              </a:defRPr>
            </a:pPr>
            <a:r>
              <a:rPr lang="en-US" sz="3300" b="1" dirty="0">
                <a:solidFill>
                  <a:srgbClr val="12324F"/>
                </a:solidFill>
                <a:latin typeface="Noto Sans CJK SC"/>
                <a:ea typeface="Noto Sans CJK SC"/>
                <a:cs typeface="Noto Sans CJK SC"/>
              </a:rPr>
              <a:t>Professional services</a:t>
            </a:r>
            <a:endParaRPr sz="3300" b="1" dirty="0">
              <a:solidFill>
                <a:srgbClr val="12324F"/>
              </a:solidFill>
              <a:latin typeface="Noto Sans CJK SC"/>
              <a:ea typeface="Noto Sans CJK SC"/>
              <a:cs typeface="Noto Sans CJK SC"/>
            </a:endParaRPr>
          </a:p>
        </p:txBody>
      </p:sp>
      <p:sp>
        <p:nvSpPr>
          <p:cNvPr id="3" name="text-79">
            <a:extLst>
              <a:ext uri="{FF2B5EF4-FFF2-40B4-BE49-F238E27FC236}">
                <a16:creationId xmlns:a16="http://schemas.microsoft.com/office/drawing/2014/main" id="{5716A03A-A015-4A62-B78B-F507ADBADACA}"/>
              </a:ext>
            </a:extLst>
          </p:cNvPr>
          <p:cNvSpPr>
            <a:spLocks noGrp="1"/>
          </p:cNvSpPr>
          <p:nvPr/>
        </p:nvSpPr>
        <p:spPr>
          <a:xfrm>
            <a:off x="11010900" y="6457950"/>
            <a:ext cx="495300" cy="209550"/>
          </a:xfrm>
          <a:prstGeom prst="rect">
            <a:avLst/>
          </a:prstGeom>
          <a:noFill/>
          <a:ln w="0">
            <a:noFill/>
          </a:ln>
        </p:spPr>
        <p:txBody>
          <a:bodyPr wrap="square" lIns="0" tIns="0" rIns="0" bIns="0" anchor="t">
            <a:noAutofit/>
          </a:bodyPr>
          <a:lstStyle/>
          <a:p>
            <a:pPr algn="r">
              <a:lnSpc>
                <a:spcPct val="112000"/>
              </a:lnSpc>
              <a:buNone/>
              <a:defRPr sz="1200" b="0">
                <a:solidFill>
                  <a:srgbClr val="60758B"/>
                </a:solidFill>
                <a:latin typeface="Noto Sans CJK SC"/>
                <a:ea typeface="Noto Sans CJK SC"/>
                <a:cs typeface="Noto Sans CJK SC"/>
              </a:defRPr>
            </a:pPr>
            <a:r>
              <a:rPr sz="1200" b="0">
                <a:solidFill>
                  <a:srgbClr val="60758B"/>
                </a:solidFill>
                <a:latin typeface="Noto Sans CJK SC"/>
                <a:ea typeface="Noto Sans CJK SC"/>
                <a:cs typeface="Noto Sans CJK SC"/>
              </a:rPr>
              <a:t>10</a:t>
            </a:r>
          </a:p>
        </p:txBody>
      </p:sp>
      <p:sp>
        <p:nvSpPr>
          <p:cNvPr id="4" name="text-80">
            <a:extLst>
              <a:ext uri="{FF2B5EF4-FFF2-40B4-BE49-F238E27FC236}">
                <a16:creationId xmlns:a16="http://schemas.microsoft.com/office/drawing/2014/main" id="{193A90FB-2A89-4DA7-BD0B-E276BB841882}"/>
              </a:ext>
            </a:extLst>
          </p:cNvPr>
          <p:cNvSpPr>
            <a:spLocks noGrp="1"/>
          </p:cNvSpPr>
          <p:nvPr/>
        </p:nvSpPr>
        <p:spPr>
          <a:xfrm>
            <a:off x="685800" y="2009775"/>
            <a:ext cx="3749039" cy="409575"/>
          </a:xfrm>
          <a:prstGeom prst="rect">
            <a:avLst/>
          </a:prstGeom>
          <a:noFill/>
          <a:ln w="0">
            <a:noFill/>
          </a:ln>
        </p:spPr>
        <p:txBody>
          <a:bodyPr wrap="square" lIns="0" tIns="0" rIns="0" bIns="0" anchor="t">
            <a:noAutofit/>
          </a:bodyPr>
          <a:lstStyle/>
          <a:p>
            <a:pPr>
              <a:lnSpc>
                <a:spcPct val="112000"/>
              </a:lnSpc>
              <a:buNone/>
              <a:defRPr sz="2250" b="1">
                <a:solidFill>
                  <a:srgbClr val="076DB8"/>
                </a:solidFill>
                <a:latin typeface="Noto Sans CJK SC"/>
                <a:ea typeface="Noto Sans CJK SC"/>
                <a:cs typeface="Noto Sans CJK SC"/>
              </a:defRPr>
            </a:pPr>
            <a:r>
              <a:rPr sz="1800" b="1">
                <a:solidFill>
                  <a:srgbClr val="076DB8"/>
                </a:solidFill>
                <a:latin typeface="Noto Sans CJK SC"/>
                <a:ea typeface="Noto Sans CJK SC"/>
                <a:cs typeface="Noto Sans CJK SC"/>
              </a:rPr>
              <a:t>Suggested Information to Record</a:t>
            </a:r>
          </a:p>
        </p:txBody>
      </p:sp>
      <p:sp>
        <p:nvSpPr>
          <p:cNvPr id="5" name="text-81">
            <a:extLst>
              <a:ext uri="{FF2B5EF4-FFF2-40B4-BE49-F238E27FC236}">
                <a16:creationId xmlns:a16="http://schemas.microsoft.com/office/drawing/2014/main" id="{6A1C45D5-5A28-44DE-8A28-9DF04F26CB8C}"/>
              </a:ext>
            </a:extLst>
          </p:cNvPr>
          <p:cNvSpPr>
            <a:spLocks noGrp="1"/>
          </p:cNvSpPr>
          <p:nvPr/>
        </p:nvSpPr>
        <p:spPr>
          <a:xfrm>
            <a:off x="685800" y="2705100"/>
            <a:ext cx="3749039" cy="1943100"/>
          </a:xfrm>
          <a:prstGeom prst="rect">
            <a:avLst/>
          </a:prstGeom>
          <a:noFill/>
          <a:ln w="0">
            <a:noFill/>
          </a:ln>
        </p:spPr>
        <p:txBody>
          <a:bodyPr wrap="square" lIns="0" tIns="0" rIns="0" bIns="0" anchor="t">
            <a:noAutofit/>
          </a:bodyPr>
          <a:lstStyle/>
          <a:p>
            <a:pPr marL="285750" indent="-285750">
              <a:lnSpc>
                <a:spcPct val="112000"/>
              </a:lnSpc>
              <a:buFont typeface="Arial" panose="020B0604020202020204" pitchFamily="34" charset="0"/>
              <a:buChar char="•"/>
              <a:defRPr sz="2100" b="0">
                <a:solidFill>
                  <a:srgbClr val="243E53"/>
                </a:solidFill>
                <a:latin typeface="Noto Sans CJK SC"/>
                <a:ea typeface="Noto Sans CJK SC"/>
                <a:cs typeface="Noto Sans CJK SC"/>
              </a:defRPr>
            </a:pPr>
            <a:r>
              <a:rPr sz="1550" b="0" dirty="0" err="1">
                <a:solidFill>
                  <a:srgbClr val="243E53"/>
                </a:solidFill>
                <a:latin typeface="Noto Sans CJK SC"/>
                <a:ea typeface="Noto Sans CJK SC"/>
                <a:cs typeface="Noto Sans CJK SC"/>
              </a:rPr>
              <a:t>Journal or conference name</a:t>
            </a:r>
            <a:endParaRPr sz="2100" b="0" dirty="0">
              <a:solidFill>
                <a:srgbClr val="243E53"/>
              </a:solidFill>
              <a:latin typeface="Noto Sans CJK SC"/>
              <a:ea typeface="Noto Sans CJK SC"/>
              <a:cs typeface="Noto Sans CJK SC"/>
            </a:endParaRPr>
          </a:p>
          <a:p>
            <a:pPr marL="285750" indent="-285750">
              <a:lnSpc>
                <a:spcPct val="112000"/>
              </a:lnSpc>
              <a:buFont typeface="Arial" panose="020B0604020202020204" pitchFamily="34" charset="0"/>
              <a:buChar char="•"/>
              <a:defRPr sz="2100" b="0">
                <a:solidFill>
                  <a:srgbClr val="243E53"/>
                </a:solidFill>
                <a:latin typeface="Noto Sans CJK SC"/>
                <a:ea typeface="Noto Sans CJK SC"/>
                <a:cs typeface="Noto Sans CJK SC"/>
              </a:defRPr>
            </a:pPr>
            <a:r>
              <a:rPr sz="1550" b="0" dirty="0" err="1">
                <a:solidFill>
                  <a:srgbClr val="243E53"/>
                </a:solidFill>
                <a:latin typeface="Noto Sans CJK SC"/>
                <a:ea typeface="Noto Sans CJK SC"/>
                <a:cs typeface="Noto Sans CJK SC"/>
              </a:rPr>
              <a:t>Role: reviewer, editorial board member, program committee member, etc.</a:t>
            </a:r>
            <a:endParaRPr sz="2100" b="0" dirty="0">
              <a:solidFill>
                <a:srgbClr val="243E53"/>
              </a:solidFill>
              <a:latin typeface="Noto Sans CJK SC"/>
              <a:ea typeface="Noto Sans CJK SC"/>
              <a:cs typeface="Noto Sans CJK SC"/>
            </a:endParaRPr>
          </a:p>
          <a:p>
            <a:pPr marL="285750" indent="-285750">
              <a:lnSpc>
                <a:spcPct val="112000"/>
              </a:lnSpc>
              <a:buFont typeface="Arial" panose="020B0604020202020204" pitchFamily="34" charset="0"/>
              <a:buChar char="•"/>
              <a:defRPr sz="2100" b="0">
                <a:solidFill>
                  <a:srgbClr val="243E53"/>
                </a:solidFill>
                <a:latin typeface="Noto Sans CJK SC"/>
                <a:ea typeface="Noto Sans CJK SC"/>
                <a:cs typeface="Noto Sans CJK SC"/>
              </a:defRPr>
            </a:pPr>
            <a:r>
              <a:rPr sz="1550" b="0" dirty="0" err="1">
                <a:solidFill>
                  <a:srgbClr val="243E53"/>
                </a:solidFill>
                <a:latin typeface="Noto Sans CJK SC"/>
                <a:ea typeface="Noto Sans CJK SC"/>
                <a:cs typeface="Noto Sans CJK SC"/>
              </a:rPr>
              <a:t>Service year or term</a:t>
            </a:r>
            <a:endParaRPr lang="en-US" sz="2100" b="0" dirty="0">
              <a:solidFill>
                <a:srgbClr val="243E53"/>
              </a:solidFill>
              <a:latin typeface="Noto Sans CJK SC"/>
              <a:ea typeface="Noto Sans CJK SC"/>
              <a:cs typeface="Noto Sans CJK SC"/>
            </a:endParaRPr>
          </a:p>
          <a:p>
            <a:pPr marL="285750" indent="-285750">
              <a:lnSpc>
                <a:spcPct val="112000"/>
              </a:lnSpc>
              <a:buFont typeface="Arial" panose="020B0604020202020204" pitchFamily="34" charset="0"/>
              <a:buChar char="•"/>
              <a:defRPr sz="2100" b="0">
                <a:solidFill>
                  <a:srgbClr val="243E53"/>
                </a:solidFill>
                <a:latin typeface="Noto Sans CJK SC"/>
                <a:ea typeface="Noto Sans CJK SC"/>
                <a:cs typeface="Noto Sans CJK SC"/>
              </a:defRPr>
            </a:pPr>
            <a:r>
              <a:rPr lang="zh-CN" altLang="en-US" sz="1550" dirty="0">
                <a:solidFill>
                  <a:srgbClr val="243E53"/>
                </a:solidFill>
                <a:latin typeface="Noto Sans CJK SC"/>
                <a:ea typeface="Noto Sans CJK SC"/>
                <a:cs typeface="Noto Sans CJK SC"/>
              </a:rPr>
              <a:t>Research area of the journal or conference</a:t>
            </a:r>
          </a:p>
          <a:p>
            <a:pPr>
              <a:lnSpc>
                <a:spcPct val="112000"/>
              </a:lnSpc>
              <a:buNone/>
              <a:defRPr sz="2100" b="0">
                <a:solidFill>
                  <a:srgbClr val="243E53"/>
                </a:solidFill>
                <a:latin typeface="Noto Sans CJK SC"/>
                <a:ea typeface="Noto Sans CJK SC"/>
                <a:cs typeface="Noto Sans CJK SC"/>
              </a:defRPr>
            </a:pPr>
            <a:endParaRPr sz="2100" b="0" dirty="0">
              <a:solidFill>
                <a:srgbClr val="243E53"/>
              </a:solidFill>
              <a:latin typeface="Noto Sans CJK SC"/>
              <a:ea typeface="Noto Sans CJK SC"/>
              <a:cs typeface="Noto Sans CJK SC"/>
            </a:endParaRPr>
          </a:p>
        </p:txBody>
      </p:sp>
      <p:pic>
        <p:nvPicPr>
          <p:cNvPr id="6" name="Image">
            <a:extLst>
              <a:ext uri="{FF2B5EF4-FFF2-40B4-BE49-F238E27FC236}">
                <a16:creationId xmlns:a16="http://schemas.microsoft.com/office/drawing/2014/main" id="{09DA1080-BD9F-F58E-517B-94483576042B}"/>
              </a:ext>
            </a:extLst>
          </p:cNvPr>
          <p:cNvPicPr>
            <a:picLocks noChangeAspect="1"/>
          </p:cNvPicPr>
          <p:nvPr/>
        </p:nvPicPr>
        <p:blipFill>
          <a:blip r:embed="rId3"/>
          <a:stretch>
            <a:fillRect/>
          </a:stretch>
        </p:blipFill>
        <p:spPr>
          <a:xfrm>
            <a:off x="4615817" y="1020907"/>
            <a:ext cx="7372983" cy="5646593"/>
          </a:xfrm>
          <a:prstGeom prst="rect">
            <a:avLst/>
          </a:prstGeom>
        </p:spPr>
      </p:pic>
    </p:spTree>
    <p:extLst>
      <p:ext uri="{BB962C8B-B14F-4D97-AF65-F5344CB8AC3E}">
        <p14:creationId xmlns:p14="http://schemas.microsoft.com/office/powerpoint/2010/main" val="674543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4CFB0B0-A979-FEC0-76CC-A6A7C183EAC2}"/>
              </a:ext>
            </a:extLst>
          </p:cNvPr>
          <p:cNvPicPr>
            <a:picLocks noChangeAspect="1"/>
          </p:cNvPicPr>
          <p:nvPr/>
        </p:nvPicPr>
        <p:blipFill>
          <a:blip r:embed="rId2"/>
          <a:stretch>
            <a:fillRect/>
          </a:stretch>
        </p:blipFill>
        <p:spPr>
          <a:xfrm>
            <a:off x="1448603" y="109156"/>
            <a:ext cx="8914597" cy="6639688"/>
          </a:xfrm>
          <a:prstGeom prst="rect">
            <a:avLst/>
          </a:prstGeom>
        </p:spPr>
      </p:pic>
    </p:spTree>
    <p:extLst>
      <p:ext uri="{BB962C8B-B14F-4D97-AF65-F5344CB8AC3E}">
        <p14:creationId xmlns:p14="http://schemas.microsoft.com/office/powerpoint/2010/main" val="225342430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2957</TotalTime>
  <Words>2890</Words>
  <Application>Microsoft Office PowerPoint</Application>
  <DocSecurity>0</DocSecurity>
  <PresentationFormat>宽屏</PresentationFormat>
  <Paragraphs>242</Paragraphs>
  <Slides>21</Slides>
  <Notes>15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21</vt:i4>
      </vt:variant>
    </vt:vector>
  </HeadingPairs>
  <TitlesOfParts>
    <vt:vector size="26" baseType="lpstr">
      <vt:lpstr>Noto Sans CJK SC</vt:lpstr>
      <vt:lpstr>Aptos</vt: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Shan Jiang (SAI,225080007)</cp:lastModifiedBy>
  <cp:revision>10</cp:revision>
  <dcterms:created xsi:type="dcterms:W3CDTF">2026-09-11T15:47:38Z</dcterms:created>
  <dcterms:modified xsi:type="dcterms:W3CDTF">2026-09-15T12:40:23Z</dcterms:modified>
</cp:coreProperties>
</file>